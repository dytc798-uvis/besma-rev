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4"/>
  </p:notesMasterIdLst>
  <p:sldIdLst>
    <p:sldId id="256" r:id="rId3"/>
  </p:sldIdLst>
  <p:sldSz cx="6858000" cy="9906000" type="A4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45" autoAdjust="0"/>
    <p:restoredTop sz="94660"/>
  </p:normalViewPr>
  <p:slideViewPr>
    <p:cSldViewPr snapToGrid="0">
      <p:cViewPr varScale="1">
        <p:scale>
          <a:sx n="77" d="100"/>
          <a:sy n="77" d="100"/>
        </p:scale>
        <p:origin x="3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8E95D-6779-4120-98C9-08ECFA3302D1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33488"/>
            <a:ext cx="23034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8C048-7E5D-43CF-817F-B6D008B905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681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88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58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64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695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128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301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449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146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75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651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362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33D1FD-CE96-121B-967D-A59C927593E5}"/>
              </a:ext>
            </a:extLst>
          </p:cNvPr>
          <p:cNvCxnSpPr>
            <a:cxnSpLocks/>
          </p:cNvCxnSpPr>
          <p:nvPr userDrawn="1"/>
        </p:nvCxnSpPr>
        <p:spPr>
          <a:xfrm>
            <a:off x="330399" y="4943163"/>
            <a:ext cx="6399014" cy="0"/>
          </a:xfrm>
          <a:prstGeom prst="line">
            <a:avLst/>
          </a:prstGeom>
          <a:ln w="12700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334449" y="5456554"/>
            <a:ext cx="1453950" cy="111800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sz="1013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843844"/>
            <a:ext cx="6858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  <p:custDataLst>
              <p:tags r:id="rId2"/>
            </p:custDataLst>
          </p:nvPr>
        </p:nvSpPr>
        <p:spPr>
          <a:xfrm>
            <a:off x="334448" y="466824"/>
            <a:ext cx="3037500" cy="112467"/>
          </a:xfrm>
        </p:spPr>
        <p:txBody>
          <a:bodyPr wrap="square" lIns="0" tIns="0" rIns="0" bIns="0">
            <a:sp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31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028700" indent="0">
              <a:buNone/>
              <a:defRPr/>
            </a:lvl5pPr>
          </a:lstStyle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56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334449" y="6626235"/>
            <a:ext cx="1453950" cy="2373224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759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ru-RU" dirty="0"/>
          </a:p>
        </p:txBody>
      </p:sp>
      <p:sp>
        <p:nvSpPr>
          <p:cNvPr id="18" name="Subtitle Placeholder 2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1913612" y="5459288"/>
            <a:ext cx="1453950" cy="1115266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sz="1013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5"/>
            </p:custDataLst>
          </p:nvPr>
        </p:nvSpPr>
        <p:spPr>
          <a:xfrm>
            <a:off x="1913612" y="6628258"/>
            <a:ext cx="1453950" cy="237120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759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0" name="Subtitle Placeholder 3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6"/>
            </p:custDataLst>
          </p:nvPr>
        </p:nvSpPr>
        <p:spPr>
          <a:xfrm>
            <a:off x="3492946" y="5456554"/>
            <a:ext cx="1453950" cy="11180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sz="1013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7"/>
            </p:custDataLst>
          </p:nvPr>
        </p:nvSpPr>
        <p:spPr>
          <a:xfrm>
            <a:off x="3492945" y="6628258"/>
            <a:ext cx="1453950" cy="23712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759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334449" y="1489309"/>
            <a:ext cx="6197203" cy="1707134"/>
          </a:xfrm>
          <a:prstGeom prst="rect">
            <a:avLst/>
          </a:prstGeom>
        </p:spPr>
        <p:txBody>
          <a:bodyPr vert="horz" wrap="square" lIns="432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27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6080-EE7B-EDD5-40B1-7C71B8DE8938}"/>
              </a:ext>
            </a:extLst>
          </p:cNvPr>
          <p:cNvCxnSpPr>
            <a:cxnSpLocks/>
          </p:cNvCxnSpPr>
          <p:nvPr userDrawn="1"/>
        </p:nvCxnSpPr>
        <p:spPr>
          <a:xfrm>
            <a:off x="327184" y="3695156"/>
            <a:ext cx="652760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334448" y="4420563"/>
            <a:ext cx="1453950" cy="10452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/>
          </a:p>
        </p:txBody>
      </p:sp>
      <p:sp>
        <p:nvSpPr>
          <p:cNvPr id="6" name="Milestone Placeholder 1">
            <a:extLst>
              <a:ext uri="{FF2B5EF4-FFF2-40B4-BE49-F238E27FC236}">
                <a16:creationId xmlns:a16="http://schemas.microsoft.com/office/drawing/2014/main" id="{CCF4D506-62C9-60D3-EB04-50CC89D105E4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9"/>
            </p:custDataLst>
          </p:nvPr>
        </p:nvSpPr>
        <p:spPr>
          <a:xfrm>
            <a:off x="334448" y="4421935"/>
            <a:ext cx="1431840" cy="1042456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lang="en-US" sz="788" b="0" dirty="0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835A207-9D69-EAB8-E364-386797D53BB6}"/>
              </a:ext>
            </a:extLst>
          </p:cNvPr>
          <p:cNvSpPr/>
          <p:nvPr userDrawn="1"/>
        </p:nvSpPr>
        <p:spPr>
          <a:xfrm>
            <a:off x="1913712" y="4420563"/>
            <a:ext cx="1453950" cy="10452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/>
          </a:p>
        </p:txBody>
      </p:sp>
      <p:sp>
        <p:nvSpPr>
          <p:cNvPr id="11" name="Milestone Placeholder 2">
            <a:extLst>
              <a:ext uri="{FF2B5EF4-FFF2-40B4-BE49-F238E27FC236}">
                <a16:creationId xmlns:a16="http://schemas.microsoft.com/office/drawing/2014/main" id="{FDDEF1DD-EE13-1D50-9421-93FEF54ED704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0"/>
            </p:custDataLst>
          </p:nvPr>
        </p:nvSpPr>
        <p:spPr>
          <a:xfrm>
            <a:off x="1913712" y="4421935"/>
            <a:ext cx="1431840" cy="1042456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lang="en-US" sz="788" b="0" dirty="0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724F0DD-509A-4A37-D90F-E2E85617263D}"/>
              </a:ext>
            </a:extLst>
          </p:cNvPr>
          <p:cNvSpPr/>
          <p:nvPr userDrawn="1"/>
        </p:nvSpPr>
        <p:spPr>
          <a:xfrm>
            <a:off x="3492945" y="4420563"/>
            <a:ext cx="1453950" cy="10452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/>
          </a:p>
        </p:txBody>
      </p:sp>
      <p:sp>
        <p:nvSpPr>
          <p:cNvPr id="23" name="Milestone Placeholder 3">
            <a:extLst>
              <a:ext uri="{FF2B5EF4-FFF2-40B4-BE49-F238E27FC236}">
                <a16:creationId xmlns:a16="http://schemas.microsoft.com/office/drawing/2014/main" id="{04A96BBC-4B67-DD3B-38E1-38B407D95291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1"/>
            </p:custDataLst>
          </p:nvPr>
        </p:nvSpPr>
        <p:spPr>
          <a:xfrm>
            <a:off x="3492945" y="4421935"/>
            <a:ext cx="1431840" cy="1042456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lang="en-US" sz="788" b="0" dirty="0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9D773-8BFE-34B4-DFA1-7D0302C13D87}"/>
              </a:ext>
            </a:extLst>
          </p:cNvPr>
          <p:cNvCxnSpPr>
            <a:cxnSpLocks/>
          </p:cNvCxnSpPr>
          <p:nvPr userDrawn="1"/>
        </p:nvCxnSpPr>
        <p:spPr>
          <a:xfrm>
            <a:off x="330398" y="843845"/>
            <a:ext cx="0" cy="2851312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Placeholder 4">
            <a:extLst>
              <a:ext uri="{FF2B5EF4-FFF2-40B4-BE49-F238E27FC236}">
                <a16:creationId xmlns:a16="http://schemas.microsoft.com/office/drawing/2014/main" id="{9C61E073-D317-96E9-F0C2-ED383C93E029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2"/>
            </p:custDataLst>
          </p:nvPr>
        </p:nvSpPr>
        <p:spPr>
          <a:xfrm>
            <a:off x="5075444" y="5456554"/>
            <a:ext cx="1453950" cy="11180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sz="1013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3A85F-88C2-1B9A-EC64-181AE623C4B9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3"/>
            </p:custDataLst>
          </p:nvPr>
        </p:nvSpPr>
        <p:spPr>
          <a:xfrm>
            <a:off x="5075443" y="6628258"/>
            <a:ext cx="1453950" cy="23712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759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938A444-E7E9-A388-B243-5EF03247D4A7}"/>
              </a:ext>
            </a:extLst>
          </p:cNvPr>
          <p:cNvSpPr/>
          <p:nvPr userDrawn="1"/>
        </p:nvSpPr>
        <p:spPr>
          <a:xfrm>
            <a:off x="5075443" y="4420563"/>
            <a:ext cx="1453950" cy="10452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/>
          </a:p>
        </p:txBody>
      </p:sp>
      <p:sp>
        <p:nvSpPr>
          <p:cNvPr id="14" name="Milestone Placeholder 4">
            <a:extLst>
              <a:ext uri="{FF2B5EF4-FFF2-40B4-BE49-F238E27FC236}">
                <a16:creationId xmlns:a16="http://schemas.microsoft.com/office/drawing/2014/main" id="{65AB2AEF-5260-FB99-10DD-38F676E780FB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4"/>
            </p:custDataLst>
          </p:nvPr>
        </p:nvSpPr>
        <p:spPr>
          <a:xfrm>
            <a:off x="5075443" y="4421935"/>
            <a:ext cx="1431840" cy="1042456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lang="en-US" sz="788" b="0" dirty="0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639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34449" y="2772251"/>
            <a:ext cx="1981020" cy="997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27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334449" y="7946890"/>
            <a:ext cx="1981019" cy="1115266"/>
          </a:xfrm>
        </p:spPr>
        <p:txBody>
          <a:bodyPr wrap="square" lIns="0" tIns="216000" rIns="0" bIns="0" anchor="t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sz="1013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Name Date Placeholder">
            <a:extLst>
              <a:ext uri="{FF2B5EF4-FFF2-40B4-BE49-F238E27FC236}">
                <a16:creationId xmlns:a16="http://schemas.microsoft.com/office/drawing/2014/main" id="{748A716D-2E02-B3F1-671A-72075F5A0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449" y="1155846"/>
            <a:ext cx="1981020" cy="577937"/>
          </a:xfrm>
        </p:spPr>
        <p:txBody>
          <a:bodyPr wrap="square"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31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B94011B7-911C-4BC5-8F21-614A2A24C54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566310" y="1155846"/>
            <a:ext cx="4291685" cy="790630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843844"/>
            <a:ext cx="6858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309C13-EDBF-C4F9-1A6B-7CEA3EA8B6FA}"/>
              </a:ext>
            </a:extLst>
          </p:cNvPr>
          <p:cNvCxnSpPr>
            <a:cxnSpLocks/>
          </p:cNvCxnSpPr>
          <p:nvPr userDrawn="1"/>
        </p:nvCxnSpPr>
        <p:spPr>
          <a:xfrm>
            <a:off x="2436912" y="843844"/>
            <a:ext cx="0" cy="906215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46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ags" Target="../tags/tag2.xml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11E46-005E-4F71-B710-4871AB2074C5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34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5929" y="986288"/>
            <a:ext cx="6191673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335929" y="2637014"/>
            <a:ext cx="6191673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5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  <p15:guide id="3" pos="208" userDrawn="1">
          <p15:clr>
            <a:srgbClr val="F26B43"/>
          </p15:clr>
        </p15:guide>
        <p15:guide id="4" pos="4112" userDrawn="1">
          <p15:clr>
            <a:srgbClr val="F26B43"/>
          </p15:clr>
        </p15:guide>
        <p15:guide id="5" orient="horz" pos="532" userDrawn="1">
          <p15:clr>
            <a:srgbClr val="F26B43"/>
          </p15:clr>
        </p15:guide>
        <p15:guide id="6" orient="horz" pos="5708" userDrawn="1">
          <p15:clr>
            <a:srgbClr val="F26B43"/>
          </p15:clr>
        </p15:guide>
        <p15:guide id="12" pos="1127" userDrawn="1">
          <p15:clr>
            <a:srgbClr val="A4A3A4"/>
          </p15:clr>
        </p15:guide>
        <p15:guide id="13" pos="1203" userDrawn="1">
          <p15:clr>
            <a:srgbClr val="A4A3A4"/>
          </p15:clr>
        </p15:guide>
        <p15:guide id="14" pos="3117" userDrawn="1">
          <p15:clr>
            <a:srgbClr val="A4A3A4"/>
          </p15:clr>
        </p15:guide>
        <p15:guide id="15" pos="3193" userDrawn="1">
          <p15:clr>
            <a:srgbClr val="A4A3A4"/>
          </p15:clr>
        </p15:guide>
        <p15:guide id="16" pos="2122" userDrawn="1">
          <p15:clr>
            <a:srgbClr val="A4A3A4"/>
          </p15:clr>
        </p15:guide>
        <p15:guide id="17" pos="2198" userDrawn="1">
          <p15:clr>
            <a:srgbClr val="A4A3A4"/>
          </p15:clr>
        </p15:guide>
        <p15:guide id="18" pos="1459" userDrawn="1">
          <p15:clr>
            <a:srgbClr val="9FCC3B"/>
          </p15:clr>
        </p15:guide>
        <p15:guide id="19" pos="1535" userDrawn="1">
          <p15:clr>
            <a:srgbClr val="9FCC3B"/>
          </p15:clr>
        </p15:guide>
        <p15:guide id="20" pos="2785" userDrawn="1">
          <p15:clr>
            <a:srgbClr val="9FCC3B"/>
          </p15:clr>
        </p15:guide>
        <p15:guide id="21" pos="2861" userDrawn="1">
          <p15:clr>
            <a:srgbClr val="9FCC3B"/>
          </p15:clr>
        </p15:guide>
        <p15:guide id="22" orient="horz" pos="1187" userDrawn="1">
          <p15:clr>
            <a:srgbClr val="F26B43"/>
          </p15:clr>
        </p15:guide>
        <p15:guide id="23" orient="horz" pos="1056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연결선: 꺾임 178">
            <a:extLst>
              <a:ext uri="{FF2B5EF4-FFF2-40B4-BE49-F238E27FC236}">
                <a16:creationId xmlns:a16="http://schemas.microsoft.com/office/drawing/2014/main" id="{70DAB418-3D5C-4A88-B000-70AAB8396A36}"/>
              </a:ext>
            </a:extLst>
          </p:cNvPr>
          <p:cNvCxnSpPr>
            <a:cxnSpLocks/>
            <a:stCxn id="16" idx="1"/>
            <a:endCxn id="175" idx="0"/>
          </p:cNvCxnSpPr>
          <p:nvPr/>
        </p:nvCxnSpPr>
        <p:spPr>
          <a:xfrm rot="10800000" flipV="1">
            <a:off x="945728" y="1061344"/>
            <a:ext cx="1146767" cy="140143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088C676-0A8F-4F03-AEE3-ECB8EA3CF4E5}"/>
              </a:ext>
            </a:extLst>
          </p:cNvPr>
          <p:cNvSpPr/>
          <p:nvPr/>
        </p:nvSpPr>
        <p:spPr>
          <a:xfrm>
            <a:off x="2827530" y="223143"/>
            <a:ext cx="1202942" cy="413985"/>
          </a:xfrm>
          <a:prstGeom prst="roundRect">
            <a:avLst>
              <a:gd name="adj" fmla="val 26642"/>
            </a:avLst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ysClr val="windowText" lastClr="000000"/>
                </a:solidFill>
              </a:rPr>
              <a:t>사고 발생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43028C8-60E0-42BF-89E6-C2C86F9781CB}"/>
              </a:ext>
            </a:extLst>
          </p:cNvPr>
          <p:cNvSpPr/>
          <p:nvPr/>
        </p:nvSpPr>
        <p:spPr>
          <a:xfrm>
            <a:off x="2000253" y="3408149"/>
            <a:ext cx="2857496" cy="412080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ysClr val="windowText" lastClr="000000"/>
                </a:solidFill>
              </a:rPr>
              <a:t>     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의료반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              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환자 이송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r>
              <a:rPr lang="en-US" altLang="ko-KR" sz="1200" dirty="0">
                <a:solidFill>
                  <a:sysClr val="windowText" lastClr="000000"/>
                </a:solidFill>
              </a:rPr>
              <a:t>     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유도반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복구반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: 2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차 피해 방지조치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D82B96-5E79-4DB3-BE7F-3616FC316BC3}"/>
              </a:ext>
            </a:extLst>
          </p:cNvPr>
          <p:cNvSpPr/>
          <p:nvPr/>
        </p:nvSpPr>
        <p:spPr>
          <a:xfrm>
            <a:off x="2092493" y="6084157"/>
            <a:ext cx="2671543" cy="577427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사고보고서 및 재발방지대책 작성</a:t>
            </a:r>
            <a:endParaRPr lang="en-US" altLang="ko-KR" sz="1200" dirty="0">
              <a:solidFill>
                <a:sysClr val="windowText" lastClr="000000"/>
              </a:solidFill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D91719D3-E16A-4555-B600-0CBA1D4A3E13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flipH="1">
            <a:off x="3429000" y="637128"/>
            <a:ext cx="1" cy="2537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C00536D-9DF8-4778-87DA-E44D557E461C}"/>
              </a:ext>
            </a:extLst>
          </p:cNvPr>
          <p:cNvCxnSpPr>
            <a:cxnSpLocks/>
            <a:stCxn id="5" idx="2"/>
            <a:endCxn id="61" idx="0"/>
          </p:cNvCxnSpPr>
          <p:nvPr/>
        </p:nvCxnSpPr>
        <p:spPr>
          <a:xfrm flipH="1">
            <a:off x="3429000" y="3820229"/>
            <a:ext cx="1" cy="1926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순서도: 판단 15">
            <a:extLst>
              <a:ext uri="{FF2B5EF4-FFF2-40B4-BE49-F238E27FC236}">
                <a16:creationId xmlns:a16="http://schemas.microsoft.com/office/drawing/2014/main" id="{FCB9019E-2E3C-4244-B829-7436D8EF946F}"/>
              </a:ext>
            </a:extLst>
          </p:cNvPr>
          <p:cNvSpPr/>
          <p:nvPr/>
        </p:nvSpPr>
        <p:spPr>
          <a:xfrm>
            <a:off x="2092494" y="890842"/>
            <a:ext cx="2673012" cy="341006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부상의 정도 파악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1257848-E1F9-4873-A78E-BBF5560477C8}"/>
              </a:ext>
            </a:extLst>
          </p:cNvPr>
          <p:cNvCxnSpPr>
            <a:cxnSpLocks/>
            <a:stCxn id="16" idx="2"/>
            <a:endCxn id="75" idx="0"/>
          </p:cNvCxnSpPr>
          <p:nvPr/>
        </p:nvCxnSpPr>
        <p:spPr>
          <a:xfrm flipH="1">
            <a:off x="3428999" y="1231848"/>
            <a:ext cx="1" cy="6383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421C2BD1-687A-4CAE-89D9-AE85FB17607E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765506" y="1061345"/>
            <a:ext cx="1336499" cy="1805230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12665C7-3E33-439D-83C7-FB8EBEF09117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857738" y="2856598"/>
            <a:ext cx="10009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819A0AD-28AF-483E-B050-AC8C5182749C}"/>
              </a:ext>
            </a:extLst>
          </p:cNvPr>
          <p:cNvSpPr/>
          <p:nvPr/>
        </p:nvSpPr>
        <p:spPr>
          <a:xfrm>
            <a:off x="2092494" y="5432498"/>
            <a:ext cx="2673014" cy="41208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ysClr val="windowText" lastClr="000000"/>
                </a:solidFill>
              </a:rPr>
              <a:t>산업재해조사표 작성</a:t>
            </a:r>
            <a:r>
              <a:rPr lang="en-US" altLang="ko-KR" sz="1400" b="1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400" b="1" dirty="0">
                <a:solidFill>
                  <a:sysClr val="windowText" lastClr="000000"/>
                </a:solidFill>
              </a:rPr>
              <a:t>신고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D59C9E6C-8C74-44DC-9248-B3AB5349E8DF}"/>
              </a:ext>
            </a:extLst>
          </p:cNvPr>
          <p:cNvSpPr/>
          <p:nvPr/>
        </p:nvSpPr>
        <p:spPr>
          <a:xfrm>
            <a:off x="4932514" y="911582"/>
            <a:ext cx="759155" cy="29497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</a:rPr>
              <a:t>경상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62CC292-AEE8-422C-B17A-66D29F94FD97}"/>
              </a:ext>
            </a:extLst>
          </p:cNvPr>
          <p:cNvSpPr/>
          <p:nvPr/>
        </p:nvSpPr>
        <p:spPr>
          <a:xfrm>
            <a:off x="2995765" y="1371105"/>
            <a:ext cx="866470" cy="28107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중상</a:t>
            </a:r>
          </a:p>
        </p:txBody>
      </p:sp>
      <p:sp>
        <p:nvSpPr>
          <p:cNvPr id="61" name="순서도: 판단 60">
            <a:extLst>
              <a:ext uri="{FF2B5EF4-FFF2-40B4-BE49-F238E27FC236}">
                <a16:creationId xmlns:a16="http://schemas.microsoft.com/office/drawing/2014/main" id="{3F3D4D6C-A0FF-4179-A14B-1D0B7219D588}"/>
              </a:ext>
            </a:extLst>
          </p:cNvPr>
          <p:cNvSpPr/>
          <p:nvPr/>
        </p:nvSpPr>
        <p:spPr>
          <a:xfrm>
            <a:off x="1653646" y="4012855"/>
            <a:ext cx="3550708" cy="842171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의사 소견서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취업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통원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치료 가능 여부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042E201-855F-41E5-A119-6A90878A2659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3429000" y="4855026"/>
            <a:ext cx="0" cy="5623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D78BA9A8-8229-4036-AE54-94EB5D3E56F1}"/>
              </a:ext>
            </a:extLst>
          </p:cNvPr>
          <p:cNvSpPr/>
          <p:nvPr/>
        </p:nvSpPr>
        <p:spPr>
          <a:xfrm>
            <a:off x="2000253" y="1870215"/>
            <a:ext cx="2857492" cy="412080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*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작업중지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 119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신고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응급처치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200" dirty="0" err="1">
                <a:solidFill>
                  <a:sysClr val="windowText" lastClr="000000"/>
                </a:solidFill>
              </a:rPr>
              <a:t>상황반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현장소장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공무팀장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보고</a:t>
            </a: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52BDF33-6740-4657-9B1E-0097D610BCAD}"/>
              </a:ext>
            </a:extLst>
          </p:cNvPr>
          <p:cNvCxnSpPr>
            <a:cxnSpLocks/>
            <a:stCxn id="75" idx="2"/>
            <a:endCxn id="7" idx="0"/>
          </p:cNvCxnSpPr>
          <p:nvPr/>
        </p:nvCxnSpPr>
        <p:spPr>
          <a:xfrm flipH="1">
            <a:off x="3428994" y="2282295"/>
            <a:ext cx="5" cy="2250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타원 89">
            <a:extLst>
              <a:ext uri="{FF2B5EF4-FFF2-40B4-BE49-F238E27FC236}">
                <a16:creationId xmlns:a16="http://schemas.microsoft.com/office/drawing/2014/main" id="{5C178265-B297-46F3-81D8-DDD3D6638503}"/>
              </a:ext>
            </a:extLst>
          </p:cNvPr>
          <p:cNvSpPr/>
          <p:nvPr/>
        </p:nvSpPr>
        <p:spPr>
          <a:xfrm>
            <a:off x="3060181" y="4958680"/>
            <a:ext cx="759155" cy="2167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불가</a:t>
            </a: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1591E15F-1509-487A-9C58-4460A885F0DA}"/>
              </a:ext>
            </a:extLst>
          </p:cNvPr>
          <p:cNvCxnSpPr>
            <a:cxnSpLocks/>
            <a:stCxn id="28" idx="2"/>
            <a:endCxn id="9" idx="0"/>
          </p:cNvCxnSpPr>
          <p:nvPr/>
        </p:nvCxnSpPr>
        <p:spPr>
          <a:xfrm flipH="1">
            <a:off x="3428265" y="5844578"/>
            <a:ext cx="736" cy="2395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FE1103-9A30-4DBD-8209-7B7E1E6116A3}"/>
              </a:ext>
            </a:extLst>
          </p:cNvPr>
          <p:cNvSpPr/>
          <p:nvPr/>
        </p:nvSpPr>
        <p:spPr>
          <a:xfrm>
            <a:off x="2000250" y="2507339"/>
            <a:ext cx="2857488" cy="698517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ysClr val="windowText" lastClr="000000"/>
                </a:solidFill>
              </a:rPr>
              <a:t>사고 보고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공사팀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1400" b="1" dirty="0">
                <a:solidFill>
                  <a:sysClr val="windowText" lastClr="000000"/>
                </a:solidFill>
                <a:latin typeface="Calibri" panose="020F0502020204030204"/>
                <a:ea typeface="맑은 고딕" panose="020B0503020000020004" pitchFamily="50" charset="-127"/>
              </a:rPr>
              <a:t>PM</a:t>
            </a:r>
            <a:endParaRPr lang="en-US" altLang="ko-KR" sz="1200" b="1" dirty="0">
              <a:solidFill>
                <a:sysClr val="windowText" lastClr="000000"/>
              </a:solidFill>
            </a:endParaRPr>
          </a:p>
          <a:p>
            <a:r>
              <a:rPr lang="ko-KR" altLang="en-US" sz="1200" dirty="0">
                <a:solidFill>
                  <a:sysClr val="windowText" lastClr="000000"/>
                </a:solidFill>
              </a:rPr>
              <a:t>                       → 안전보건실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200" b="1" dirty="0" err="1">
                <a:solidFill>
                  <a:sysClr val="windowText" lastClr="000000"/>
                </a:solidFill>
              </a:rPr>
              <a:t>정상익차장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</a:t>
            </a:r>
          </a:p>
          <a:p>
            <a:r>
              <a:rPr lang="ko-KR" altLang="en-US" sz="1200" dirty="0">
                <a:solidFill>
                  <a:sysClr val="windowText" lastClr="000000"/>
                </a:solidFill>
              </a:rPr>
              <a:t>                       →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도급사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안전팀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063258D5-BE3B-471B-A815-0775A99AAD9D}"/>
              </a:ext>
            </a:extLst>
          </p:cNvPr>
          <p:cNvSpPr/>
          <p:nvPr/>
        </p:nvSpPr>
        <p:spPr>
          <a:xfrm>
            <a:off x="1143375" y="906600"/>
            <a:ext cx="782110" cy="3049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아차</a:t>
            </a:r>
            <a:endParaRPr lang="en-US" altLang="ko-KR" sz="1200" dirty="0">
              <a:solidFill>
                <a:sysClr val="windowText" lastClr="000000"/>
              </a:solidFill>
            </a:endParaRP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2D99B0B8-24DE-4094-877F-CDE69A5B9AAF}"/>
              </a:ext>
            </a:extLst>
          </p:cNvPr>
          <p:cNvCxnSpPr>
            <a:cxnSpLocks/>
            <a:stCxn id="9" idx="2"/>
            <a:endCxn id="147" idx="0"/>
          </p:cNvCxnSpPr>
          <p:nvPr/>
        </p:nvCxnSpPr>
        <p:spPr>
          <a:xfrm>
            <a:off x="3428265" y="6661584"/>
            <a:ext cx="735" cy="2060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4112AB26-3171-480D-8B98-6EBBC8A4BD8C}"/>
              </a:ext>
            </a:extLst>
          </p:cNvPr>
          <p:cNvSpPr/>
          <p:nvPr/>
        </p:nvSpPr>
        <p:spPr>
          <a:xfrm>
            <a:off x="3705225" y="7593225"/>
            <a:ext cx="2998267" cy="670790"/>
          </a:xfrm>
          <a:prstGeom prst="roundRect">
            <a:avLst>
              <a:gd name="adj" fmla="val 0"/>
            </a:avLst>
          </a:prstGeom>
          <a:solidFill>
            <a:srgbClr val="DEEBF7">
              <a:alpha val="6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</a:rPr>
              <a:t> -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치료비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: 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</a:rPr>
              <a:t>*1</a:t>
            </a:r>
            <a:r>
              <a:rPr lang="en-US" altLang="ko-KR" sz="11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건강보험 미적용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, </a:t>
            </a:r>
          </a:p>
          <a:p>
            <a:r>
              <a:rPr lang="en-US" altLang="ko-KR" sz="1100" dirty="0">
                <a:solidFill>
                  <a:sysClr val="windowText" lastClr="000000"/>
                </a:solidFill>
              </a:rPr>
              <a:t>                  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재해자 부담이 원칙</a:t>
            </a:r>
            <a:endParaRPr lang="en-US" altLang="ko-KR" sz="1100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</a:rPr>
              <a:t> -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치료비 및 휴업급여 </a:t>
            </a:r>
            <a:r>
              <a:rPr lang="ko-KR" altLang="en-US" sz="1200" b="1" dirty="0">
                <a:solidFill>
                  <a:sysClr val="windowText" lastClr="000000"/>
                </a:solidFill>
              </a:rPr>
              <a:t>전자품의 </a:t>
            </a:r>
            <a:r>
              <a:rPr lang="en-US" altLang="ko-KR" sz="1200" b="1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200" b="1" dirty="0" err="1">
                <a:solidFill>
                  <a:sysClr val="windowText" lastClr="000000"/>
                </a:solidFill>
              </a:rPr>
              <a:t>안전실</a:t>
            </a:r>
            <a:r>
              <a:rPr lang="en-US" altLang="ko-KR" sz="1200" b="1" dirty="0">
                <a:solidFill>
                  <a:sysClr val="windowText" lastClr="000000"/>
                </a:solidFill>
              </a:rPr>
              <a:t>)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92109108-9B36-4B59-AD9D-C6760E51A161}"/>
              </a:ext>
            </a:extLst>
          </p:cNvPr>
          <p:cNvSpPr/>
          <p:nvPr/>
        </p:nvSpPr>
        <p:spPr>
          <a:xfrm>
            <a:off x="154507" y="7593226"/>
            <a:ext cx="2998240" cy="670790"/>
          </a:xfrm>
          <a:prstGeom prst="roundRect">
            <a:avLst>
              <a:gd name="adj" fmla="val 0"/>
            </a:avLst>
          </a:prstGeom>
          <a:solidFill>
            <a:srgbClr val="DEEBF7">
              <a:alpha val="6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</a:rPr>
              <a:t>  -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치료비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: 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</a:rPr>
              <a:t>*1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건강보험 미적용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, </a:t>
            </a:r>
          </a:p>
          <a:p>
            <a:r>
              <a:rPr lang="en-US" altLang="ko-KR" sz="1100" dirty="0">
                <a:solidFill>
                  <a:sysClr val="windowText" lastClr="000000"/>
                </a:solidFill>
              </a:rPr>
              <a:t>                      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재해자 부담이 원칙</a:t>
            </a:r>
            <a:endParaRPr lang="en-US" altLang="ko-KR" sz="1100" b="1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</a:rPr>
              <a:t>  -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휴업급여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추후 산재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근재에서 부담</a:t>
            </a:r>
            <a:endParaRPr lang="en-US" altLang="ko-KR" sz="1100" dirty="0">
              <a:solidFill>
                <a:sysClr val="windowText" lastClr="000000"/>
              </a:solidFill>
            </a:endParaRPr>
          </a:p>
        </p:txBody>
      </p:sp>
      <p:sp>
        <p:nvSpPr>
          <p:cNvPr id="147" name="순서도: 판단 146">
            <a:extLst>
              <a:ext uri="{FF2B5EF4-FFF2-40B4-BE49-F238E27FC236}">
                <a16:creationId xmlns:a16="http://schemas.microsoft.com/office/drawing/2014/main" id="{70455507-69EC-4823-AF6C-C16E6C6C0E7E}"/>
              </a:ext>
            </a:extLst>
          </p:cNvPr>
          <p:cNvSpPr/>
          <p:nvPr/>
        </p:nvSpPr>
        <p:spPr>
          <a:xfrm>
            <a:off x="2491135" y="6867669"/>
            <a:ext cx="1875730" cy="564050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여부</a:t>
            </a:r>
          </a:p>
        </p:txBody>
      </p:sp>
      <p:cxnSp>
        <p:nvCxnSpPr>
          <p:cNvPr id="154" name="연결선: 꺾임 153">
            <a:extLst>
              <a:ext uri="{FF2B5EF4-FFF2-40B4-BE49-F238E27FC236}">
                <a16:creationId xmlns:a16="http://schemas.microsoft.com/office/drawing/2014/main" id="{1E79BF14-8615-4B2D-8247-C5DA92AFD7C2}"/>
              </a:ext>
            </a:extLst>
          </p:cNvPr>
          <p:cNvCxnSpPr>
            <a:cxnSpLocks/>
            <a:stCxn id="147" idx="3"/>
            <a:endCxn id="124" idx="0"/>
          </p:cNvCxnSpPr>
          <p:nvPr/>
        </p:nvCxnSpPr>
        <p:spPr>
          <a:xfrm>
            <a:off x="4366865" y="7149694"/>
            <a:ext cx="837494" cy="44353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연결선: 꺾임 155">
            <a:extLst>
              <a:ext uri="{FF2B5EF4-FFF2-40B4-BE49-F238E27FC236}">
                <a16:creationId xmlns:a16="http://schemas.microsoft.com/office/drawing/2014/main" id="{B09ED4D1-C54E-46D8-B414-9272FF7457E6}"/>
              </a:ext>
            </a:extLst>
          </p:cNvPr>
          <p:cNvCxnSpPr>
            <a:cxnSpLocks/>
            <a:stCxn id="147" idx="1"/>
            <a:endCxn id="129" idx="0"/>
          </p:cNvCxnSpPr>
          <p:nvPr/>
        </p:nvCxnSpPr>
        <p:spPr>
          <a:xfrm rot="10800000" flipV="1">
            <a:off x="1653627" y="7149694"/>
            <a:ext cx="837508" cy="44353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76290592-1463-4867-9E26-C95F4F04C956}"/>
              </a:ext>
            </a:extLst>
          </p:cNvPr>
          <p:cNvCxnSpPr>
            <a:cxnSpLocks/>
            <a:stCxn id="124" idx="2"/>
          </p:cNvCxnSpPr>
          <p:nvPr/>
        </p:nvCxnSpPr>
        <p:spPr>
          <a:xfrm flipH="1">
            <a:off x="5204358" y="8264015"/>
            <a:ext cx="1" cy="240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9" name="그림 188">
            <a:extLst>
              <a:ext uri="{FF2B5EF4-FFF2-40B4-BE49-F238E27FC236}">
                <a16:creationId xmlns:a16="http://schemas.microsoft.com/office/drawing/2014/main" id="{4209CB42-46F6-4CCE-9AC8-E7A7D3076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742" y="128774"/>
            <a:ext cx="1413712" cy="397698"/>
          </a:xfrm>
          <a:prstGeom prst="rect">
            <a:avLst/>
          </a:prstGeom>
        </p:spPr>
      </p:pic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1A063262-CC61-4EAE-B066-DDD722B8BDEF}"/>
              </a:ext>
            </a:extLst>
          </p:cNvPr>
          <p:cNvSpPr/>
          <p:nvPr/>
        </p:nvSpPr>
        <p:spPr>
          <a:xfrm>
            <a:off x="154479" y="128774"/>
            <a:ext cx="2193772" cy="604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ysClr val="windowText" lastClr="000000"/>
                </a:solidFill>
              </a:rPr>
              <a:t> 부현전기 사고처리 </a:t>
            </a:r>
            <a:r>
              <a:rPr lang="en-US" altLang="ko-KR" sz="1400" b="1" dirty="0">
                <a:solidFill>
                  <a:sysClr val="windowText" lastClr="000000"/>
                </a:solidFill>
              </a:rPr>
              <a:t>FLOW</a:t>
            </a:r>
          </a:p>
          <a:p>
            <a:r>
              <a:rPr lang="ko-KR" altLang="en-US" sz="1200" b="1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050" dirty="0">
                <a:solidFill>
                  <a:sysClr val="windowText" lastClr="000000"/>
                </a:solidFill>
              </a:rPr>
              <a:t>개정 </a:t>
            </a:r>
            <a:r>
              <a:rPr lang="en-US" altLang="ko-KR" sz="1050" dirty="0">
                <a:solidFill>
                  <a:sysClr val="windowText" lastClr="000000"/>
                </a:solidFill>
              </a:rPr>
              <a:t> : 2026-02-24 (rev04)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4030265E-EC3E-424D-8996-B86DFCBF7BDC}"/>
              </a:ext>
            </a:extLst>
          </p:cNvPr>
          <p:cNvCxnSpPr>
            <a:cxnSpLocks/>
            <a:stCxn id="61" idx="1"/>
            <a:endCxn id="175" idx="2"/>
          </p:cNvCxnSpPr>
          <p:nvPr/>
        </p:nvCxnSpPr>
        <p:spPr>
          <a:xfrm rot="10800000">
            <a:off x="945728" y="3820229"/>
            <a:ext cx="707919" cy="6137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6CDB34E9-85AE-44CA-8034-935D9730EEE2}"/>
              </a:ext>
            </a:extLst>
          </p:cNvPr>
          <p:cNvSpPr/>
          <p:nvPr/>
        </p:nvSpPr>
        <p:spPr>
          <a:xfrm>
            <a:off x="563568" y="4290445"/>
            <a:ext cx="743472" cy="2330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가능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DEB6CF5E-B657-447A-A97E-C6E03A54D0BC}"/>
              </a:ext>
            </a:extLst>
          </p:cNvPr>
          <p:cNvSpPr/>
          <p:nvPr/>
        </p:nvSpPr>
        <p:spPr>
          <a:xfrm>
            <a:off x="4507535" y="5234743"/>
            <a:ext cx="1093164" cy="412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ysClr val="windowText" lastClr="000000"/>
                </a:solidFill>
              </a:rPr>
              <a:t>도급사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100" dirty="0" err="1">
                <a:solidFill>
                  <a:sysClr val="windowText" lastClr="000000"/>
                </a:solidFill>
              </a:rPr>
              <a:t>안전팀</a:t>
            </a:r>
            <a:endParaRPr lang="en-US" altLang="ko-KR" sz="1100" dirty="0">
              <a:solidFill>
                <a:sysClr val="windowText" lastClr="000000"/>
              </a:solidFill>
            </a:endParaRPr>
          </a:p>
          <a:p>
            <a:r>
              <a:rPr lang="ko-KR" altLang="en-US" sz="1100" dirty="0">
                <a:solidFill>
                  <a:sysClr val="windowText" lastClr="000000"/>
                </a:solidFill>
              </a:rPr>
              <a:t>협의</a:t>
            </a: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FF9F0261-7042-4074-8A45-4389C8B4F843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3428994" y="3205856"/>
            <a:ext cx="7" cy="2022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6004B61B-F399-448B-823C-46BD7A67BDD9}"/>
              </a:ext>
            </a:extLst>
          </p:cNvPr>
          <p:cNvSpPr/>
          <p:nvPr/>
        </p:nvSpPr>
        <p:spPr>
          <a:xfrm>
            <a:off x="323283" y="2462782"/>
            <a:ext cx="1244887" cy="1357447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① </a:t>
            </a:r>
            <a:r>
              <a:rPr lang="ko-KR" altLang="en-US" sz="1200" dirty="0">
                <a:solidFill>
                  <a:schemeClr val="tx1"/>
                </a:solidFill>
              </a:rPr>
              <a:t>보고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서 및 치료비품의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재발방지대책 작성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</a:t>
            </a:r>
          </a:p>
          <a:p>
            <a:r>
              <a:rPr lang="ko-KR" altLang="en-US" sz="1200" b="1" dirty="0">
                <a:solidFill>
                  <a:schemeClr val="tx1"/>
                </a:solidFill>
              </a:rPr>
              <a:t>② </a:t>
            </a:r>
            <a:r>
              <a:rPr lang="ko-KR" altLang="en-US" sz="1200" b="1" dirty="0">
                <a:solidFill>
                  <a:sysClr val="windowText" lastClr="000000"/>
                </a:solidFill>
              </a:rPr>
              <a:t>보고 후 종결</a:t>
            </a:r>
          </a:p>
        </p:txBody>
      </p:sp>
      <p:sp>
        <p:nvSpPr>
          <p:cNvPr id="199" name="사각형: 둥근 모서리 198">
            <a:extLst>
              <a:ext uri="{FF2B5EF4-FFF2-40B4-BE49-F238E27FC236}">
                <a16:creationId xmlns:a16="http://schemas.microsoft.com/office/drawing/2014/main" id="{28DF6835-83DB-44CD-8169-9EC208F001DC}"/>
              </a:ext>
            </a:extLst>
          </p:cNvPr>
          <p:cNvSpPr/>
          <p:nvPr/>
        </p:nvSpPr>
        <p:spPr>
          <a:xfrm>
            <a:off x="154479" y="8504183"/>
            <a:ext cx="6548975" cy="707566"/>
          </a:xfrm>
          <a:prstGeom prst="roundRect">
            <a:avLst>
              <a:gd name="adj" fmla="val 50000"/>
            </a:avLst>
          </a:prstGeom>
          <a:solidFill>
            <a:srgbClr val="DEEBF7">
              <a:alpha val="6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 </a:t>
            </a:r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합의서 작성 시 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: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대표이사 품의 결재 완료 후 합의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서명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가능</a:t>
            </a:r>
            <a:endParaRPr lang="en-US" altLang="ko-KR" sz="1400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  -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법인카드로 결재 시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안전보건실 협의  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산재확정 시 법인카드 불가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</a:t>
            </a:r>
          </a:p>
        </p:txBody>
      </p: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197F60B9-788E-4DCB-9CCE-A09F9AA68837}"/>
              </a:ext>
            </a:extLst>
          </p:cNvPr>
          <p:cNvCxnSpPr>
            <a:cxnSpLocks/>
            <a:stCxn id="129" idx="2"/>
          </p:cNvCxnSpPr>
          <p:nvPr/>
        </p:nvCxnSpPr>
        <p:spPr>
          <a:xfrm>
            <a:off x="1653627" y="8264016"/>
            <a:ext cx="0" cy="2401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2D8D8FB-8219-4537-9873-D563E1EBEE0F}"/>
              </a:ext>
            </a:extLst>
          </p:cNvPr>
          <p:cNvSpPr/>
          <p:nvPr/>
        </p:nvSpPr>
        <p:spPr>
          <a:xfrm>
            <a:off x="333224" y="4668769"/>
            <a:ext cx="1401208" cy="2198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</a:rPr>
              <a:t>① 최초보고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: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   - </a:t>
            </a:r>
            <a:r>
              <a:rPr lang="ko-KR" altLang="en-US" sz="1100" dirty="0">
                <a:solidFill>
                  <a:schemeClr val="tx1"/>
                </a:solidFill>
              </a:rPr>
              <a:t>사고보고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   - </a:t>
            </a:r>
            <a:r>
              <a:rPr lang="ko-KR" altLang="en-US" sz="1100" dirty="0">
                <a:solidFill>
                  <a:schemeClr val="tx1"/>
                </a:solidFill>
              </a:rPr>
              <a:t>소견서</a:t>
            </a:r>
            <a:endParaRPr lang="en-US" altLang="ko-KR" sz="1100" dirty="0">
              <a:solidFill>
                <a:schemeClr val="tx1"/>
              </a:solidFill>
            </a:endParaRP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ko-KR" altLang="en-US" sz="1100" b="1" dirty="0">
                <a:solidFill>
                  <a:schemeClr val="tx1"/>
                </a:solidFill>
              </a:rPr>
              <a:t>② 전자품의</a:t>
            </a:r>
            <a:r>
              <a:rPr lang="en-US" altLang="ko-KR" sz="1100" dirty="0">
                <a:solidFill>
                  <a:schemeClr val="tx1"/>
                </a:solidFill>
              </a:rPr>
              <a:t> :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  - </a:t>
            </a:r>
            <a:r>
              <a:rPr lang="ko-KR" altLang="en-US" sz="1100" dirty="0">
                <a:solidFill>
                  <a:schemeClr val="tx1"/>
                </a:solidFill>
              </a:rPr>
              <a:t>사고보고서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100" dirty="0">
                <a:solidFill>
                  <a:schemeClr val="tx1"/>
                </a:solidFill>
              </a:rPr>
              <a:t>    </a:t>
            </a:r>
            <a:r>
              <a:rPr lang="en-US" altLang="ko-KR" sz="1100" dirty="0">
                <a:solidFill>
                  <a:schemeClr val="tx1"/>
                </a:solidFill>
              </a:rPr>
              <a:t>- </a:t>
            </a:r>
            <a:r>
              <a:rPr lang="ko-KR" altLang="en-US" sz="1100" dirty="0">
                <a:solidFill>
                  <a:schemeClr val="tx1"/>
                </a:solidFill>
              </a:rPr>
              <a:t>산업재해조사표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100" dirty="0">
                <a:solidFill>
                  <a:schemeClr val="tx1"/>
                </a:solidFill>
              </a:rPr>
              <a:t>    </a:t>
            </a:r>
            <a:r>
              <a:rPr lang="en-US" altLang="ko-KR" sz="1100" dirty="0">
                <a:solidFill>
                  <a:schemeClr val="tx1"/>
                </a:solidFill>
              </a:rPr>
              <a:t>- </a:t>
            </a:r>
            <a:r>
              <a:rPr lang="ko-KR" altLang="en-US" sz="1100" dirty="0">
                <a:solidFill>
                  <a:schemeClr val="tx1"/>
                </a:solidFill>
              </a:rPr>
              <a:t>상세명세서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  - </a:t>
            </a:r>
            <a:r>
              <a:rPr lang="ko-KR" altLang="en-US" sz="1100" dirty="0">
                <a:solidFill>
                  <a:schemeClr val="tx1"/>
                </a:solidFill>
              </a:rPr>
              <a:t>재발방지대책</a:t>
            </a:r>
            <a:endParaRPr lang="en-US" altLang="ko-KR" sz="1100" dirty="0">
              <a:solidFill>
                <a:schemeClr val="tx1"/>
              </a:solidFill>
            </a:endParaRP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 dirty="0">
                <a:solidFill>
                  <a:schemeClr val="tx1"/>
                </a:solidFill>
              </a:rPr>
              <a:t>안전보건실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      One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Stop</a:t>
            </a:r>
            <a:r>
              <a:rPr lang="ko-KR" altLang="en-US" sz="1100" dirty="0">
                <a:solidFill>
                  <a:schemeClr val="tx1"/>
                </a:solidFill>
              </a:rPr>
              <a:t> 결재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8D1787D5-5502-43D9-A74F-11EB5430811A}"/>
              </a:ext>
            </a:extLst>
          </p:cNvPr>
          <p:cNvSpPr/>
          <p:nvPr/>
        </p:nvSpPr>
        <p:spPr>
          <a:xfrm>
            <a:off x="1272276" y="7033146"/>
            <a:ext cx="743472" cy="2330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Yes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44321C0-4AE0-4200-86C3-311EB761A167}"/>
              </a:ext>
            </a:extLst>
          </p:cNvPr>
          <p:cNvSpPr/>
          <p:nvPr/>
        </p:nvSpPr>
        <p:spPr>
          <a:xfrm>
            <a:off x="4818261" y="7025882"/>
            <a:ext cx="743472" cy="2330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No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6490A86-570C-4626-85FB-05B7FFDBEB4B}"/>
              </a:ext>
            </a:extLst>
          </p:cNvPr>
          <p:cNvSpPr/>
          <p:nvPr/>
        </p:nvSpPr>
        <p:spPr>
          <a:xfrm>
            <a:off x="5291905" y="2582354"/>
            <a:ext cx="1411580" cy="46236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중상 </a:t>
            </a:r>
            <a:r>
              <a:rPr lang="en-US" altLang="ko-KR" sz="1050" b="1" dirty="0">
                <a:solidFill>
                  <a:schemeClr val="tx1"/>
                </a:solidFill>
              </a:rPr>
              <a:t>: </a:t>
            </a:r>
            <a:r>
              <a:rPr lang="ko-KR" altLang="en-US" sz="1050" b="1" dirty="0">
                <a:solidFill>
                  <a:schemeClr val="tx1"/>
                </a:solidFill>
              </a:rPr>
              <a:t>즉시보고</a:t>
            </a:r>
            <a:endParaRPr lang="en-US" altLang="ko-KR" sz="1050" b="1" dirty="0">
              <a:solidFill>
                <a:schemeClr val="tx1"/>
              </a:solidFill>
            </a:endParaRPr>
          </a:p>
          <a:p>
            <a:r>
              <a:rPr lang="ko-KR" altLang="en-US" sz="1050" b="1" dirty="0">
                <a:solidFill>
                  <a:schemeClr val="tx1"/>
                </a:solidFill>
              </a:rPr>
              <a:t>경상 </a:t>
            </a:r>
            <a:r>
              <a:rPr lang="en-US" altLang="ko-KR" sz="1050" b="1" dirty="0">
                <a:solidFill>
                  <a:schemeClr val="tx1"/>
                </a:solidFill>
              </a:rPr>
              <a:t>: 1</a:t>
            </a:r>
            <a:r>
              <a:rPr lang="ko-KR" altLang="en-US" sz="1050" b="1" dirty="0">
                <a:solidFill>
                  <a:schemeClr val="tx1"/>
                </a:solidFill>
              </a:rPr>
              <a:t>시간 이내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A021583-D664-414E-A7F1-1039BF2D600A}"/>
              </a:ext>
            </a:extLst>
          </p:cNvPr>
          <p:cNvSpPr/>
          <p:nvPr/>
        </p:nvSpPr>
        <p:spPr>
          <a:xfrm>
            <a:off x="5291905" y="4200878"/>
            <a:ext cx="1411580" cy="46236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</a:rPr>
              <a:t>24</a:t>
            </a:r>
            <a:r>
              <a:rPr lang="ko-KR" altLang="en-US" sz="1050" b="1" dirty="0">
                <a:solidFill>
                  <a:schemeClr val="tx1"/>
                </a:solidFill>
              </a:rPr>
              <a:t>시간 이내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43F16859-FA23-40E9-BA64-76A0A0964E8E}"/>
              </a:ext>
            </a:extLst>
          </p:cNvPr>
          <p:cNvSpPr/>
          <p:nvPr/>
        </p:nvSpPr>
        <p:spPr>
          <a:xfrm>
            <a:off x="5291905" y="6135002"/>
            <a:ext cx="1411580" cy="46236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</a:rPr>
              <a:t>3</a:t>
            </a:r>
            <a:r>
              <a:rPr lang="ko-KR" altLang="en-US" sz="1050" b="1" dirty="0">
                <a:solidFill>
                  <a:schemeClr val="tx1"/>
                </a:solidFill>
              </a:rPr>
              <a:t>일 이내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DDB492-02AD-4178-B785-02E9083078EF}"/>
              </a:ext>
            </a:extLst>
          </p:cNvPr>
          <p:cNvSpPr txBox="1"/>
          <p:nvPr/>
        </p:nvSpPr>
        <p:spPr>
          <a:xfrm>
            <a:off x="4929224" y="195137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초동대응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447D078-53E2-4AEB-8B88-91CAADA3624A}"/>
              </a:ext>
            </a:extLst>
          </p:cNvPr>
          <p:cNvSpPr/>
          <p:nvPr/>
        </p:nvSpPr>
        <p:spPr>
          <a:xfrm>
            <a:off x="5722427" y="1970860"/>
            <a:ext cx="759155" cy="20005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chemeClr val="tx1"/>
                </a:solidFill>
              </a:rPr>
              <a:t>5</a:t>
            </a:r>
            <a:r>
              <a:rPr lang="ko-KR" altLang="en-US" sz="1050" b="1" dirty="0">
                <a:solidFill>
                  <a:schemeClr val="tx1"/>
                </a:solidFill>
              </a:rPr>
              <a:t>분 이내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C8BEB3-D219-4114-A2CA-22C18E64D0A3}"/>
              </a:ext>
            </a:extLst>
          </p:cNvPr>
          <p:cNvSpPr/>
          <p:nvPr/>
        </p:nvSpPr>
        <p:spPr>
          <a:xfrm>
            <a:off x="1" y="9240960"/>
            <a:ext cx="6857998" cy="339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*1 </a:t>
            </a:r>
            <a:r>
              <a:rPr lang="ko-KR" altLang="en-US" sz="1200" dirty="0"/>
              <a:t>근로자에게 건강보험을 사용하면 해당 비용이 환수될 수 있음을 교육한다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정기</a:t>
            </a:r>
            <a:r>
              <a:rPr lang="en-US" altLang="ko-KR" sz="1200" dirty="0"/>
              <a:t>,  TBM </a:t>
            </a:r>
            <a:r>
              <a:rPr lang="ko-KR" altLang="en-US" sz="1200" dirty="0"/>
              <a:t>등 교육 시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077217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ome">
  <a:themeElements>
    <a:clrScheme name="Romе Sand">
      <a:dk1>
        <a:srgbClr val="372D21"/>
      </a:dk1>
      <a:lt1>
        <a:srgbClr val="FFFFFF"/>
      </a:lt1>
      <a:dk2>
        <a:srgbClr val="B29A80"/>
      </a:dk2>
      <a:lt2>
        <a:srgbClr val="EEE9E3"/>
      </a:lt2>
      <a:accent1>
        <a:srgbClr val="372D21"/>
      </a:accent1>
      <a:accent2>
        <a:srgbClr val="695039"/>
      </a:accent2>
      <a:accent3>
        <a:srgbClr val="D1C3B3"/>
      </a:accent3>
      <a:accent4>
        <a:srgbClr val="B29A80"/>
      </a:accent4>
      <a:accent5>
        <a:srgbClr val="E4DCD2"/>
      </a:accent5>
      <a:accent6>
        <a:srgbClr val="EEE9E3"/>
      </a:accent6>
      <a:hlink>
        <a:srgbClr val="CDB79F"/>
      </a:hlink>
      <a:folHlink>
        <a:srgbClr val="775E4E"/>
      </a:folHlink>
    </a:clrScheme>
    <a:fontScheme name="Rome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  <wetp:taskpane dockstate="right" visibility="0" width="350" row="1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8C663014-ED0A-4FD7-B7CC-3B5DB38DB66B}">
  <we:reference id="wa200000113" version="1.0.0.0" store="ko-KR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633314E-6158-4015-9B89-EA532F151AF7}">
  <we:reference id="wa200005566" version="3.0.0.3" store="ko-K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F2116AD-72CD-441C-86DF-3A337C718322}">
  <we:reference id="wa200006000" version="1.2.1.0" store="ko-KR" storeType="OMEX"/>
  <we:alternateReferences>
    <we:reference id="wa200006000" version="1.2.1.0" store="wa20000600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1253</TotalTime>
  <Words>245</Words>
  <Application>Microsoft Office PowerPoint</Application>
  <PresentationFormat>A4 용지(210x297mm)</PresentationFormat>
  <Paragraphs>54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Georgia</vt:lpstr>
      <vt:lpstr>Wingdings</vt:lpstr>
      <vt:lpstr>Office 테마</vt:lpstr>
      <vt:lpstr>Rome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정상익</dc:creator>
  <cp:lastModifiedBy>win10</cp:lastModifiedBy>
  <cp:revision>22</cp:revision>
  <cp:lastPrinted>2024-10-11T08:54:44Z</cp:lastPrinted>
  <dcterms:created xsi:type="dcterms:W3CDTF">2024-07-09T01:41:45Z</dcterms:created>
  <dcterms:modified xsi:type="dcterms:W3CDTF">2026-03-05T06:35:12Z</dcterms:modified>
</cp:coreProperties>
</file>