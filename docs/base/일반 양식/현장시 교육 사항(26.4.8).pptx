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</p:sldMasterIdLst>
  <p:notesMasterIdLst>
    <p:notesMasterId r:id="rId20"/>
  </p:notesMasterIdLst>
  <p:sldIdLst>
    <p:sldId id="256" r:id="rId2"/>
    <p:sldId id="11881" r:id="rId3"/>
    <p:sldId id="257" r:id="rId4"/>
    <p:sldId id="11876" r:id="rId5"/>
    <p:sldId id="355" r:id="rId6"/>
    <p:sldId id="11878" r:id="rId7"/>
    <p:sldId id="11877" r:id="rId8"/>
    <p:sldId id="353" r:id="rId9"/>
    <p:sldId id="258" r:id="rId10"/>
    <p:sldId id="357" r:id="rId11"/>
    <p:sldId id="358" r:id="rId12"/>
    <p:sldId id="359" r:id="rId13"/>
    <p:sldId id="11879" r:id="rId14"/>
    <p:sldId id="260" r:id="rId15"/>
    <p:sldId id="11880" r:id="rId16"/>
    <p:sldId id="282" r:id="rId17"/>
    <p:sldId id="259" r:id="rId18"/>
    <p:sldId id="11874" r:id="rId19"/>
  </p:sldIdLst>
  <p:sldSz cx="9144000" cy="6480175"/>
  <p:notesSz cx="6735763" cy="98663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516" autoAdjust="0"/>
    <p:restoredTop sz="94660"/>
  </p:normalViewPr>
  <p:slideViewPr>
    <p:cSldViewPr snapToGrid="0">
      <p:cViewPr varScale="1">
        <p:scale>
          <a:sx n="117" d="100"/>
          <a:sy n="117" d="100"/>
        </p:scale>
        <p:origin x="176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34521093400764608"/>
          <c:y val="0"/>
          <c:w val="0.44883234032332325"/>
          <c:h val="0.94952963507902666"/>
        </c:manualLayout>
      </c:layout>
      <c:pieChart>
        <c:varyColors val="1"/>
        <c:ser>
          <c:idx val="0"/>
          <c:order val="0"/>
          <c:tx>
            <c:strRef>
              <c:f>Sheet1!$A$2:$G$2</c:f>
              <c:strCache>
                <c:ptCount val="7"/>
                <c:pt idx="0">
                  <c:v>재해</c:v>
                </c:pt>
                <c:pt idx="1">
                  <c:v>38</c:v>
                </c:pt>
                <c:pt idx="2">
                  <c:v>8</c:v>
                </c:pt>
                <c:pt idx="3">
                  <c:v>7</c:v>
                </c:pt>
                <c:pt idx="4">
                  <c:v>6</c:v>
                </c:pt>
                <c:pt idx="5">
                  <c:v>11</c:v>
                </c:pt>
                <c:pt idx="6">
                  <c:v>70</c:v>
                </c:pt>
              </c:strCache>
            </c:strRef>
          </c:tx>
          <c:spPr>
            <a:ln w="30569">
              <a:solidFill>
                <a:srgbClr val="FF0000"/>
              </a:solidFill>
              <a:prstDash val="solid"/>
            </a:ln>
          </c:spPr>
          <c:dPt>
            <c:idx val="0"/>
            <c:bubble3D val="0"/>
            <c:spPr>
              <a:solidFill>
                <a:srgbClr val="FFFF00"/>
              </a:solidFill>
              <a:ln w="30569">
                <a:solidFill>
                  <a:srgbClr val="FF0000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1-0156-4531-9A90-9083668690A9}"/>
              </c:ext>
            </c:extLst>
          </c:dPt>
          <c:dPt>
            <c:idx val="1"/>
            <c:bubble3D val="0"/>
            <c:spPr>
              <a:solidFill>
                <a:srgbClr val="0000FF"/>
              </a:solidFill>
              <a:ln w="30569">
                <a:solidFill>
                  <a:srgbClr val="FF0000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3-0156-4531-9A90-9083668690A9}"/>
              </c:ext>
            </c:extLst>
          </c:dPt>
          <c:dPt>
            <c:idx val="2"/>
            <c:bubble3D val="0"/>
            <c:spPr>
              <a:solidFill>
                <a:schemeClr val="accent2">
                  <a:lumMod val="40000"/>
                  <a:lumOff val="60000"/>
                </a:schemeClr>
              </a:solidFill>
              <a:ln w="30569">
                <a:solidFill>
                  <a:srgbClr val="FF0000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5-0156-4531-9A90-9083668690A9}"/>
              </c:ext>
            </c:extLst>
          </c:dPt>
          <c:dPt>
            <c:idx val="3"/>
            <c:bubble3D val="0"/>
            <c:spPr>
              <a:solidFill>
                <a:srgbClr val="92D050"/>
              </a:solidFill>
              <a:ln w="30569">
                <a:solidFill>
                  <a:srgbClr val="FF0000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7-0156-4531-9A90-9083668690A9}"/>
              </c:ext>
            </c:extLst>
          </c:dPt>
          <c:dPt>
            <c:idx val="4"/>
            <c:bubble3D val="0"/>
            <c:spPr>
              <a:solidFill>
                <a:schemeClr val="bg2"/>
              </a:solidFill>
              <a:ln w="30569">
                <a:solidFill>
                  <a:srgbClr val="FF0000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9-0156-4531-9A90-9083668690A9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pPr>
                      <a:defRPr sz="900">
                        <a:solidFill>
                          <a:srgbClr val="FF0000"/>
                        </a:solidFill>
                        <a:latin typeface="+mn-ea"/>
                        <a:ea typeface="+mn-ea"/>
                        <a:cs typeface="Arial" pitchFamily="34" charset="0"/>
                      </a:defRPr>
                    </a:pPr>
                    <a:r>
                      <a:rPr lang="ko-KR" altLang="en-US" sz="900" dirty="0">
                        <a:solidFill>
                          <a:srgbClr val="FF0000"/>
                        </a:solidFill>
                        <a:latin typeface="+mn-ea"/>
                        <a:ea typeface="+mn-ea"/>
                      </a:rPr>
                      <a:t>전도</a:t>
                    </a:r>
                  </a:p>
                  <a:p>
                    <a:pPr>
                      <a:defRPr sz="900">
                        <a:solidFill>
                          <a:srgbClr val="FF0000"/>
                        </a:solidFill>
                        <a:latin typeface="+mn-ea"/>
                        <a:ea typeface="+mn-ea"/>
                        <a:cs typeface="Arial" pitchFamily="34" charset="0"/>
                      </a:defRPr>
                    </a:pPr>
                    <a:r>
                      <a:rPr lang="en-US" altLang="ko-KR" sz="900" dirty="0">
                        <a:solidFill>
                          <a:srgbClr val="FF0000"/>
                        </a:solidFill>
                        <a:latin typeface="+mn-ea"/>
                        <a:ea typeface="+mn-ea"/>
                      </a:rPr>
                      <a:t>54%</a:t>
                    </a:r>
                  </a:p>
                </c:rich>
              </c:tx>
              <c:spPr/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0156-4531-9A90-9083668690A9}"/>
                </c:ext>
              </c:extLst>
            </c:dLbl>
            <c:dLbl>
              <c:idx val="1"/>
              <c:layout>
                <c:manualLayout>
                  <c:x val="-2.3051989814499935E-2"/>
                  <c:y val="-1.3649722064898145E-2"/>
                </c:manualLayout>
              </c:layout>
              <c:tx>
                <c:rich>
                  <a:bodyPr wrap="square" lIns="38100" tIns="19050" rIns="38100" bIns="19050" anchor="ctr">
                    <a:noAutofit/>
                  </a:bodyPr>
                  <a:lstStyle/>
                  <a:p>
                    <a:pPr>
                      <a:defRPr sz="900" kern="700" baseline="0">
                        <a:solidFill>
                          <a:srgbClr val="0000FF"/>
                        </a:solidFill>
                        <a:latin typeface="+mn-ea"/>
                        <a:ea typeface="+mn-ea"/>
                        <a:cs typeface="Arial" pitchFamily="34" charset="0"/>
                      </a:defRPr>
                    </a:pPr>
                    <a:r>
                      <a:rPr lang="ko-KR" altLang="en-US" sz="900" kern="700" baseline="0" dirty="0">
                        <a:solidFill>
                          <a:srgbClr val="0000FF"/>
                        </a:solidFill>
                        <a:latin typeface="+mn-ea"/>
                        <a:ea typeface="+mn-ea"/>
                      </a:rPr>
                      <a:t>협착 </a:t>
                    </a:r>
                    <a:r>
                      <a:rPr lang="en-US" altLang="ko-KR" sz="900" kern="700" baseline="0" dirty="0">
                        <a:solidFill>
                          <a:srgbClr val="0000FF"/>
                        </a:solidFill>
                        <a:latin typeface="+mn-ea"/>
                        <a:ea typeface="+mn-ea"/>
                      </a:rPr>
                      <a:t>11%</a:t>
                    </a:r>
                  </a:p>
                </c:rich>
              </c:tx>
              <c:spPr>
                <a:noFill/>
                <a:ln w="27929">
                  <a:noFill/>
                </a:ln>
              </c:spPr>
              <c:dLblPos val="bestFi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  <c15:layout>
                    <c:manualLayout>
                      <c:w val="0.33914536457382677"/>
                      <c:h val="0.34070512086586824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0156-4531-9A90-9083668690A9}"/>
                </c:ext>
              </c:extLst>
            </c:dLbl>
            <c:dLbl>
              <c:idx val="2"/>
              <c:layout>
                <c:manualLayout>
                  <c:x val="3.6422650858775482E-2"/>
                  <c:y val="-8.9608884037112632E-2"/>
                </c:manualLayout>
              </c:layout>
              <c:tx>
                <c:rich>
                  <a:bodyPr/>
                  <a:lstStyle/>
                  <a:p>
                    <a:pPr>
                      <a:defRPr sz="900">
                        <a:solidFill>
                          <a:schemeClr val="tx1"/>
                        </a:solidFill>
                        <a:latin typeface="+mn-ea"/>
                        <a:ea typeface="+mn-ea"/>
                        <a:cs typeface="Arial" pitchFamily="34" charset="0"/>
                      </a:defRPr>
                    </a:pPr>
                    <a:r>
                      <a: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rPr>
                      <a:t>추락 </a:t>
                    </a:r>
                    <a:r>
                      <a:rPr lang="en-US" altLang="ko-KR" sz="900" dirty="0">
                        <a:solidFill>
                          <a:schemeClr val="tx1"/>
                        </a:solidFill>
                        <a:latin typeface="+mn-ea"/>
                        <a:ea typeface="+mn-ea"/>
                      </a:rPr>
                      <a:t>10%</a:t>
                    </a:r>
                  </a:p>
                </c:rich>
              </c:tx>
              <c:spPr/>
              <c:dLblPos val="bestFi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9610418406390859"/>
                      <c:h val="0.33074885698365813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0156-4531-9A90-9083668690A9}"/>
                </c:ext>
              </c:extLst>
            </c:dLbl>
            <c:dLbl>
              <c:idx val="3"/>
              <c:layout>
                <c:manualLayout>
                  <c:x val="6.7571751087220217E-2"/>
                  <c:y val="-9.2972824179632901E-2"/>
                </c:manualLayout>
              </c:layout>
              <c:tx>
                <c:rich>
                  <a:bodyPr/>
                  <a:lstStyle/>
                  <a:p>
                    <a:pPr>
                      <a:defRPr sz="900">
                        <a:solidFill>
                          <a:schemeClr val="tx1"/>
                        </a:solidFill>
                        <a:latin typeface="+mn-ea"/>
                        <a:ea typeface="+mn-ea"/>
                        <a:cs typeface="Arial" pitchFamily="34" charset="0"/>
                      </a:defRPr>
                    </a:pPr>
                    <a:r>
                      <a: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rPr>
                      <a:t>충돌</a:t>
                    </a:r>
                    <a:r>
                      <a:rPr lang="ko-KR" altLang="en-US" sz="9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rPr>
                      <a:t> </a:t>
                    </a:r>
                    <a:r>
                      <a:rPr lang="en-US" altLang="ko-KR" sz="9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rPr>
                      <a:t>9%</a:t>
                    </a:r>
                  </a:p>
                </c:rich>
              </c:tx>
              <c:spPr/>
              <c:dLblPos val="bestFi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158587391027049"/>
                      <c:h val="0.33074885698365813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7-0156-4531-9A90-9083668690A9}"/>
                </c:ext>
              </c:extLst>
            </c:dLbl>
            <c:dLbl>
              <c:idx val="4"/>
              <c:layout>
                <c:manualLayout>
                  <c:x val="9.2320708117101691E-2"/>
                  <c:y val="0.10816941830200057"/>
                </c:manualLayout>
              </c:layout>
              <c:tx>
                <c:rich>
                  <a:bodyPr/>
                  <a:lstStyle/>
                  <a:p>
                    <a:pPr>
                      <a:defRPr sz="600">
                        <a:solidFill>
                          <a:schemeClr val="tx1"/>
                        </a:solidFill>
                        <a:latin typeface="+mn-ea"/>
                        <a:ea typeface="+mn-ea"/>
                        <a:cs typeface="Arial" pitchFamily="34" charset="0"/>
                      </a:defRPr>
                    </a:pPr>
                    <a:r>
                      <a:rPr lang="ko-KR" altLang="en-US" sz="600" dirty="0">
                        <a:solidFill>
                          <a:schemeClr val="tx1"/>
                        </a:solidFill>
                        <a:latin typeface="+mn-ea"/>
                        <a:ea typeface="+mn-ea"/>
                      </a:rPr>
                      <a:t>기타 </a:t>
                    </a:r>
                  </a:p>
                  <a:p>
                    <a:pPr>
                      <a:defRPr sz="600">
                        <a:solidFill>
                          <a:schemeClr val="tx1"/>
                        </a:solidFill>
                        <a:latin typeface="+mn-ea"/>
                        <a:ea typeface="+mn-ea"/>
                        <a:cs typeface="Arial" pitchFamily="34" charset="0"/>
                      </a:defRPr>
                    </a:pPr>
                    <a:r>
                      <a:rPr lang="en-US" altLang="ko-KR" sz="600" dirty="0">
                        <a:solidFill>
                          <a:schemeClr val="tx1"/>
                        </a:solidFill>
                        <a:latin typeface="+mn-ea"/>
                        <a:ea typeface="+mn-ea"/>
                      </a:rPr>
                      <a:t>16%</a:t>
                    </a:r>
                  </a:p>
                </c:rich>
              </c:tx>
              <c:spPr/>
              <c:dLblPos val="bestFi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0156-4531-9A90-9083668690A9}"/>
                </c:ext>
              </c:extLst>
            </c:dLbl>
            <c:spPr>
              <a:noFill/>
              <a:ln w="27929">
                <a:noFill/>
              </a:ln>
            </c:spPr>
            <c:txPr>
              <a:bodyPr/>
              <a:lstStyle/>
              <a:p>
                <a:pPr>
                  <a:defRPr sz="900">
                    <a:solidFill>
                      <a:schemeClr val="tx1"/>
                    </a:solidFill>
                    <a:latin typeface="+mn-ea"/>
                    <a:ea typeface="+mn-ea"/>
                    <a:cs typeface="Arial" pitchFamily="34" charset="0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1"/>
            <c:showSerName val="0"/>
            <c:showPercent val="1"/>
            <c:showBubbleSize val="0"/>
            <c:showLeaderLines val="1"/>
            <c:extLst>
              <c:ext xmlns:c15="http://schemas.microsoft.com/office/drawing/2012/chart" uri="{CE6537A1-D6FC-4f65-9D91-7224C49458BB}"/>
            </c:extLst>
          </c:dLbls>
          <c:cat>
            <c:multiLvlStrRef>
              <c:f>Sheet1!$B$1:$F$2</c:f>
              <c:multiLvlStrCache>
                <c:ptCount val="5"/>
                <c:lvl>
                  <c:pt idx="0">
                    <c:v>38</c:v>
                  </c:pt>
                  <c:pt idx="1">
                    <c:v>8</c:v>
                  </c:pt>
                  <c:pt idx="2">
                    <c:v>7</c:v>
                  </c:pt>
                  <c:pt idx="3">
                    <c:v>6</c:v>
                  </c:pt>
                  <c:pt idx="4">
                    <c:v>11</c:v>
                  </c:pt>
                </c:lvl>
                <c:lvl>
                  <c:pt idx="0">
                    <c:v>전도</c:v>
                  </c:pt>
                  <c:pt idx="1">
                    <c:v>협착</c:v>
                  </c:pt>
                  <c:pt idx="2">
                    <c:v>추락</c:v>
                  </c:pt>
                  <c:pt idx="3">
                    <c:v>충돌</c:v>
                  </c:pt>
                  <c:pt idx="4">
                    <c:v>기타</c:v>
                  </c:pt>
                </c:lvl>
              </c:multiLvlStrCache>
            </c:multiLvlStrRef>
          </c:cat>
          <c:val>
            <c:numRef>
              <c:f>Sheet1!$B$2:$F$2</c:f>
              <c:numCache>
                <c:formatCode>g/"표""준"</c:formatCode>
                <c:ptCount val="5"/>
                <c:pt idx="0">
                  <c:v>38</c:v>
                </c:pt>
                <c:pt idx="1">
                  <c:v>8</c:v>
                </c:pt>
                <c:pt idx="2">
                  <c:v>7</c:v>
                </c:pt>
                <c:pt idx="3">
                  <c:v>6</c:v>
                </c:pt>
                <c:pt idx="4">
                  <c:v>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0156-4531-9A90-9083668690A9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%</c:v>
                </c:pt>
              </c:strCache>
            </c:strRef>
          </c:tx>
          <c:spPr>
            <a:ln w="30569">
              <a:solidFill>
                <a:srgbClr val="0000FF"/>
              </a:solidFill>
              <a:prstDash val="solid"/>
            </a:ln>
          </c:spPr>
          <c:dPt>
            <c:idx val="0"/>
            <c:bubble3D val="0"/>
            <c:extLst>
              <c:ext xmlns:c16="http://schemas.microsoft.com/office/drawing/2014/chart" uri="{C3380CC4-5D6E-409C-BE32-E72D297353CC}">
                <c16:uniqueId val="{0000000B-0156-4531-9A90-9083668690A9}"/>
              </c:ext>
            </c:extLst>
          </c:dPt>
          <c:dPt>
            <c:idx val="1"/>
            <c:bubble3D val="0"/>
            <c:extLst>
              <c:ext xmlns:c16="http://schemas.microsoft.com/office/drawing/2014/chart" uri="{C3380CC4-5D6E-409C-BE32-E72D297353CC}">
                <c16:uniqueId val="{0000000C-0156-4531-9A90-9083668690A9}"/>
              </c:ext>
            </c:extLst>
          </c:dPt>
          <c:dPt>
            <c:idx val="2"/>
            <c:bubble3D val="0"/>
            <c:extLst>
              <c:ext xmlns:c16="http://schemas.microsoft.com/office/drawing/2014/chart" uri="{C3380CC4-5D6E-409C-BE32-E72D297353CC}">
                <c16:uniqueId val="{0000000D-0156-4531-9A90-9083668690A9}"/>
              </c:ext>
            </c:extLst>
          </c:dPt>
          <c:dPt>
            <c:idx val="3"/>
            <c:bubble3D val="0"/>
            <c:extLst>
              <c:ext xmlns:c16="http://schemas.microsoft.com/office/drawing/2014/chart" uri="{C3380CC4-5D6E-409C-BE32-E72D297353CC}">
                <c16:uniqueId val="{0000000E-0156-4531-9A90-9083668690A9}"/>
              </c:ext>
            </c:extLst>
          </c:dPt>
          <c:dPt>
            <c:idx val="4"/>
            <c:bubble3D val="0"/>
            <c:extLst>
              <c:ext xmlns:c16="http://schemas.microsoft.com/office/drawing/2014/chart" uri="{C3380CC4-5D6E-409C-BE32-E72D297353CC}">
                <c16:uniqueId val="{0000000F-0156-4531-9A90-9083668690A9}"/>
              </c:ext>
            </c:extLst>
          </c:dPt>
          <c:dLbls>
            <c:dLbl>
              <c:idx val="0"/>
              <c:spPr/>
              <c:txPr>
                <a:bodyPr/>
                <a:lstStyle/>
                <a:p>
                  <a:pPr>
                    <a:defRPr sz="1317">
                      <a:solidFill>
                        <a:srgbClr val="0000FF"/>
                      </a:solidFill>
                      <a:latin typeface="+mj-lt"/>
                      <a:cs typeface="Arial" pitchFamily="34" charset="0"/>
                    </a:defRPr>
                  </a:pPr>
                  <a:endParaRPr lang="ko-KR"/>
                </a:p>
              </c:txPr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0156-4531-9A90-9083668690A9}"/>
                </c:ext>
              </c:extLst>
            </c:dLbl>
            <c:dLbl>
              <c:idx val="1"/>
              <c:spPr/>
              <c:txPr>
                <a:bodyPr/>
                <a:lstStyle/>
                <a:p>
                  <a:pPr>
                    <a:defRPr sz="1317">
                      <a:solidFill>
                        <a:srgbClr val="0000FF"/>
                      </a:solidFill>
                      <a:latin typeface="+mj-lt"/>
                      <a:cs typeface="Arial" pitchFamily="34" charset="0"/>
                    </a:defRPr>
                  </a:pPr>
                  <a:endParaRPr lang="ko-KR"/>
                </a:p>
              </c:txPr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0156-4531-9A90-9083668690A9}"/>
                </c:ext>
              </c:extLst>
            </c:dLbl>
            <c:dLbl>
              <c:idx val="2"/>
              <c:spPr/>
              <c:txPr>
                <a:bodyPr/>
                <a:lstStyle/>
                <a:p>
                  <a:pPr>
                    <a:defRPr sz="1539">
                      <a:solidFill>
                        <a:srgbClr val="0000FF"/>
                      </a:solidFill>
                      <a:latin typeface="+mj-lt"/>
                      <a:cs typeface="Arial" pitchFamily="34" charset="0"/>
                    </a:defRPr>
                  </a:pPr>
                  <a:endParaRPr lang="ko-KR"/>
                </a:p>
              </c:txPr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0156-4531-9A90-9083668690A9}"/>
                </c:ext>
              </c:extLst>
            </c:dLbl>
            <c:dLbl>
              <c:idx val="3"/>
              <c:spPr/>
              <c:txPr>
                <a:bodyPr/>
                <a:lstStyle/>
                <a:p>
                  <a:pPr>
                    <a:defRPr sz="1317">
                      <a:solidFill>
                        <a:srgbClr val="0000FF"/>
                      </a:solidFill>
                      <a:latin typeface="+mj-lt"/>
                      <a:cs typeface="Arial" pitchFamily="34" charset="0"/>
                    </a:defRPr>
                  </a:pPr>
                  <a:endParaRPr lang="ko-KR"/>
                </a:p>
              </c:txPr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0156-4531-9A90-9083668690A9}"/>
                </c:ext>
              </c:extLst>
            </c:dLbl>
            <c:dLbl>
              <c:idx val="4"/>
              <c:spPr/>
              <c:txPr>
                <a:bodyPr/>
                <a:lstStyle/>
                <a:p>
                  <a:pPr>
                    <a:defRPr sz="2200">
                      <a:solidFill>
                        <a:srgbClr val="0000FF"/>
                      </a:solidFill>
                      <a:latin typeface="+mj-lt"/>
                      <a:cs typeface="Arial" pitchFamily="34" charset="0"/>
                    </a:defRPr>
                  </a:pPr>
                  <a:endParaRPr lang="ko-KR"/>
                </a:p>
              </c:txPr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0156-4531-9A90-9083668690A9}"/>
                </c:ext>
              </c:extLst>
            </c:dLbl>
            <c:spPr>
              <a:noFill/>
              <a:ln w="27929">
                <a:noFill/>
              </a:ln>
            </c:spPr>
            <c:txPr>
              <a:bodyPr/>
              <a:lstStyle/>
              <a:p>
                <a:pPr>
                  <a:defRPr sz="1317">
                    <a:solidFill>
                      <a:srgbClr val="0000FF"/>
                    </a:solidFill>
                    <a:latin typeface="+mj-lt"/>
                    <a:cs typeface="Arial" pitchFamily="34" charset="0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/>
            </c:extLst>
          </c:dLbls>
          <c:cat>
            <c:multiLvlStrRef>
              <c:f>Sheet1!$B$1:$F$2</c:f>
              <c:multiLvlStrCache>
                <c:ptCount val="5"/>
                <c:lvl>
                  <c:pt idx="0">
                    <c:v>38</c:v>
                  </c:pt>
                  <c:pt idx="1">
                    <c:v>8</c:v>
                  </c:pt>
                  <c:pt idx="2">
                    <c:v>7</c:v>
                  </c:pt>
                  <c:pt idx="3">
                    <c:v>6</c:v>
                  </c:pt>
                  <c:pt idx="4">
                    <c:v>11</c:v>
                  </c:pt>
                </c:lvl>
                <c:lvl>
                  <c:pt idx="0">
                    <c:v>전도</c:v>
                  </c:pt>
                  <c:pt idx="1">
                    <c:v>협착</c:v>
                  </c:pt>
                  <c:pt idx="2">
                    <c:v>추락</c:v>
                  </c:pt>
                  <c:pt idx="3">
                    <c:v>충돌</c:v>
                  </c:pt>
                  <c:pt idx="4">
                    <c:v>기타</c:v>
                  </c:pt>
                </c:lvl>
              </c:multiLvlStrCache>
            </c:multiLvlStrRef>
          </c:cat>
          <c:val>
            <c:numRef>
              <c:f>Sheet1!$B$3:$D$3</c:f>
              <c:numCache>
                <c:formatCode>g/"표""준"</c:formatCode>
                <c:ptCount val="3"/>
                <c:pt idx="0">
                  <c:v>54.3</c:v>
                </c:pt>
                <c:pt idx="1">
                  <c:v>11.4</c:v>
                </c:pt>
                <c:pt idx="2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0156-4531-9A90-9083668690A9}"/>
            </c:ext>
          </c:extLst>
        </c:ser>
        <c:ser>
          <c:idx val="2"/>
          <c:order val="2"/>
          <c:tx>
            <c:strRef>
              <c:f>Sheet1!$A$4</c:f>
              <c:strCache>
                <c:ptCount val="1"/>
              </c:strCache>
            </c:strRef>
          </c:tx>
          <c:spPr>
            <a:ln w="27647">
              <a:solidFill>
                <a:srgbClr val="000000"/>
              </a:solidFill>
              <a:prstDash val="solid"/>
            </a:ln>
          </c:spPr>
          <c:dPt>
            <c:idx val="0"/>
            <c:bubble3D val="0"/>
            <c:extLst>
              <c:ext xmlns:c16="http://schemas.microsoft.com/office/drawing/2014/chart" uri="{C3380CC4-5D6E-409C-BE32-E72D297353CC}">
                <c16:uniqueId val="{00000011-0156-4531-9A90-9083668690A9}"/>
              </c:ext>
            </c:extLst>
          </c:dPt>
          <c:dPt>
            <c:idx val="1"/>
            <c:bubble3D val="0"/>
            <c:extLst>
              <c:ext xmlns:c16="http://schemas.microsoft.com/office/drawing/2014/chart" uri="{C3380CC4-5D6E-409C-BE32-E72D297353CC}">
                <c16:uniqueId val="{00000012-0156-4531-9A90-9083668690A9}"/>
              </c:ext>
            </c:extLst>
          </c:dPt>
          <c:dPt>
            <c:idx val="2"/>
            <c:bubble3D val="0"/>
            <c:extLst>
              <c:ext xmlns:c16="http://schemas.microsoft.com/office/drawing/2014/chart" uri="{C3380CC4-5D6E-409C-BE32-E72D297353CC}">
                <c16:uniqueId val="{00000013-0156-4531-9A90-9083668690A9}"/>
              </c:ext>
            </c:extLst>
          </c:dPt>
          <c:dPt>
            <c:idx val="3"/>
            <c:bubble3D val="0"/>
            <c:extLst>
              <c:ext xmlns:c16="http://schemas.microsoft.com/office/drawing/2014/chart" uri="{C3380CC4-5D6E-409C-BE32-E72D297353CC}">
                <c16:uniqueId val="{00000014-0156-4531-9A90-9083668690A9}"/>
              </c:ext>
            </c:extLst>
          </c:dPt>
          <c:dPt>
            <c:idx val="4"/>
            <c:bubble3D val="0"/>
            <c:extLst>
              <c:ext xmlns:c16="http://schemas.microsoft.com/office/drawing/2014/chart" uri="{C3380CC4-5D6E-409C-BE32-E72D297353CC}">
                <c16:uniqueId val="{00000015-0156-4531-9A90-9083668690A9}"/>
              </c:ext>
            </c:extLst>
          </c:dPt>
          <c:dLbls>
            <c:dLbl>
              <c:idx val="0"/>
              <c:spPr/>
              <c:txPr>
                <a:bodyPr/>
                <a:lstStyle/>
                <a:p>
                  <a:pPr>
                    <a:defRPr sz="1317" b="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pPr>
                  <a:endParaRPr lang="ko-KR"/>
                </a:p>
              </c:txPr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1-0156-4531-9A90-9083668690A9}"/>
                </c:ext>
              </c:extLst>
            </c:dLbl>
            <c:dLbl>
              <c:idx val="1"/>
              <c:spPr/>
              <c:txPr>
                <a:bodyPr/>
                <a:lstStyle/>
                <a:p>
                  <a:pPr>
                    <a:defRPr sz="1317" b="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pPr>
                  <a:endParaRPr lang="ko-KR"/>
                </a:p>
              </c:txPr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2-0156-4531-9A90-9083668690A9}"/>
                </c:ext>
              </c:extLst>
            </c:dLbl>
            <c:dLbl>
              <c:idx val="2"/>
              <c:spPr/>
              <c:txPr>
                <a:bodyPr/>
                <a:lstStyle/>
                <a:p>
                  <a:pPr>
                    <a:defRPr sz="1539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pPr>
                  <a:endParaRPr lang="ko-KR"/>
                </a:p>
              </c:txPr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3-0156-4531-9A90-9083668690A9}"/>
                </c:ext>
              </c:extLst>
            </c:dLbl>
            <c:dLbl>
              <c:idx val="3"/>
              <c:spPr/>
              <c:txPr>
                <a:bodyPr/>
                <a:lstStyle/>
                <a:p>
                  <a:pPr>
                    <a:defRPr sz="1317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pPr>
                  <a:endParaRPr lang="ko-KR"/>
                </a:p>
              </c:txPr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4-0156-4531-9A90-9083668690A9}"/>
                </c:ext>
              </c:extLst>
            </c:dLbl>
            <c:dLbl>
              <c:idx val="4"/>
              <c:spPr/>
              <c:txPr>
                <a:bodyPr/>
                <a:lstStyle/>
                <a:p>
                  <a:pPr>
                    <a:defRPr sz="22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pPr>
                  <a:endParaRPr lang="ko-KR"/>
                </a:p>
              </c:txPr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5-0156-4531-9A90-9083668690A9}"/>
                </c:ext>
              </c:extLst>
            </c:dLbl>
            <c:spPr>
              <a:noFill/>
              <a:ln w="27929">
                <a:noFill/>
              </a:ln>
            </c:spPr>
            <c:txPr>
              <a:bodyPr/>
              <a:lstStyle/>
              <a:p>
                <a:pPr>
                  <a:defRPr sz="1317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/>
            </c:extLst>
          </c:dLbls>
          <c:cat>
            <c:multiLvlStrRef>
              <c:f>Sheet1!$B$1:$F$2</c:f>
              <c:multiLvlStrCache>
                <c:ptCount val="5"/>
                <c:lvl>
                  <c:pt idx="0">
                    <c:v>38</c:v>
                  </c:pt>
                  <c:pt idx="1">
                    <c:v>8</c:v>
                  </c:pt>
                  <c:pt idx="2">
                    <c:v>7</c:v>
                  </c:pt>
                  <c:pt idx="3">
                    <c:v>6</c:v>
                  </c:pt>
                  <c:pt idx="4">
                    <c:v>11</c:v>
                  </c:pt>
                </c:lvl>
                <c:lvl>
                  <c:pt idx="0">
                    <c:v>전도</c:v>
                  </c:pt>
                  <c:pt idx="1">
                    <c:v>협착</c:v>
                  </c:pt>
                  <c:pt idx="2">
                    <c:v>추락</c:v>
                  </c:pt>
                  <c:pt idx="3">
                    <c:v>충돌</c:v>
                  </c:pt>
                  <c:pt idx="4">
                    <c:v>기타</c:v>
                  </c:pt>
                </c:lvl>
              </c:multiLvlStrCache>
            </c:multiLvlStrRef>
          </c:cat>
          <c:val>
            <c:numRef>
              <c:f>Sheet1!$B$4:$D$4</c:f>
              <c:numCache>
                <c:formatCode>General</c:formatCode>
                <c:ptCount val="3"/>
              </c:numCache>
            </c:numRef>
          </c:val>
          <c:extLst>
            <c:ext xmlns:c16="http://schemas.microsoft.com/office/drawing/2014/chart" uri="{C3380CC4-5D6E-409C-BE32-E72D297353CC}">
              <c16:uniqueId val="{00000016-0156-4531-9A90-9083668690A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 w="27929">
          <a:noFill/>
        </a:ln>
      </c:spPr>
    </c:plotArea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893" b="1" i="0" u="none" strike="noStrike" baseline="0">
          <a:solidFill>
            <a:schemeClr val="tx1"/>
          </a:solidFill>
          <a:latin typeface="굴림"/>
          <a:ea typeface="굴림"/>
          <a:cs typeface="굴림"/>
        </a:defRPr>
      </a:pPr>
      <a:endParaRPr lang="ko-KR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2.6161675497585767E-3"/>
          <c:y val="7.374780465445796E-2"/>
          <c:w val="0.99738383245024143"/>
          <c:h val="0.80139153993553192"/>
        </c:manualLayout>
      </c:layout>
      <c:ofPieChart>
        <c:ofPieType val="pie"/>
        <c:varyColors val="1"/>
        <c:ser>
          <c:idx val="0"/>
          <c:order val="0"/>
          <c:dPt>
            <c:idx val="0"/>
            <c:bubble3D val="0"/>
            <c:spPr>
              <a:solidFill>
                <a:srgbClr val="FFFF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8BF8-4918-8F53-9ABFB86E05BF}"/>
              </c:ext>
            </c:extLst>
          </c:dPt>
          <c:dPt>
            <c:idx val="1"/>
            <c:bubble3D val="0"/>
            <c:spPr>
              <a:solidFill>
                <a:srgbClr val="70AD47">
                  <a:lumMod val="40000"/>
                  <a:lumOff val="60000"/>
                </a:srgb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8BF8-4918-8F53-9ABFB86E05BF}"/>
              </c:ext>
            </c:extLst>
          </c:dPt>
          <c:dPt>
            <c:idx val="2"/>
            <c:bubble3D val="0"/>
            <c:spPr>
              <a:solidFill>
                <a:schemeClr val="accent5">
                  <a:lumMod val="60000"/>
                  <a:lumOff val="4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8BF8-4918-8F53-9ABFB86E05BF}"/>
              </c:ext>
            </c:extLst>
          </c:dPt>
          <c:dPt>
            <c:idx val="3"/>
            <c:bubble3D val="0"/>
            <c:spPr>
              <a:solidFill>
                <a:srgbClr val="FFC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8BF8-4918-8F53-9ABFB86E05BF}"/>
              </c:ext>
            </c:extLst>
          </c:dPt>
          <c:dPt>
            <c:idx val="4"/>
            <c:bubble3D val="0"/>
            <c:explosion val="12"/>
            <c:spPr>
              <a:solidFill>
                <a:srgbClr val="0066FF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8BF8-4918-8F53-9ABFB86E05BF}"/>
              </c:ext>
            </c:extLst>
          </c:dPt>
          <c:dLbls>
            <c:dLbl>
              <c:idx val="0"/>
              <c:layout>
                <c:manualLayout>
                  <c:x val="2.5169263916699294E-2"/>
                  <c:y val="-8.9941627584888106E-2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900" b="1" i="0" u="none" strike="noStrike" kern="1200" baseline="0">
                        <a:solidFill>
                          <a:srgbClr val="FF0000"/>
                        </a:solidFill>
                        <a:latin typeface="+mn-ea"/>
                        <a:ea typeface="+mn-ea"/>
                        <a:cs typeface="+mn-cs"/>
                      </a:defRPr>
                    </a:pPr>
                    <a:r>
                      <a:rPr lang="en-US" altLang="ko-KR" sz="900" b="1" baseline="0" dirty="0">
                        <a:solidFill>
                          <a:srgbClr val="FF0000"/>
                        </a:solidFill>
                        <a:latin typeface="+mn-ea"/>
                        <a:ea typeface="+mn-ea"/>
                      </a:rPr>
                      <a:t>19%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1" i="0" u="none" strike="noStrike" kern="1200" baseline="0">
                      <a:solidFill>
                        <a:srgbClr val="FF0000"/>
                      </a:solidFill>
                      <a:latin typeface="+mn-ea"/>
                      <a:ea typeface="+mn-ea"/>
                      <a:cs typeface="+mn-cs"/>
                    </a:defRPr>
                  </a:pPr>
                  <a:endParaRPr lang="ko-KR"/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8BF8-4918-8F53-9ABFB86E05BF}"/>
                </c:ext>
              </c:extLst>
            </c:dLbl>
            <c:dLbl>
              <c:idx val="1"/>
              <c:layout>
                <c:manualLayout>
                  <c:x val="2.450096067136659E-2"/>
                  <c:y val="0.13733653258591144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900" b="0" i="0" u="none" strike="noStrike" kern="1200" baseline="0">
                        <a:solidFill>
                          <a:srgbClr val="0000FF"/>
                        </a:solidFill>
                        <a:latin typeface="+mn-ea"/>
                        <a:ea typeface="+mn-ea"/>
                        <a:cs typeface="+mn-cs"/>
                      </a:defRPr>
                    </a:pPr>
                    <a:r>
                      <a:rPr lang="en-US" altLang="ko-KR" sz="900" b="0" baseline="0" dirty="0">
                        <a:solidFill>
                          <a:srgbClr val="0000FF"/>
                        </a:solidFill>
                        <a:latin typeface="+mn-ea"/>
                        <a:ea typeface="+mn-ea"/>
                      </a:rPr>
                      <a:t>12%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rgbClr val="0000FF"/>
                      </a:solidFill>
                      <a:latin typeface="+mn-ea"/>
                      <a:ea typeface="+mn-ea"/>
                      <a:cs typeface="+mn-cs"/>
                    </a:defRPr>
                  </a:pPr>
                  <a:endParaRPr lang="ko-KR"/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5283822871473948"/>
                      <c:h val="0.22186597502252275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8BF8-4918-8F53-9ABFB86E05BF}"/>
                </c:ext>
              </c:extLst>
            </c:dLbl>
            <c:dLbl>
              <c:idx val="2"/>
              <c:layout>
                <c:manualLayout>
                  <c:x val="0.15806593832243071"/>
                  <c:y val="1.1364468276153665E-2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900" b="1" i="0" u="none" strike="noStrike" kern="1200" baseline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defRPr>
                    </a:pPr>
                    <a:fld id="{2D263A3D-DB1C-452B-A8FA-BB64233838D7}" type="PERCENTAGE">
                      <a:rPr lang="en-US" altLang="ko-KR" sz="900" b="1" baseline="0" smtClean="0">
                        <a:latin typeface="+mn-ea"/>
                        <a:ea typeface="+mn-ea"/>
                      </a:rPr>
                      <a:pPr>
                        <a:defRPr b="1">
                          <a:latin typeface="+mn-ea"/>
                        </a:defRPr>
                      </a:pPr>
                      <a:t>[백분율]</a:t>
                    </a:fld>
                    <a:endParaRPr lang="ko-KR" altLang="en-US"/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1" i="0" u="none" strike="noStrike" kern="1200" baseline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+mn-ea"/>
                      <a:ea typeface="+mn-ea"/>
                      <a:cs typeface="+mn-cs"/>
                    </a:defRPr>
                  </a:pPr>
                  <a:endParaRPr lang="ko-KR"/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5-8BF8-4918-8F53-9ABFB86E05BF}"/>
                </c:ext>
              </c:extLst>
            </c:dLbl>
            <c:dLbl>
              <c:idx val="3"/>
              <c:layout>
                <c:manualLayout>
                  <c:x val="-2.0354501002571256E-2"/>
                  <c:y val="-2.4277516236555444E-2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900" b="1" i="0" u="none" strike="noStrike" kern="1200" baseline="0">
                        <a:solidFill>
                          <a:srgbClr val="FF0000"/>
                        </a:solidFill>
                        <a:latin typeface="+mn-ea"/>
                        <a:ea typeface="+mn-ea"/>
                        <a:cs typeface="+mn-cs"/>
                      </a:defRPr>
                    </a:pPr>
                    <a:fld id="{94536C40-2C29-476E-AC11-74162DC4B5AE}" type="PERCENTAGE">
                      <a:rPr lang="en-US" altLang="ko-KR" sz="900" b="1" baseline="0" smtClean="0">
                        <a:solidFill>
                          <a:srgbClr val="FF0000"/>
                        </a:solidFill>
                        <a:latin typeface="+mn-ea"/>
                        <a:ea typeface="+mn-ea"/>
                      </a:rPr>
                      <a:pPr>
                        <a:defRPr b="1">
                          <a:solidFill>
                            <a:srgbClr val="FF0000"/>
                          </a:solidFill>
                          <a:latin typeface="+mn-ea"/>
                        </a:defRPr>
                      </a:pPr>
                      <a:t>[백분율]</a:t>
                    </a:fld>
                    <a:endParaRPr lang="ko-KR" altLang="en-US"/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1" i="0" u="none" strike="noStrike" kern="1200" baseline="0">
                      <a:solidFill>
                        <a:srgbClr val="FF0000"/>
                      </a:solidFill>
                      <a:latin typeface="+mn-ea"/>
                      <a:ea typeface="+mn-ea"/>
                      <a:cs typeface="+mn-cs"/>
                    </a:defRPr>
                  </a:pPr>
                  <a:endParaRPr lang="ko-KR"/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7-8BF8-4918-8F53-9ABFB86E05BF}"/>
                </c:ext>
              </c:extLst>
            </c:dLbl>
            <c:dLbl>
              <c:idx val="4"/>
              <c:layout>
                <c:manualLayout>
                  <c:x val="-0.15332526988210599"/>
                  <c:y val="-1.1247185589020591E-2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900" b="1" i="0" u="none" strike="noStrike" kern="1200" baseline="0">
                        <a:solidFill>
                          <a:schemeClr val="bg1"/>
                        </a:solidFill>
                        <a:latin typeface="+mn-ea"/>
                        <a:ea typeface="+mn-ea"/>
                        <a:cs typeface="+mn-cs"/>
                      </a:defRPr>
                    </a:pPr>
                    <a:fld id="{AC38828A-FF18-401D-9E3B-9235FF1CB2DC}" type="PERCENTAGE">
                      <a:rPr lang="en-US" altLang="ko-KR" sz="900" b="1" baseline="0" smtClean="0">
                        <a:solidFill>
                          <a:schemeClr val="bg1"/>
                        </a:solidFill>
                        <a:latin typeface="+mn-ea"/>
                        <a:ea typeface="+mn-ea"/>
                      </a:rPr>
                      <a:pPr>
                        <a:defRPr b="1">
                          <a:solidFill>
                            <a:schemeClr val="bg1"/>
                          </a:solidFill>
                          <a:latin typeface="+mn-ea"/>
                        </a:defRPr>
                      </a:pPr>
                      <a:t>[백분율]</a:t>
                    </a:fld>
                    <a:endParaRPr lang="ko-KR" altLang="en-US"/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1" i="0" u="none" strike="noStrike" kern="1200" baseline="0">
                      <a:solidFill>
                        <a:schemeClr val="bg1"/>
                      </a:solidFill>
                      <a:latin typeface="+mn-ea"/>
                      <a:ea typeface="+mn-ea"/>
                      <a:cs typeface="+mn-cs"/>
                    </a:defRPr>
                  </a:pPr>
                  <a:endParaRPr lang="ko-KR"/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9-8BF8-4918-8F53-9ABFB86E05B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ea"/>
                    <a:ea typeface="+mn-ea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'Sheet1 (2)'!$A$40:$A$43</c:f>
              <c:strCache>
                <c:ptCount val="4"/>
                <c:pt idx="0">
                  <c:v>10일 이하</c:v>
                </c:pt>
                <c:pt idx="1">
                  <c:v>11~49일</c:v>
                </c:pt>
                <c:pt idx="2">
                  <c:v>50일이상</c:v>
                </c:pt>
                <c:pt idx="3">
                  <c:v>100일 초과</c:v>
                </c:pt>
              </c:strCache>
            </c:strRef>
          </c:cat>
          <c:val>
            <c:numRef>
              <c:f>'Sheet1 (2)'!$B$40:$B$43</c:f>
              <c:numCache>
                <c:formatCode>General</c:formatCode>
                <c:ptCount val="4"/>
                <c:pt idx="0">
                  <c:v>13</c:v>
                </c:pt>
                <c:pt idx="1">
                  <c:v>9</c:v>
                </c:pt>
                <c:pt idx="2">
                  <c:v>16</c:v>
                </c:pt>
                <c:pt idx="3">
                  <c:v>32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8BF8-4918-8F53-9ABFB86E05BF}"/>
            </c:ext>
          </c:extLst>
        </c:ser>
        <c:ser>
          <c:idx val="1"/>
          <c:order val="1"/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C-8BF8-4918-8F53-9ABFB86E05BF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E-8BF8-4918-8F53-9ABFB86E05BF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0-8BF8-4918-8F53-9ABFB86E05BF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2-8BF8-4918-8F53-9ABFB86E05BF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4-8BF8-4918-8F53-9ABFB86E05BF}"/>
              </c:ext>
            </c:extLst>
          </c:dPt>
          <c:cat>
            <c:strRef>
              <c:f>'Sheet1 (2)'!$A$40:$A$43</c:f>
              <c:strCache>
                <c:ptCount val="4"/>
                <c:pt idx="0">
                  <c:v>10일 이하</c:v>
                </c:pt>
                <c:pt idx="1">
                  <c:v>11~49일</c:v>
                </c:pt>
                <c:pt idx="2">
                  <c:v>50일이상</c:v>
                </c:pt>
                <c:pt idx="3">
                  <c:v>100일 초과</c:v>
                </c:pt>
              </c:strCache>
            </c:strRef>
          </c:cat>
          <c:val>
            <c:numRef>
              <c:f>'Sheet1 (2)'!$C$40:$C$43</c:f>
              <c:numCache>
                <c:formatCode>0.0</c:formatCode>
                <c:ptCount val="4"/>
                <c:pt idx="0">
                  <c:v>18.571428571428573</c:v>
                </c:pt>
                <c:pt idx="1">
                  <c:v>12.857142857142856</c:v>
                </c:pt>
                <c:pt idx="2">
                  <c:v>22.857142857142858</c:v>
                </c:pt>
                <c:pt idx="3">
                  <c:v>45.714285714285715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5-8BF8-4918-8F53-9ABFB86E05B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gapWidth val="100"/>
        <c:secondPieSize val="75"/>
        <c:serLines>
          <c:spPr>
            <a:ln w="9525" cap="flat" cmpd="sng" algn="ctr">
              <a:solidFill>
                <a:srgbClr val="0000FF"/>
              </a:solidFill>
              <a:prstDash val="sysDash"/>
              <a:round/>
            </a:ln>
            <a:effectLst/>
          </c:spPr>
        </c:serLines>
      </c:ofPieChart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"/>
          <c:y val="0.88143367569411968"/>
          <c:w val="1"/>
          <c:h val="0.10675864261866487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7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33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50000"/>
            <a:lumOff val="50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4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54.wmf"/><Relationship Id="rId1" Type="http://schemas.openxmlformats.org/officeDocument/2006/relationships/image" Target="../media/image53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831" cy="49502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15373" y="0"/>
            <a:ext cx="2918831" cy="49502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F8482C-492F-411D-BCE1-BD6674358AF1}" type="datetimeFigureOut">
              <a:rPr lang="ko-KR" altLang="en-US" smtClean="0"/>
              <a:t>2026-04-02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019175" y="1233488"/>
            <a:ext cx="4697413" cy="3328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3577" y="4748163"/>
            <a:ext cx="5388610" cy="388486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371286"/>
            <a:ext cx="2918831" cy="49502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15373" y="9371286"/>
            <a:ext cx="2918831" cy="49502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58F3A2-8EAE-4FCD-A730-634AF49BD5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67680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C7C560-BBDB-6F8F-FDB3-23FE72B935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C27684A-BE61-D7A3-883D-EA81B93DF1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788988" y="1339850"/>
            <a:ext cx="5097462" cy="361315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D347175-A701-834A-E2DA-D8CA802E4F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06FDCF8-7B48-BB21-509A-9AAC283771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77402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BABE51-66E3-4DE4-AD9D-758643FD91C9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77402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320286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060529"/>
            <a:ext cx="7772400" cy="2256061"/>
          </a:xfrm>
        </p:spPr>
        <p:txBody>
          <a:bodyPr anchor="b"/>
          <a:lstStyle>
            <a:lvl1pPr algn="ctr">
              <a:defRPr sz="5669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403592"/>
            <a:ext cx="6858000" cy="1564542"/>
          </a:xfrm>
        </p:spPr>
        <p:txBody>
          <a:bodyPr/>
          <a:lstStyle>
            <a:lvl1pPr marL="0" indent="0" algn="ctr">
              <a:buNone/>
              <a:defRPr sz="2268"/>
            </a:lvl1pPr>
            <a:lvl2pPr marL="432008" indent="0" algn="ctr">
              <a:buNone/>
              <a:defRPr sz="1890"/>
            </a:lvl2pPr>
            <a:lvl3pPr marL="864017" indent="0" algn="ctr">
              <a:buNone/>
              <a:defRPr sz="1701"/>
            </a:lvl3pPr>
            <a:lvl4pPr marL="1296025" indent="0" algn="ctr">
              <a:buNone/>
              <a:defRPr sz="1512"/>
            </a:lvl4pPr>
            <a:lvl5pPr marL="1728033" indent="0" algn="ctr">
              <a:buNone/>
              <a:defRPr sz="1512"/>
            </a:lvl5pPr>
            <a:lvl6pPr marL="2160041" indent="0" algn="ctr">
              <a:buNone/>
              <a:defRPr sz="1512"/>
            </a:lvl6pPr>
            <a:lvl7pPr marL="2592050" indent="0" algn="ctr">
              <a:buNone/>
              <a:defRPr sz="1512"/>
            </a:lvl7pPr>
            <a:lvl8pPr marL="3024058" indent="0" algn="ctr">
              <a:buNone/>
              <a:defRPr sz="1512"/>
            </a:lvl8pPr>
            <a:lvl9pPr marL="3456066" indent="0" algn="ctr">
              <a:buNone/>
              <a:defRPr sz="1512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7C3E2-C3A3-48B9-9166-BFDB6ECE67D9}" type="datetimeFigureOut">
              <a:rPr lang="ko-KR" altLang="en-US" smtClean="0"/>
              <a:t>2026-04-02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86103-4F2A-44CC-B0FB-6012544871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26291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7C3E2-C3A3-48B9-9166-BFDB6ECE67D9}" type="datetimeFigureOut">
              <a:rPr lang="ko-KR" altLang="en-US" smtClean="0"/>
              <a:t>2026-04-02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86103-4F2A-44CC-B0FB-6012544871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43347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615546"/>
            <a:ext cx="7886700" cy="2695572"/>
          </a:xfrm>
        </p:spPr>
        <p:txBody>
          <a:bodyPr anchor="b"/>
          <a:lstStyle>
            <a:lvl1pPr>
              <a:defRPr sz="5669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336619"/>
            <a:ext cx="7886700" cy="1417538"/>
          </a:xfrm>
        </p:spPr>
        <p:txBody>
          <a:bodyPr/>
          <a:lstStyle>
            <a:lvl1pPr marL="0" indent="0">
              <a:buNone/>
              <a:defRPr sz="2268">
                <a:solidFill>
                  <a:schemeClr val="tx1"/>
                </a:solidFill>
              </a:defRPr>
            </a:lvl1pPr>
            <a:lvl2pPr marL="432008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2pPr>
            <a:lvl3pPr marL="864017" indent="0">
              <a:buNone/>
              <a:defRPr sz="1701">
                <a:solidFill>
                  <a:schemeClr val="tx1">
                    <a:tint val="75000"/>
                  </a:schemeClr>
                </a:solidFill>
              </a:defRPr>
            </a:lvl3pPr>
            <a:lvl4pPr marL="1296025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4pPr>
            <a:lvl5pPr marL="1728033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5pPr>
            <a:lvl6pPr marL="2160041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6pPr>
            <a:lvl7pPr marL="2592050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7pPr>
            <a:lvl8pPr marL="3024058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8pPr>
            <a:lvl9pPr marL="3456066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7C3E2-C3A3-48B9-9166-BFDB6ECE67D9}" type="datetimeFigureOut">
              <a:rPr lang="ko-KR" altLang="en-US" smtClean="0"/>
              <a:t>2026-04-02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86103-4F2A-44CC-B0FB-6012544871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88257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725046"/>
            <a:ext cx="3886200" cy="411161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725046"/>
            <a:ext cx="3886200" cy="411161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7C3E2-C3A3-48B9-9166-BFDB6ECE67D9}" type="datetimeFigureOut">
              <a:rPr lang="ko-KR" altLang="en-US" smtClean="0"/>
              <a:t>2026-04-02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86103-4F2A-44CC-B0FB-6012544871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60563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5011"/>
            <a:ext cx="7886700" cy="1252534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588543"/>
            <a:ext cx="3868340" cy="778521"/>
          </a:xfrm>
        </p:spPr>
        <p:txBody>
          <a:bodyPr anchor="b"/>
          <a:lstStyle>
            <a:lvl1pPr marL="0" indent="0">
              <a:buNone/>
              <a:defRPr sz="2268" b="1"/>
            </a:lvl1pPr>
            <a:lvl2pPr marL="432008" indent="0">
              <a:buNone/>
              <a:defRPr sz="1890" b="1"/>
            </a:lvl2pPr>
            <a:lvl3pPr marL="864017" indent="0">
              <a:buNone/>
              <a:defRPr sz="1701" b="1"/>
            </a:lvl3pPr>
            <a:lvl4pPr marL="1296025" indent="0">
              <a:buNone/>
              <a:defRPr sz="1512" b="1"/>
            </a:lvl4pPr>
            <a:lvl5pPr marL="1728033" indent="0">
              <a:buNone/>
              <a:defRPr sz="1512" b="1"/>
            </a:lvl5pPr>
            <a:lvl6pPr marL="2160041" indent="0">
              <a:buNone/>
              <a:defRPr sz="1512" b="1"/>
            </a:lvl6pPr>
            <a:lvl7pPr marL="2592050" indent="0">
              <a:buNone/>
              <a:defRPr sz="1512" b="1"/>
            </a:lvl7pPr>
            <a:lvl8pPr marL="3024058" indent="0">
              <a:buNone/>
              <a:defRPr sz="1512" b="1"/>
            </a:lvl8pPr>
            <a:lvl9pPr marL="3456066" indent="0">
              <a:buNone/>
              <a:defRPr sz="1512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367064"/>
            <a:ext cx="3868340" cy="348159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1" y="1588543"/>
            <a:ext cx="3887391" cy="778521"/>
          </a:xfrm>
        </p:spPr>
        <p:txBody>
          <a:bodyPr anchor="b"/>
          <a:lstStyle>
            <a:lvl1pPr marL="0" indent="0">
              <a:buNone/>
              <a:defRPr sz="2268" b="1"/>
            </a:lvl1pPr>
            <a:lvl2pPr marL="432008" indent="0">
              <a:buNone/>
              <a:defRPr sz="1890" b="1"/>
            </a:lvl2pPr>
            <a:lvl3pPr marL="864017" indent="0">
              <a:buNone/>
              <a:defRPr sz="1701" b="1"/>
            </a:lvl3pPr>
            <a:lvl4pPr marL="1296025" indent="0">
              <a:buNone/>
              <a:defRPr sz="1512" b="1"/>
            </a:lvl4pPr>
            <a:lvl5pPr marL="1728033" indent="0">
              <a:buNone/>
              <a:defRPr sz="1512" b="1"/>
            </a:lvl5pPr>
            <a:lvl6pPr marL="2160041" indent="0">
              <a:buNone/>
              <a:defRPr sz="1512" b="1"/>
            </a:lvl6pPr>
            <a:lvl7pPr marL="2592050" indent="0">
              <a:buNone/>
              <a:defRPr sz="1512" b="1"/>
            </a:lvl7pPr>
            <a:lvl8pPr marL="3024058" indent="0">
              <a:buNone/>
              <a:defRPr sz="1512" b="1"/>
            </a:lvl8pPr>
            <a:lvl9pPr marL="3456066" indent="0">
              <a:buNone/>
              <a:defRPr sz="1512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1" y="2367064"/>
            <a:ext cx="3887391" cy="348159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7C3E2-C3A3-48B9-9166-BFDB6ECE67D9}" type="datetimeFigureOut">
              <a:rPr lang="ko-KR" altLang="en-US" smtClean="0"/>
              <a:t>2026-04-02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86103-4F2A-44CC-B0FB-6012544871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34358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7C3E2-C3A3-48B9-9166-BFDB6ECE67D9}" type="datetimeFigureOut">
              <a:rPr lang="ko-KR" altLang="en-US" smtClean="0"/>
              <a:t>2026-04-02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86103-4F2A-44CC-B0FB-6012544871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66272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7C3E2-C3A3-48B9-9166-BFDB6ECE67D9}" type="datetimeFigureOut">
              <a:rPr lang="ko-KR" altLang="en-US" smtClean="0"/>
              <a:t>2026-04-02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86103-4F2A-44CC-B0FB-6012544871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91687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32012"/>
            <a:ext cx="2949178" cy="1512041"/>
          </a:xfrm>
        </p:spPr>
        <p:txBody>
          <a:bodyPr anchor="b"/>
          <a:lstStyle>
            <a:lvl1pPr>
              <a:defRPr sz="3024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33027"/>
            <a:ext cx="4629150" cy="4605124"/>
          </a:xfrm>
        </p:spPr>
        <p:txBody>
          <a:bodyPr/>
          <a:lstStyle>
            <a:lvl1pPr>
              <a:defRPr sz="3024"/>
            </a:lvl1pPr>
            <a:lvl2pPr>
              <a:defRPr sz="2646"/>
            </a:lvl2pPr>
            <a:lvl3pPr>
              <a:defRPr sz="2268"/>
            </a:lvl3pPr>
            <a:lvl4pPr>
              <a:defRPr sz="1890"/>
            </a:lvl4pPr>
            <a:lvl5pPr>
              <a:defRPr sz="1890"/>
            </a:lvl5pPr>
            <a:lvl6pPr>
              <a:defRPr sz="1890"/>
            </a:lvl6pPr>
            <a:lvl7pPr>
              <a:defRPr sz="1890"/>
            </a:lvl7pPr>
            <a:lvl8pPr>
              <a:defRPr sz="1890"/>
            </a:lvl8pPr>
            <a:lvl9pPr>
              <a:defRPr sz="189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944052"/>
            <a:ext cx="2949178" cy="3601598"/>
          </a:xfrm>
        </p:spPr>
        <p:txBody>
          <a:bodyPr/>
          <a:lstStyle>
            <a:lvl1pPr marL="0" indent="0">
              <a:buNone/>
              <a:defRPr sz="1512"/>
            </a:lvl1pPr>
            <a:lvl2pPr marL="432008" indent="0">
              <a:buNone/>
              <a:defRPr sz="1323"/>
            </a:lvl2pPr>
            <a:lvl3pPr marL="864017" indent="0">
              <a:buNone/>
              <a:defRPr sz="1134"/>
            </a:lvl3pPr>
            <a:lvl4pPr marL="1296025" indent="0">
              <a:buNone/>
              <a:defRPr sz="945"/>
            </a:lvl4pPr>
            <a:lvl5pPr marL="1728033" indent="0">
              <a:buNone/>
              <a:defRPr sz="945"/>
            </a:lvl5pPr>
            <a:lvl6pPr marL="2160041" indent="0">
              <a:buNone/>
              <a:defRPr sz="945"/>
            </a:lvl6pPr>
            <a:lvl7pPr marL="2592050" indent="0">
              <a:buNone/>
              <a:defRPr sz="945"/>
            </a:lvl7pPr>
            <a:lvl8pPr marL="3024058" indent="0">
              <a:buNone/>
              <a:defRPr sz="945"/>
            </a:lvl8pPr>
            <a:lvl9pPr marL="3456066" indent="0">
              <a:buNone/>
              <a:defRPr sz="94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7C3E2-C3A3-48B9-9166-BFDB6ECE67D9}" type="datetimeFigureOut">
              <a:rPr lang="ko-KR" altLang="en-US" smtClean="0"/>
              <a:t>2026-04-02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86103-4F2A-44CC-B0FB-6012544871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81405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32012"/>
            <a:ext cx="2949178" cy="1512041"/>
          </a:xfrm>
        </p:spPr>
        <p:txBody>
          <a:bodyPr anchor="b"/>
          <a:lstStyle>
            <a:lvl1pPr>
              <a:defRPr sz="3024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33027"/>
            <a:ext cx="4629150" cy="4605124"/>
          </a:xfrm>
        </p:spPr>
        <p:txBody>
          <a:bodyPr anchor="t"/>
          <a:lstStyle>
            <a:lvl1pPr marL="0" indent="0">
              <a:buNone/>
              <a:defRPr sz="3024"/>
            </a:lvl1pPr>
            <a:lvl2pPr marL="432008" indent="0">
              <a:buNone/>
              <a:defRPr sz="2646"/>
            </a:lvl2pPr>
            <a:lvl3pPr marL="864017" indent="0">
              <a:buNone/>
              <a:defRPr sz="2268"/>
            </a:lvl3pPr>
            <a:lvl4pPr marL="1296025" indent="0">
              <a:buNone/>
              <a:defRPr sz="1890"/>
            </a:lvl4pPr>
            <a:lvl5pPr marL="1728033" indent="0">
              <a:buNone/>
              <a:defRPr sz="1890"/>
            </a:lvl5pPr>
            <a:lvl6pPr marL="2160041" indent="0">
              <a:buNone/>
              <a:defRPr sz="1890"/>
            </a:lvl6pPr>
            <a:lvl7pPr marL="2592050" indent="0">
              <a:buNone/>
              <a:defRPr sz="1890"/>
            </a:lvl7pPr>
            <a:lvl8pPr marL="3024058" indent="0">
              <a:buNone/>
              <a:defRPr sz="1890"/>
            </a:lvl8pPr>
            <a:lvl9pPr marL="3456066" indent="0">
              <a:buNone/>
              <a:defRPr sz="189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944052"/>
            <a:ext cx="2949178" cy="3601598"/>
          </a:xfrm>
        </p:spPr>
        <p:txBody>
          <a:bodyPr/>
          <a:lstStyle>
            <a:lvl1pPr marL="0" indent="0">
              <a:buNone/>
              <a:defRPr sz="1512"/>
            </a:lvl1pPr>
            <a:lvl2pPr marL="432008" indent="0">
              <a:buNone/>
              <a:defRPr sz="1323"/>
            </a:lvl2pPr>
            <a:lvl3pPr marL="864017" indent="0">
              <a:buNone/>
              <a:defRPr sz="1134"/>
            </a:lvl3pPr>
            <a:lvl4pPr marL="1296025" indent="0">
              <a:buNone/>
              <a:defRPr sz="945"/>
            </a:lvl4pPr>
            <a:lvl5pPr marL="1728033" indent="0">
              <a:buNone/>
              <a:defRPr sz="945"/>
            </a:lvl5pPr>
            <a:lvl6pPr marL="2160041" indent="0">
              <a:buNone/>
              <a:defRPr sz="945"/>
            </a:lvl6pPr>
            <a:lvl7pPr marL="2592050" indent="0">
              <a:buNone/>
              <a:defRPr sz="945"/>
            </a:lvl7pPr>
            <a:lvl8pPr marL="3024058" indent="0">
              <a:buNone/>
              <a:defRPr sz="945"/>
            </a:lvl8pPr>
            <a:lvl9pPr marL="3456066" indent="0">
              <a:buNone/>
              <a:defRPr sz="94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7C3E2-C3A3-48B9-9166-BFDB6ECE67D9}" type="datetimeFigureOut">
              <a:rPr lang="ko-KR" altLang="en-US" smtClean="0"/>
              <a:t>2026-04-02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86103-4F2A-44CC-B0FB-6012544871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66314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7C3E2-C3A3-48B9-9166-BFDB6ECE67D9}" type="datetimeFigureOut">
              <a:rPr lang="ko-KR" altLang="en-US" smtClean="0"/>
              <a:t>2026-04-02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86103-4F2A-44CC-B0FB-6012544871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40495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345009"/>
            <a:ext cx="1971675" cy="5491649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1" y="345009"/>
            <a:ext cx="5800725" cy="5491649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7C3E2-C3A3-48B9-9166-BFDB6ECE67D9}" type="datetimeFigureOut">
              <a:rPr lang="ko-KR" altLang="en-US" smtClean="0"/>
              <a:t>2026-04-02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86103-4F2A-44CC-B0FB-6012544871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44183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3F5343C3-F636-41DD-A5FE-DA111C1D704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06592" y="126000"/>
            <a:ext cx="1062845" cy="377493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459D5F33-8A9A-454D-BC4A-B08881E35A8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V="1">
            <a:off x="174567" y="577442"/>
            <a:ext cx="8794869" cy="43432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1864CA74-93BA-44C8-AEE5-3CACB4BD689B}"/>
              </a:ext>
            </a:extLst>
          </p:cNvPr>
          <p:cNvSpPr/>
          <p:nvPr userDrawn="1"/>
        </p:nvSpPr>
        <p:spPr>
          <a:xfrm>
            <a:off x="8747067" y="6185038"/>
            <a:ext cx="338087" cy="2309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61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2983595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45011"/>
            <a:ext cx="7886700" cy="12525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725046"/>
            <a:ext cx="7886700" cy="41116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006164"/>
            <a:ext cx="2057400" cy="3450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3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77C3E2-C3A3-48B9-9166-BFDB6ECE67D9}" type="datetimeFigureOut">
              <a:rPr lang="ko-KR" altLang="en-US" smtClean="0"/>
              <a:t>2026-04-02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006164"/>
            <a:ext cx="3086100" cy="3450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3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006164"/>
            <a:ext cx="2057400" cy="3450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3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586103-4F2A-44CC-B0FB-6012544871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024442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txStyles>
    <p:titleStyle>
      <a:lvl1pPr algn="l" defTabSz="864017" rtl="0" eaLnBrk="1" latinLnBrk="1" hangingPunct="1">
        <a:lnSpc>
          <a:spcPct val="90000"/>
        </a:lnSpc>
        <a:spcBef>
          <a:spcPct val="0"/>
        </a:spcBef>
        <a:buNone/>
        <a:defRPr sz="415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16004" indent="-216004" algn="l" defTabSz="864017" rtl="0" eaLnBrk="1" latinLnBrk="1" hangingPunct="1">
        <a:lnSpc>
          <a:spcPct val="90000"/>
        </a:lnSpc>
        <a:spcBef>
          <a:spcPts val="945"/>
        </a:spcBef>
        <a:buFont typeface="Arial" panose="020B0604020202020204" pitchFamily="34" charset="0"/>
        <a:buChar char="•"/>
        <a:defRPr sz="2646" kern="1200">
          <a:solidFill>
            <a:schemeClr val="tx1"/>
          </a:solidFill>
          <a:latin typeface="+mn-lt"/>
          <a:ea typeface="+mn-ea"/>
          <a:cs typeface="+mn-cs"/>
        </a:defRPr>
      </a:lvl1pPr>
      <a:lvl2pPr marL="648012" indent="-216004" algn="l" defTabSz="864017" rtl="0" eaLnBrk="1" latinLnBrk="1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2268" kern="1200">
          <a:solidFill>
            <a:schemeClr val="tx1"/>
          </a:solidFill>
          <a:latin typeface="+mn-lt"/>
          <a:ea typeface="+mn-ea"/>
          <a:cs typeface="+mn-cs"/>
        </a:defRPr>
      </a:lvl2pPr>
      <a:lvl3pPr marL="1080021" indent="-216004" algn="l" defTabSz="864017" rtl="0" eaLnBrk="1" latinLnBrk="1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3pPr>
      <a:lvl4pPr marL="1512029" indent="-216004" algn="l" defTabSz="864017" rtl="0" eaLnBrk="1" latinLnBrk="1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4pPr>
      <a:lvl5pPr marL="1944037" indent="-216004" algn="l" defTabSz="864017" rtl="0" eaLnBrk="1" latinLnBrk="1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5pPr>
      <a:lvl6pPr marL="2376046" indent="-216004" algn="l" defTabSz="864017" rtl="0" eaLnBrk="1" latinLnBrk="1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6pPr>
      <a:lvl7pPr marL="2808054" indent="-216004" algn="l" defTabSz="864017" rtl="0" eaLnBrk="1" latinLnBrk="1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7pPr>
      <a:lvl8pPr marL="3240062" indent="-216004" algn="l" defTabSz="864017" rtl="0" eaLnBrk="1" latinLnBrk="1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8pPr>
      <a:lvl9pPr marL="3672070" indent="-216004" algn="l" defTabSz="864017" rtl="0" eaLnBrk="1" latinLnBrk="1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64017" rtl="0" eaLnBrk="1" latinLnBrk="1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1pPr>
      <a:lvl2pPr marL="432008" algn="l" defTabSz="864017" rtl="0" eaLnBrk="1" latinLnBrk="1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2pPr>
      <a:lvl3pPr marL="864017" algn="l" defTabSz="864017" rtl="0" eaLnBrk="1" latinLnBrk="1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3pPr>
      <a:lvl4pPr marL="1296025" algn="l" defTabSz="864017" rtl="0" eaLnBrk="1" latinLnBrk="1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4pPr>
      <a:lvl5pPr marL="1728033" algn="l" defTabSz="864017" rtl="0" eaLnBrk="1" latinLnBrk="1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5pPr>
      <a:lvl6pPr marL="2160041" algn="l" defTabSz="864017" rtl="0" eaLnBrk="1" latinLnBrk="1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6pPr>
      <a:lvl7pPr marL="2592050" algn="l" defTabSz="864017" rtl="0" eaLnBrk="1" latinLnBrk="1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7pPr>
      <a:lvl8pPr marL="3024058" algn="l" defTabSz="864017" rtl="0" eaLnBrk="1" latinLnBrk="1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8pPr>
      <a:lvl9pPr marL="3456066" algn="l" defTabSz="864017" rtl="0" eaLnBrk="1" latinLnBrk="1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7" Type="http://schemas.openxmlformats.org/officeDocument/2006/relationships/image" Target="../media/image46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7" Type="http://schemas.openxmlformats.org/officeDocument/2006/relationships/image" Target="../media/image52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wmf"/><Relationship Id="rId3" Type="http://schemas.openxmlformats.org/officeDocument/2006/relationships/notesSlide" Target="../notesSlides/notesSlide1.xml"/><Relationship Id="rId7" Type="http://schemas.openxmlformats.org/officeDocument/2006/relationships/oleObject" Target="../embeddings/oleObject2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53.wmf"/><Relationship Id="rId5" Type="http://schemas.openxmlformats.org/officeDocument/2006/relationships/oleObject" Target="../embeddings/oleObject1.bin"/><Relationship Id="rId4" Type="http://schemas.openxmlformats.org/officeDocument/2006/relationships/image" Target="../media/image5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직사각형 26">
            <a:extLst>
              <a:ext uri="{FF2B5EF4-FFF2-40B4-BE49-F238E27FC236}">
                <a16:creationId xmlns:a16="http://schemas.microsoft.com/office/drawing/2014/main" id="{2A91378F-1BEA-4AB5-B07D-782B8250BEA7}"/>
              </a:ext>
            </a:extLst>
          </p:cNvPr>
          <p:cNvSpPr/>
          <p:nvPr/>
        </p:nvSpPr>
        <p:spPr>
          <a:xfrm>
            <a:off x="1737204" y="1746369"/>
            <a:ext cx="5880076" cy="109480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4800" b="1" dirty="0">
                <a:solidFill>
                  <a:schemeClr val="tx1"/>
                </a:solidFill>
                <a:latin typeface="+mn-ea"/>
              </a:rPr>
              <a:t>특별 안전보건 교육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E744C03D-EACA-404B-AC22-7996D717D9AC}"/>
              </a:ext>
            </a:extLst>
          </p:cNvPr>
          <p:cNvSpPr/>
          <p:nvPr/>
        </p:nvSpPr>
        <p:spPr>
          <a:xfrm>
            <a:off x="2786793" y="5144215"/>
            <a:ext cx="3107820" cy="46464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800" dirty="0">
                <a:solidFill>
                  <a:schemeClr val="tx1"/>
                </a:solidFill>
                <a:latin typeface="+mn-ea"/>
              </a:rPr>
              <a:t>안전보건실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0D3FB014-F004-4618-9F67-DA0CB312C361}"/>
              </a:ext>
            </a:extLst>
          </p:cNvPr>
          <p:cNvSpPr/>
          <p:nvPr/>
        </p:nvSpPr>
        <p:spPr>
          <a:xfrm>
            <a:off x="2876600" y="4482907"/>
            <a:ext cx="3107820" cy="46464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solidFill>
                  <a:schemeClr val="tx1"/>
                </a:solidFill>
                <a:latin typeface="+mn-ea"/>
              </a:rPr>
              <a:t>2026.4.8</a:t>
            </a:r>
            <a:endParaRPr lang="ko-KR" altLang="en-US" sz="28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0817141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직사각형 30">
            <a:extLst>
              <a:ext uri="{FF2B5EF4-FFF2-40B4-BE49-F238E27FC236}">
                <a16:creationId xmlns:a16="http://schemas.microsoft.com/office/drawing/2014/main" id="{35B3DB9D-FB2D-45A6-A5B5-A1363161281A}"/>
              </a:ext>
            </a:extLst>
          </p:cNvPr>
          <p:cNvSpPr/>
          <p:nvPr/>
        </p:nvSpPr>
        <p:spPr>
          <a:xfrm>
            <a:off x="345982" y="4267538"/>
            <a:ext cx="3676255" cy="1961811"/>
          </a:xfrm>
          <a:prstGeom prst="rect">
            <a:avLst/>
          </a:prstGeom>
          <a:solidFill>
            <a:schemeClr val="bg1"/>
          </a:solidFill>
          <a:effectLst>
            <a:innerShdw blurRad="63500" dist="508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>
              <a:latin typeface="+mn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F164D1D-C5B6-482B-A887-726E4E6CB1A7}"/>
              </a:ext>
            </a:extLst>
          </p:cNvPr>
          <p:cNvSpPr/>
          <p:nvPr/>
        </p:nvSpPr>
        <p:spPr>
          <a:xfrm>
            <a:off x="4444786" y="4618943"/>
            <a:ext cx="4382194" cy="124301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1811" tIns="35906" rIns="71811" bIns="35906" anchor="ctr"/>
          <a:lstStyle/>
          <a:p>
            <a:endParaRPr lang="en-US" altLang="ko-KR" sz="1200" dirty="0">
              <a:solidFill>
                <a:schemeClr val="tx1"/>
              </a:solidFill>
              <a:latin typeface="+mn-ea"/>
              <a:cs typeface="함초롬바탕" panose="02030604000101010101" pitchFamily="18" charset="-127"/>
            </a:endParaRPr>
          </a:p>
          <a:p>
            <a:pPr marL="128588" indent="-128588">
              <a:buFont typeface="Wingdings" panose="05000000000000000000" pitchFamily="2" charset="2"/>
              <a:buChar char="l"/>
            </a:pPr>
            <a:r>
              <a:rPr lang="en-US" altLang="ko-KR" sz="1200" dirty="0">
                <a:solidFill>
                  <a:schemeClr val="tx1"/>
                </a:solidFill>
                <a:latin typeface="+mn-ea"/>
                <a:cs typeface="함초롬바탕" panose="02030604000101010101" pitchFamily="18" charset="-127"/>
              </a:rPr>
              <a:t>65</a:t>
            </a:r>
            <a:r>
              <a:rPr lang="ko-KR" altLang="en-US" sz="1200" dirty="0">
                <a:solidFill>
                  <a:schemeClr val="tx1"/>
                </a:solidFill>
                <a:latin typeface="+mn-ea"/>
                <a:cs typeface="함초롬바탕" panose="02030604000101010101" pitchFamily="18" charset="-127"/>
              </a:rPr>
              <a:t>세 이상 근로자</a:t>
            </a:r>
            <a:r>
              <a:rPr lang="en-US" altLang="ko-KR" sz="1200" dirty="0">
                <a:solidFill>
                  <a:schemeClr val="tx1"/>
                </a:solidFill>
                <a:latin typeface="+mn-ea"/>
                <a:cs typeface="함초롬바탕" panose="02030604000101010101" pitchFamily="18" charset="-127"/>
              </a:rPr>
              <a:t>[</a:t>
            </a:r>
            <a:r>
              <a:rPr lang="ko-KR" altLang="en-US" sz="1200" dirty="0">
                <a:solidFill>
                  <a:schemeClr val="tx1"/>
                </a:solidFill>
                <a:latin typeface="+mn-ea"/>
                <a:cs typeface="함초롬바탕" panose="02030604000101010101" pitchFamily="18" charset="-127"/>
              </a:rPr>
              <a:t>고령자</a:t>
            </a:r>
            <a:r>
              <a:rPr lang="en-US" altLang="ko-KR" sz="1200" dirty="0">
                <a:solidFill>
                  <a:schemeClr val="tx1"/>
                </a:solidFill>
                <a:latin typeface="+mn-ea"/>
                <a:cs typeface="함초롬바탕" panose="02030604000101010101" pitchFamily="18" charset="-127"/>
              </a:rPr>
              <a:t>] / </a:t>
            </a:r>
            <a:r>
              <a:rPr lang="ko-KR" altLang="en-US" sz="1200" dirty="0">
                <a:solidFill>
                  <a:schemeClr val="tx1"/>
                </a:solidFill>
                <a:latin typeface="+mn-ea"/>
                <a:cs typeface="함초롬바탕" panose="02030604000101010101" pitchFamily="18" charset="-127"/>
              </a:rPr>
              <a:t>혈압 </a:t>
            </a:r>
            <a:r>
              <a:rPr lang="en-US" altLang="ko-KR" sz="1200" dirty="0">
                <a:solidFill>
                  <a:schemeClr val="tx1"/>
                </a:solidFill>
                <a:latin typeface="+mn-ea"/>
                <a:cs typeface="함초롬바탕" panose="02030604000101010101" pitchFamily="18" charset="-127"/>
              </a:rPr>
              <a:t>150 </a:t>
            </a:r>
            <a:r>
              <a:rPr lang="ko-KR" altLang="en-US" sz="1200" dirty="0">
                <a:solidFill>
                  <a:schemeClr val="tx1"/>
                </a:solidFill>
                <a:latin typeface="+mn-ea"/>
                <a:cs typeface="함초롬바탕" panose="02030604000101010101" pitchFamily="18" charset="-127"/>
              </a:rPr>
              <a:t>이상 근로자</a:t>
            </a:r>
            <a:r>
              <a:rPr lang="en-US" altLang="ko-KR" sz="1200" dirty="0">
                <a:solidFill>
                  <a:schemeClr val="tx1"/>
                </a:solidFill>
                <a:latin typeface="+mn-ea"/>
                <a:cs typeface="함초롬바탕" panose="02030604000101010101" pitchFamily="18" charset="-127"/>
              </a:rPr>
              <a:t>[</a:t>
            </a:r>
            <a:r>
              <a:rPr lang="ko-KR" altLang="en-US" sz="1200" dirty="0">
                <a:solidFill>
                  <a:schemeClr val="tx1"/>
                </a:solidFill>
                <a:latin typeface="+mn-ea"/>
                <a:cs typeface="함초롬바탕" panose="02030604000101010101" pitchFamily="18" charset="-127"/>
              </a:rPr>
              <a:t>의사소견</a:t>
            </a:r>
            <a:r>
              <a:rPr lang="en-US" altLang="ko-KR" sz="1200" dirty="0">
                <a:solidFill>
                  <a:schemeClr val="tx1"/>
                </a:solidFill>
                <a:latin typeface="+mn-ea"/>
                <a:cs typeface="함초롬바탕" panose="02030604000101010101" pitchFamily="18" charset="-127"/>
              </a:rPr>
              <a:t>]</a:t>
            </a:r>
            <a:endParaRPr lang="ko-KR" altLang="en-US" sz="1200" dirty="0">
              <a:solidFill>
                <a:schemeClr val="tx1"/>
              </a:solidFill>
              <a:latin typeface="+mn-ea"/>
              <a:cs typeface="함초롬바탕" panose="02030604000101010101" pitchFamily="18" charset="-127"/>
            </a:endParaRPr>
          </a:p>
          <a:p>
            <a:pPr marL="128588" indent="-128588">
              <a:buFont typeface="Wingdings" panose="05000000000000000000" pitchFamily="2" charset="2"/>
              <a:buChar char="l"/>
            </a:pPr>
            <a:r>
              <a:rPr lang="ko-KR" altLang="en-US" sz="1200" dirty="0">
                <a:solidFill>
                  <a:schemeClr val="tx1"/>
                </a:solidFill>
                <a:latin typeface="+mn-ea"/>
                <a:cs typeface="함초롬바탕" panose="02030604000101010101" pitchFamily="18" charset="-127"/>
              </a:rPr>
              <a:t>건설업 기초 안전보건교육  미 이수자</a:t>
            </a:r>
          </a:p>
          <a:p>
            <a:pPr marL="128588" indent="-128588">
              <a:buFont typeface="Wingdings" panose="05000000000000000000" pitchFamily="2" charset="2"/>
              <a:buChar char="l"/>
            </a:pPr>
            <a:r>
              <a:rPr lang="ko-KR" altLang="en-US" sz="1200" dirty="0">
                <a:solidFill>
                  <a:schemeClr val="tx1"/>
                </a:solidFill>
                <a:latin typeface="+mn-ea"/>
                <a:cs typeface="함초롬바탕" panose="02030604000101010101" pitchFamily="18" charset="-127"/>
              </a:rPr>
              <a:t>음주 근로자 또는 </a:t>
            </a:r>
            <a:r>
              <a:rPr lang="ko-KR" altLang="en-US" sz="1200" dirty="0" err="1">
                <a:solidFill>
                  <a:schemeClr val="tx1"/>
                </a:solidFill>
                <a:latin typeface="+mn-ea"/>
                <a:cs typeface="함초롬바탕" panose="02030604000101010101" pitchFamily="18" charset="-127"/>
              </a:rPr>
              <a:t>숙취자</a:t>
            </a:r>
            <a:endParaRPr lang="ko-KR" altLang="en-US" sz="1200" dirty="0">
              <a:solidFill>
                <a:schemeClr val="tx1"/>
              </a:solidFill>
              <a:latin typeface="+mn-ea"/>
              <a:cs typeface="함초롬바탕" panose="02030604000101010101" pitchFamily="18" charset="-127"/>
            </a:endParaRPr>
          </a:p>
          <a:p>
            <a:pPr marL="128588" indent="-128588">
              <a:buFont typeface="Wingdings" panose="05000000000000000000" pitchFamily="2" charset="2"/>
              <a:buChar char="l"/>
            </a:pPr>
            <a:r>
              <a:rPr lang="ko-KR" altLang="en-US" sz="1200" dirty="0">
                <a:solidFill>
                  <a:schemeClr val="tx1"/>
                </a:solidFill>
                <a:latin typeface="+mn-ea"/>
                <a:cs typeface="함초롬바탕" panose="02030604000101010101" pitchFamily="18" charset="-127"/>
              </a:rPr>
              <a:t>외국인 불법 체류자</a:t>
            </a:r>
            <a:endParaRPr lang="en-US" altLang="ko-KR" sz="1200" dirty="0">
              <a:solidFill>
                <a:schemeClr val="tx1"/>
              </a:solidFill>
              <a:latin typeface="+mn-ea"/>
              <a:cs typeface="함초롬바탕" panose="02030604000101010101" pitchFamily="18" charset="-127"/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7E834CC7-85F2-4096-BD08-B49229336AA6}"/>
              </a:ext>
            </a:extLst>
          </p:cNvPr>
          <p:cNvSpPr/>
          <p:nvPr/>
        </p:nvSpPr>
        <p:spPr>
          <a:xfrm>
            <a:off x="1476042" y="213645"/>
            <a:ext cx="6308605" cy="1019162"/>
          </a:xfrm>
          <a:prstGeom prst="roundRect">
            <a:avLst/>
          </a:prstGeom>
          <a:solidFill>
            <a:srgbClr val="92D050"/>
          </a:solidFill>
          <a:effectLst>
            <a:innerShdw blurRad="114300">
              <a:srgbClr val="FFFF00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800" b="1" dirty="0">
                <a:solidFill>
                  <a:srgbClr val="FF0000"/>
                </a:solidFill>
                <a:latin typeface="+mn-ea"/>
              </a:rPr>
              <a:t>  </a:t>
            </a:r>
            <a:r>
              <a:rPr lang="en-US" altLang="ko-KR" sz="2800" b="1" dirty="0">
                <a:solidFill>
                  <a:srgbClr val="FF0000"/>
                </a:solidFill>
                <a:latin typeface="+mn-ea"/>
              </a:rPr>
              <a:t>“</a:t>
            </a:r>
            <a:r>
              <a:rPr lang="ko-KR" altLang="en-US" sz="2800" b="1" dirty="0">
                <a:solidFill>
                  <a:srgbClr val="FF0000"/>
                </a:solidFill>
                <a:latin typeface="+mn-ea"/>
              </a:rPr>
              <a:t>안전하지 않으면 작업하지 않는다</a:t>
            </a:r>
            <a:r>
              <a:rPr lang="en-US" altLang="ko-KR" sz="2800" b="1" dirty="0">
                <a:solidFill>
                  <a:srgbClr val="FF0000"/>
                </a:solidFill>
                <a:latin typeface="+mn-ea"/>
              </a:rPr>
              <a:t>” – </a:t>
            </a:r>
            <a:r>
              <a:rPr lang="ko-KR" altLang="en-US" sz="2800" b="1" dirty="0">
                <a:solidFill>
                  <a:schemeClr val="tx1"/>
                </a:solidFill>
                <a:latin typeface="+mn-ea"/>
              </a:rPr>
              <a:t>부현전기 대표이사 안전구호</a:t>
            </a:r>
            <a:endParaRPr lang="en-US" altLang="ko-KR" sz="28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121603-B0EA-4F9A-9509-5F67BDBC2399}"/>
              </a:ext>
            </a:extLst>
          </p:cNvPr>
          <p:cNvSpPr txBox="1"/>
          <p:nvPr/>
        </p:nvSpPr>
        <p:spPr>
          <a:xfrm>
            <a:off x="4430153" y="1771207"/>
            <a:ext cx="4526068" cy="25585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txBody>
          <a:bodyPr wrap="square">
            <a:spAutoFit/>
          </a:bodyPr>
          <a:lstStyle/>
          <a:p>
            <a:pPr defTabSz="716967">
              <a:lnSpc>
                <a:spcPct val="150000"/>
              </a:lnSpc>
              <a:defRPr/>
            </a:pPr>
            <a:endParaRPr lang="en-US" altLang="ko-KR" sz="900" dirty="0">
              <a:latin typeface="+mn-ea"/>
            </a:endParaRPr>
          </a:p>
          <a:p>
            <a:pPr defTabSz="716967">
              <a:lnSpc>
                <a:spcPct val="150000"/>
              </a:lnSpc>
              <a:defRPr/>
            </a:pPr>
            <a:r>
              <a:rPr lang="en-US" altLang="ko-KR" sz="900" dirty="0">
                <a:latin typeface="+mn-ea"/>
              </a:rPr>
              <a:t>1. </a:t>
            </a:r>
            <a:r>
              <a:rPr lang="ko-KR" altLang="en-US" sz="900" dirty="0">
                <a:latin typeface="+mn-ea"/>
              </a:rPr>
              <a:t>근태관리 철저 및 작업장 정리정돈 </a:t>
            </a:r>
            <a:endParaRPr lang="en-US" altLang="ko-KR" sz="900" dirty="0">
              <a:latin typeface="+mn-ea"/>
            </a:endParaRPr>
          </a:p>
          <a:p>
            <a:pPr defTabSz="716967">
              <a:lnSpc>
                <a:spcPct val="150000"/>
              </a:lnSpc>
              <a:defRPr/>
            </a:pPr>
            <a:r>
              <a:rPr lang="en-US" altLang="ko-KR" sz="900" dirty="0">
                <a:latin typeface="+mn-ea"/>
              </a:rPr>
              <a:t>2. </a:t>
            </a:r>
            <a:r>
              <a:rPr lang="ko-KR" altLang="en-US" sz="900" dirty="0">
                <a:latin typeface="+mn-ea"/>
              </a:rPr>
              <a:t>작업위험성에 대한 인식 강화 </a:t>
            </a:r>
            <a:r>
              <a:rPr lang="en-US" altLang="ko-KR" sz="900" dirty="0">
                <a:latin typeface="+mn-ea"/>
              </a:rPr>
              <a:t>: TBM/</a:t>
            </a:r>
            <a:r>
              <a:rPr lang="ko-KR" altLang="en-US" sz="900" dirty="0">
                <a:latin typeface="+mn-ea"/>
              </a:rPr>
              <a:t>스트레칭</a:t>
            </a:r>
            <a:r>
              <a:rPr lang="en-US" altLang="ko-KR" sz="900" dirty="0">
                <a:latin typeface="+mn-ea"/>
              </a:rPr>
              <a:t>/</a:t>
            </a:r>
            <a:r>
              <a:rPr lang="ko-KR" altLang="en-US" sz="900" dirty="0">
                <a:latin typeface="+mn-ea"/>
              </a:rPr>
              <a:t>안전교육 실시</a:t>
            </a:r>
            <a:r>
              <a:rPr lang="en-US" altLang="ko-KR" sz="900" dirty="0">
                <a:latin typeface="+mn-ea"/>
              </a:rPr>
              <a:t>, </a:t>
            </a:r>
            <a:r>
              <a:rPr lang="ko-KR" altLang="en-US" sz="900" dirty="0">
                <a:latin typeface="+mn-ea"/>
              </a:rPr>
              <a:t>위험요인 및 대책</a:t>
            </a:r>
            <a:endParaRPr lang="en-US" altLang="ko-KR" sz="900" dirty="0">
              <a:latin typeface="+mn-ea"/>
            </a:endParaRPr>
          </a:p>
          <a:p>
            <a:pPr defTabSz="716967">
              <a:lnSpc>
                <a:spcPct val="150000"/>
              </a:lnSpc>
              <a:defRPr/>
            </a:pPr>
            <a:r>
              <a:rPr lang="en-US" altLang="ko-KR" sz="900" dirty="0">
                <a:latin typeface="+mn-ea"/>
              </a:rPr>
              <a:t>3. </a:t>
            </a:r>
            <a:r>
              <a:rPr lang="ko-KR" altLang="en-US" sz="900" dirty="0">
                <a:latin typeface="+mn-ea"/>
              </a:rPr>
              <a:t>근로자 면담일지 작성 및 장애인 복지카드 소지자 채용 권장</a:t>
            </a:r>
            <a:endParaRPr lang="en-US" altLang="ko-KR" sz="900" dirty="0">
              <a:latin typeface="+mn-ea"/>
            </a:endParaRPr>
          </a:p>
          <a:p>
            <a:pPr defTabSz="716967">
              <a:lnSpc>
                <a:spcPct val="150000"/>
              </a:lnSpc>
              <a:defRPr/>
            </a:pPr>
            <a:r>
              <a:rPr lang="en-US" altLang="ko-KR" sz="900" dirty="0">
                <a:latin typeface="+mn-ea"/>
              </a:rPr>
              <a:t>4. </a:t>
            </a:r>
            <a:r>
              <a:rPr lang="ko-KR" altLang="en-US" sz="900" dirty="0">
                <a:latin typeface="+mn-ea"/>
              </a:rPr>
              <a:t>현장 근로자에 의한 수시 의견청취 및 개선조치</a:t>
            </a:r>
            <a:endParaRPr lang="en-US" altLang="ko-KR" sz="900" dirty="0">
              <a:latin typeface="+mn-ea"/>
            </a:endParaRPr>
          </a:p>
          <a:p>
            <a:pPr defTabSz="716967">
              <a:lnSpc>
                <a:spcPct val="150000"/>
              </a:lnSpc>
              <a:defRPr/>
            </a:pPr>
            <a:r>
              <a:rPr lang="en-US" altLang="ko-KR" sz="900" dirty="0">
                <a:latin typeface="+mn-ea"/>
              </a:rPr>
              <a:t>5. </a:t>
            </a:r>
            <a:r>
              <a:rPr lang="ko-KR" altLang="en-US" sz="900" dirty="0">
                <a:latin typeface="+mn-ea"/>
              </a:rPr>
              <a:t>중대한 위험 초래</a:t>
            </a:r>
            <a:r>
              <a:rPr lang="en-US" altLang="ko-KR" sz="900" dirty="0">
                <a:latin typeface="+mn-ea"/>
              </a:rPr>
              <a:t>, </a:t>
            </a:r>
            <a:r>
              <a:rPr lang="ko-KR" altLang="en-US" sz="900" dirty="0">
                <a:latin typeface="+mn-ea"/>
              </a:rPr>
              <a:t>안전사고 위험 발생시 근로자 작업 </a:t>
            </a:r>
            <a:r>
              <a:rPr lang="ko-KR" altLang="en-US" sz="900" dirty="0" err="1">
                <a:latin typeface="+mn-ea"/>
              </a:rPr>
              <a:t>중지권</a:t>
            </a:r>
            <a:r>
              <a:rPr lang="ko-KR" altLang="en-US" sz="900" dirty="0">
                <a:latin typeface="+mn-ea"/>
              </a:rPr>
              <a:t> 발동</a:t>
            </a:r>
            <a:endParaRPr lang="en-US" altLang="ko-KR" sz="900" dirty="0">
              <a:latin typeface="+mn-ea"/>
            </a:endParaRPr>
          </a:p>
          <a:p>
            <a:pPr defTabSz="716967">
              <a:lnSpc>
                <a:spcPct val="150000"/>
              </a:lnSpc>
              <a:defRPr/>
            </a:pPr>
            <a:r>
              <a:rPr lang="en-US" altLang="ko-KR" sz="900" dirty="0">
                <a:latin typeface="+mn-ea"/>
              </a:rPr>
              <a:t>6. </a:t>
            </a:r>
            <a:r>
              <a:rPr lang="ko-KR" altLang="en-US" sz="900" dirty="0">
                <a:latin typeface="+mn-ea"/>
              </a:rPr>
              <a:t>비상상황</a:t>
            </a:r>
            <a:r>
              <a:rPr lang="en-US" altLang="ko-KR" sz="900" dirty="0">
                <a:latin typeface="+mn-ea"/>
              </a:rPr>
              <a:t>(</a:t>
            </a:r>
            <a:r>
              <a:rPr lang="ko-KR" altLang="en-US" sz="900" dirty="0">
                <a:latin typeface="+mn-ea"/>
              </a:rPr>
              <a:t>사고</a:t>
            </a:r>
            <a:r>
              <a:rPr lang="en-US" altLang="ko-KR" sz="900" dirty="0">
                <a:latin typeface="+mn-ea"/>
              </a:rPr>
              <a:t>, </a:t>
            </a:r>
            <a:r>
              <a:rPr lang="ko-KR" altLang="en-US" sz="900" dirty="0">
                <a:latin typeface="+mn-ea"/>
              </a:rPr>
              <a:t>화재 등</a:t>
            </a:r>
            <a:r>
              <a:rPr lang="en-US" altLang="ko-KR" sz="900" dirty="0">
                <a:latin typeface="+mn-ea"/>
              </a:rPr>
              <a:t>)</a:t>
            </a:r>
            <a:r>
              <a:rPr lang="ko-KR" altLang="en-US" sz="900" dirty="0">
                <a:latin typeface="+mn-ea"/>
              </a:rPr>
              <a:t>시</a:t>
            </a:r>
            <a:r>
              <a:rPr lang="en-US" altLang="ko-KR" sz="900" dirty="0">
                <a:latin typeface="+mn-ea"/>
              </a:rPr>
              <a:t> </a:t>
            </a:r>
            <a:r>
              <a:rPr lang="ko-KR" altLang="en-US" sz="900" dirty="0">
                <a:latin typeface="+mn-ea"/>
              </a:rPr>
              <a:t>대응체계 확보 </a:t>
            </a:r>
            <a:r>
              <a:rPr lang="en-US" altLang="ko-KR" sz="900" dirty="0">
                <a:latin typeface="+mn-ea"/>
              </a:rPr>
              <a:t>: </a:t>
            </a:r>
            <a:r>
              <a:rPr lang="ko-KR" altLang="en-US" sz="900" dirty="0">
                <a:latin typeface="+mn-ea"/>
              </a:rPr>
              <a:t>비상연락망 구축</a:t>
            </a:r>
            <a:r>
              <a:rPr lang="en-US" altLang="ko-KR" sz="900" dirty="0">
                <a:latin typeface="+mn-ea"/>
              </a:rPr>
              <a:t>, </a:t>
            </a:r>
            <a:r>
              <a:rPr lang="ko-KR" altLang="en-US" sz="900" dirty="0">
                <a:latin typeface="+mn-ea"/>
              </a:rPr>
              <a:t>사고보고</a:t>
            </a:r>
            <a:r>
              <a:rPr lang="en-US" altLang="ko-KR" sz="900" dirty="0">
                <a:latin typeface="+mn-ea"/>
              </a:rPr>
              <a:t>(</a:t>
            </a:r>
            <a:r>
              <a:rPr lang="ko-KR" altLang="en-US" sz="900" dirty="0">
                <a:latin typeface="+mn-ea"/>
              </a:rPr>
              <a:t>누락</a:t>
            </a:r>
            <a:r>
              <a:rPr lang="en-US" altLang="ko-KR" sz="900" dirty="0">
                <a:latin typeface="+mn-ea"/>
              </a:rPr>
              <a:t>,</a:t>
            </a:r>
            <a:r>
              <a:rPr lang="ko-KR" altLang="en-US" sz="900" dirty="0">
                <a:latin typeface="+mn-ea"/>
              </a:rPr>
              <a:t>지연</a:t>
            </a:r>
            <a:r>
              <a:rPr lang="en-US" altLang="ko-KR" sz="900" dirty="0">
                <a:latin typeface="+mn-ea"/>
              </a:rPr>
              <a:t>,</a:t>
            </a:r>
            <a:r>
              <a:rPr lang="ko-KR" altLang="en-US" sz="900" dirty="0">
                <a:latin typeface="+mn-ea"/>
              </a:rPr>
              <a:t>은폐 금지</a:t>
            </a:r>
            <a:r>
              <a:rPr lang="en-US" altLang="ko-KR" sz="900" dirty="0">
                <a:latin typeface="+mn-ea"/>
              </a:rPr>
              <a:t>)</a:t>
            </a:r>
          </a:p>
          <a:p>
            <a:pPr defTabSz="716967">
              <a:lnSpc>
                <a:spcPct val="150000"/>
              </a:lnSpc>
              <a:defRPr/>
            </a:pPr>
            <a:r>
              <a:rPr lang="en-US" altLang="ko-KR" sz="900" dirty="0">
                <a:latin typeface="+mn-ea"/>
              </a:rPr>
              <a:t>7.</a:t>
            </a:r>
            <a:r>
              <a:rPr lang="ko-KR" altLang="en-US" sz="900" dirty="0">
                <a:latin typeface="+mn-ea"/>
              </a:rPr>
              <a:t> 건설사 개선요청 사항에 대한 즉각적인 대응</a:t>
            </a:r>
            <a:r>
              <a:rPr lang="en-US" altLang="ko-KR" sz="900" dirty="0">
                <a:latin typeface="+mn-ea"/>
              </a:rPr>
              <a:t>[</a:t>
            </a:r>
            <a:r>
              <a:rPr lang="ko-KR" altLang="en-US" sz="900" dirty="0">
                <a:latin typeface="+mn-ea"/>
              </a:rPr>
              <a:t>불필요한 언쟁</a:t>
            </a:r>
            <a:r>
              <a:rPr lang="en-US" altLang="ko-KR" sz="900" dirty="0">
                <a:latin typeface="+mn-ea"/>
              </a:rPr>
              <a:t>, </a:t>
            </a:r>
            <a:r>
              <a:rPr lang="ko-KR" altLang="en-US" sz="900" dirty="0">
                <a:latin typeface="+mn-ea"/>
              </a:rPr>
              <a:t>다툼 절대금지</a:t>
            </a:r>
            <a:r>
              <a:rPr lang="en-US" altLang="ko-KR" sz="900" dirty="0">
                <a:latin typeface="+mn-ea"/>
              </a:rPr>
              <a:t>]</a:t>
            </a:r>
            <a:r>
              <a:rPr lang="ko-KR" altLang="en-US" sz="900" dirty="0">
                <a:latin typeface="+mn-ea"/>
              </a:rPr>
              <a:t> </a:t>
            </a:r>
            <a:endParaRPr lang="en-US" altLang="ko-KR" sz="900" dirty="0">
              <a:latin typeface="+mn-ea"/>
            </a:endParaRPr>
          </a:p>
          <a:p>
            <a:pPr defTabSz="716967">
              <a:lnSpc>
                <a:spcPct val="150000"/>
              </a:lnSpc>
              <a:defRPr/>
            </a:pPr>
            <a:r>
              <a:rPr lang="en-US" altLang="ko-KR" sz="900" dirty="0">
                <a:latin typeface="+mn-ea"/>
              </a:rPr>
              <a:t>8. </a:t>
            </a:r>
            <a:r>
              <a:rPr lang="ko-KR" altLang="en-US" sz="900" dirty="0">
                <a:latin typeface="+mn-ea"/>
              </a:rPr>
              <a:t>정기</a:t>
            </a:r>
            <a:r>
              <a:rPr lang="en-US" altLang="ko-KR" sz="900" dirty="0">
                <a:latin typeface="+mn-ea"/>
              </a:rPr>
              <a:t>, </a:t>
            </a:r>
            <a:r>
              <a:rPr lang="ko-KR" altLang="en-US" sz="900" dirty="0">
                <a:latin typeface="+mn-ea"/>
              </a:rPr>
              <a:t>수시 근로자 </a:t>
            </a:r>
            <a:r>
              <a:rPr lang="ko-KR" altLang="en-US" sz="900" dirty="0" err="1">
                <a:latin typeface="+mn-ea"/>
              </a:rPr>
              <a:t>기능제</a:t>
            </a:r>
            <a:r>
              <a:rPr lang="ko-KR" altLang="en-US" sz="900" dirty="0">
                <a:latin typeface="+mn-ea"/>
              </a:rPr>
              <a:t> 평가를 통한 자체 경력관리 시스템화</a:t>
            </a:r>
            <a:r>
              <a:rPr lang="en-US" altLang="ko-KR" sz="900" dirty="0">
                <a:latin typeface="+mn-ea"/>
              </a:rPr>
              <a:t>(</a:t>
            </a:r>
            <a:r>
              <a:rPr lang="ko-KR" altLang="en-US" sz="900" dirty="0">
                <a:latin typeface="+mn-ea"/>
              </a:rPr>
              <a:t>기능인 </a:t>
            </a:r>
            <a:r>
              <a:rPr lang="ko-KR" altLang="en-US" sz="900" dirty="0" err="1">
                <a:latin typeface="+mn-ea"/>
              </a:rPr>
              <a:t>인정제</a:t>
            </a:r>
            <a:r>
              <a:rPr lang="en-US" altLang="ko-KR" sz="900" dirty="0">
                <a:latin typeface="+mn-ea"/>
              </a:rPr>
              <a:t>)</a:t>
            </a:r>
            <a:r>
              <a:rPr lang="ko-KR" altLang="en-US" sz="900" dirty="0">
                <a:latin typeface="+mn-ea"/>
              </a:rPr>
              <a:t>  </a:t>
            </a:r>
            <a:endParaRPr lang="en-US" altLang="ko-KR" sz="900" dirty="0">
              <a:latin typeface="+mn-ea"/>
            </a:endParaRPr>
          </a:p>
          <a:p>
            <a:pPr defTabSz="716967">
              <a:lnSpc>
                <a:spcPct val="150000"/>
              </a:lnSpc>
              <a:defRPr/>
            </a:pPr>
            <a:r>
              <a:rPr lang="en-US" altLang="ko-KR" sz="900" dirty="0">
                <a:latin typeface="+mn-ea"/>
              </a:rPr>
              <a:t>9. </a:t>
            </a:r>
            <a:r>
              <a:rPr lang="ko-KR" altLang="en-US" sz="900" dirty="0">
                <a:latin typeface="+mn-ea"/>
              </a:rPr>
              <a:t>고소작업</a:t>
            </a:r>
            <a:r>
              <a:rPr lang="en-US" altLang="ko-KR" sz="900" dirty="0">
                <a:latin typeface="+mn-ea"/>
              </a:rPr>
              <a:t>(</a:t>
            </a:r>
            <a:r>
              <a:rPr lang="ko-KR" altLang="en-US" sz="900" dirty="0">
                <a:latin typeface="+mn-ea"/>
              </a:rPr>
              <a:t>고소작업대</a:t>
            </a:r>
            <a:r>
              <a:rPr lang="en-US" altLang="ko-KR" sz="900" dirty="0">
                <a:latin typeface="+mn-ea"/>
              </a:rPr>
              <a:t>, </a:t>
            </a:r>
            <a:r>
              <a:rPr lang="ko-KR" altLang="en-US" sz="900" dirty="0">
                <a:latin typeface="+mn-ea"/>
              </a:rPr>
              <a:t>사다리</a:t>
            </a:r>
            <a:r>
              <a:rPr lang="en-US" altLang="ko-KR" sz="900" dirty="0">
                <a:latin typeface="+mn-ea"/>
              </a:rPr>
              <a:t>, </a:t>
            </a:r>
            <a:r>
              <a:rPr lang="ko-KR" altLang="en-US" sz="900" dirty="0">
                <a:latin typeface="+mn-ea"/>
              </a:rPr>
              <a:t>비계 등</a:t>
            </a:r>
            <a:r>
              <a:rPr lang="en-US" altLang="ko-KR" sz="900" dirty="0">
                <a:latin typeface="+mn-ea"/>
              </a:rPr>
              <a:t>)</a:t>
            </a:r>
            <a:r>
              <a:rPr lang="ko-KR" altLang="en-US" sz="900" dirty="0">
                <a:latin typeface="+mn-ea"/>
              </a:rPr>
              <a:t>시 </a:t>
            </a:r>
            <a:r>
              <a:rPr lang="ko-KR" altLang="en-US" sz="900" dirty="0" err="1">
                <a:latin typeface="+mn-ea"/>
              </a:rPr>
              <a:t>안전밸트</a:t>
            </a:r>
            <a:r>
              <a:rPr lang="ko-KR" altLang="en-US" sz="900" dirty="0">
                <a:latin typeface="+mn-ea"/>
              </a:rPr>
              <a:t> </a:t>
            </a:r>
            <a:r>
              <a:rPr lang="ko-KR" altLang="en-US" sz="900" dirty="0" err="1">
                <a:latin typeface="+mn-ea"/>
              </a:rPr>
              <a:t>걸이대</a:t>
            </a:r>
            <a:r>
              <a:rPr lang="ko-KR" altLang="en-US" sz="900" dirty="0">
                <a:latin typeface="+mn-ea"/>
              </a:rPr>
              <a:t> 사용 및 </a:t>
            </a:r>
            <a:r>
              <a:rPr lang="en-US" altLang="ko-KR" sz="900" dirty="0">
                <a:latin typeface="+mn-ea"/>
              </a:rPr>
              <a:t>2</a:t>
            </a:r>
            <a:r>
              <a:rPr lang="ko-KR" altLang="en-US" sz="900" dirty="0">
                <a:latin typeface="+mn-ea"/>
              </a:rPr>
              <a:t>인</a:t>
            </a:r>
            <a:r>
              <a:rPr lang="en-US" altLang="ko-KR" sz="900" dirty="0">
                <a:latin typeface="+mn-ea"/>
              </a:rPr>
              <a:t>1</a:t>
            </a:r>
            <a:r>
              <a:rPr lang="ko-KR" altLang="en-US" sz="900" dirty="0">
                <a:latin typeface="+mn-ea"/>
              </a:rPr>
              <a:t>조 작업</a:t>
            </a:r>
            <a:endParaRPr lang="en-US" altLang="ko-KR" sz="900" dirty="0">
              <a:latin typeface="+mn-ea"/>
            </a:endParaRPr>
          </a:p>
          <a:p>
            <a:pPr defTabSz="716967">
              <a:lnSpc>
                <a:spcPct val="150000"/>
              </a:lnSpc>
              <a:defRPr/>
            </a:pPr>
            <a:r>
              <a:rPr lang="en-US" altLang="ko-KR" sz="900" dirty="0">
                <a:latin typeface="+mn-ea"/>
              </a:rPr>
              <a:t>10. </a:t>
            </a:r>
            <a:r>
              <a:rPr lang="ko-KR" altLang="en-US" sz="900" dirty="0">
                <a:latin typeface="+mn-ea"/>
              </a:rPr>
              <a:t>안전장치 임의 제거</a:t>
            </a:r>
            <a:r>
              <a:rPr lang="en-US" altLang="ko-KR" sz="900" dirty="0">
                <a:latin typeface="+mn-ea"/>
              </a:rPr>
              <a:t>,</a:t>
            </a:r>
            <a:r>
              <a:rPr lang="ko-KR" altLang="en-US" sz="900" dirty="0">
                <a:latin typeface="+mn-ea"/>
              </a:rPr>
              <a:t>해체 금지</a:t>
            </a:r>
            <a:r>
              <a:rPr lang="en-US" altLang="ko-KR" sz="900" dirty="0">
                <a:latin typeface="+mn-ea"/>
              </a:rPr>
              <a:t>(</a:t>
            </a:r>
            <a:r>
              <a:rPr lang="ko-KR" altLang="en-US" sz="900" dirty="0">
                <a:latin typeface="+mn-ea"/>
              </a:rPr>
              <a:t>고소작업대 과상승방지봉</a:t>
            </a:r>
            <a:r>
              <a:rPr lang="en-US" altLang="ko-KR" sz="900" dirty="0">
                <a:latin typeface="+mn-ea"/>
              </a:rPr>
              <a:t>, </a:t>
            </a:r>
            <a:r>
              <a:rPr lang="ko-KR" altLang="en-US" sz="900" dirty="0">
                <a:latin typeface="+mn-ea"/>
              </a:rPr>
              <a:t>그라인더 안전</a:t>
            </a:r>
            <a:r>
              <a:rPr lang="en-US" altLang="ko-KR" sz="900" dirty="0">
                <a:latin typeface="+mn-ea"/>
              </a:rPr>
              <a:t>Cover </a:t>
            </a:r>
            <a:r>
              <a:rPr lang="ko-KR" altLang="en-US" sz="900" dirty="0">
                <a:latin typeface="+mn-ea"/>
              </a:rPr>
              <a:t>등</a:t>
            </a:r>
            <a:r>
              <a:rPr lang="en-US" altLang="ko-KR" sz="900" dirty="0">
                <a:latin typeface="+mn-ea"/>
              </a:rPr>
              <a:t>)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81CA894F-8EE3-441E-9A54-69DA7B9C1400}"/>
              </a:ext>
            </a:extLst>
          </p:cNvPr>
          <p:cNvSpPr/>
          <p:nvPr/>
        </p:nvSpPr>
        <p:spPr>
          <a:xfrm>
            <a:off x="353708" y="1814646"/>
            <a:ext cx="3671285" cy="2096045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1811" tIns="35906" rIns="71811" bIns="35906" anchor="ctr"/>
          <a:lstStyle/>
          <a:p>
            <a:endParaRPr lang="en-US" altLang="ko-KR" sz="900" dirty="0">
              <a:solidFill>
                <a:schemeClr val="tx1"/>
              </a:solidFill>
              <a:latin typeface="+mn-ea"/>
              <a:cs typeface="함초롬바탕" panose="02030604000101010101" pitchFamily="18" charset="-127"/>
            </a:endParaRPr>
          </a:p>
          <a:p>
            <a:pPr marL="128588" indent="-128588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900" dirty="0">
                <a:solidFill>
                  <a:schemeClr val="tx1"/>
                </a:solidFill>
                <a:latin typeface="+mn-ea"/>
                <a:cs typeface="함초롬바탕" panose="02030604000101010101" pitchFamily="18" charset="-127"/>
              </a:rPr>
              <a:t>부주의</a:t>
            </a:r>
            <a:r>
              <a:rPr lang="en-US" altLang="ko-KR" sz="900" dirty="0">
                <a:solidFill>
                  <a:schemeClr val="tx1"/>
                </a:solidFill>
                <a:latin typeface="+mn-ea"/>
                <a:cs typeface="함초롬바탕" panose="02030604000101010101" pitchFamily="18" charset="-127"/>
              </a:rPr>
              <a:t>(</a:t>
            </a:r>
            <a:r>
              <a:rPr lang="ko-KR" altLang="en-US" sz="900" dirty="0">
                <a:solidFill>
                  <a:schemeClr val="tx1"/>
                </a:solidFill>
                <a:latin typeface="+mn-ea"/>
                <a:cs typeface="함초롬바탕" panose="02030604000101010101" pitchFamily="18" charset="-127"/>
              </a:rPr>
              <a:t>전체 재해의 넘어짐 </a:t>
            </a:r>
            <a:r>
              <a:rPr lang="en-US" altLang="ko-KR" sz="900" dirty="0">
                <a:solidFill>
                  <a:schemeClr val="tx1"/>
                </a:solidFill>
                <a:latin typeface="+mn-ea"/>
                <a:cs typeface="함초롬바탕" panose="02030604000101010101" pitchFamily="18" charset="-127"/>
              </a:rPr>
              <a:t>54% </a:t>
            </a:r>
            <a:r>
              <a:rPr lang="ko-KR" altLang="en-US" sz="900" dirty="0">
                <a:solidFill>
                  <a:schemeClr val="tx1"/>
                </a:solidFill>
                <a:latin typeface="+mn-ea"/>
                <a:cs typeface="함초롬바탕" panose="02030604000101010101" pitchFamily="18" charset="-127"/>
              </a:rPr>
              <a:t>차지</a:t>
            </a:r>
            <a:r>
              <a:rPr lang="en-US" altLang="ko-KR" sz="900" dirty="0">
                <a:solidFill>
                  <a:schemeClr val="tx1"/>
                </a:solidFill>
                <a:latin typeface="+mn-ea"/>
                <a:cs typeface="함초롬바탕" panose="02030604000101010101" pitchFamily="18" charset="-127"/>
              </a:rPr>
              <a:t>)</a:t>
            </a:r>
            <a:r>
              <a:rPr lang="ko-KR" altLang="en-US" sz="900" dirty="0">
                <a:solidFill>
                  <a:schemeClr val="tx1"/>
                </a:solidFill>
                <a:latin typeface="+mn-ea"/>
                <a:cs typeface="함초롬바탕" panose="02030604000101010101" pitchFamily="18" charset="-127"/>
              </a:rPr>
              <a:t>에 의한 재해 다수 발생</a:t>
            </a:r>
            <a:endParaRPr lang="en-US" altLang="ko-KR" sz="900" dirty="0">
              <a:solidFill>
                <a:schemeClr val="tx1"/>
              </a:solidFill>
              <a:latin typeface="+mn-ea"/>
              <a:cs typeface="함초롬바탕" panose="02030604000101010101" pitchFamily="18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900" dirty="0">
                <a:solidFill>
                  <a:schemeClr val="tx1"/>
                </a:solidFill>
                <a:latin typeface="+mn-ea"/>
                <a:cs typeface="함초롬바탕" panose="02030604000101010101" pitchFamily="18" charset="-127"/>
              </a:rPr>
              <a:t>   </a:t>
            </a:r>
            <a:r>
              <a:rPr lang="en-US" altLang="ko-KR" sz="900" dirty="0">
                <a:solidFill>
                  <a:schemeClr val="tx1"/>
                </a:solidFill>
                <a:latin typeface="+mn-ea"/>
                <a:cs typeface="함초롬바탕" panose="02030604000101010101" pitchFamily="18" charset="-127"/>
              </a:rPr>
              <a:t>- </a:t>
            </a:r>
            <a:r>
              <a:rPr lang="ko-KR" altLang="en-US" sz="900" dirty="0">
                <a:solidFill>
                  <a:schemeClr val="tx1"/>
                </a:solidFill>
                <a:latin typeface="+mn-ea"/>
                <a:cs typeface="함초롬바탕" panose="02030604000101010101" pitchFamily="18" charset="-127"/>
              </a:rPr>
              <a:t>정리정돈 불량</a:t>
            </a:r>
            <a:r>
              <a:rPr lang="en-US" altLang="ko-KR" sz="900" dirty="0">
                <a:solidFill>
                  <a:schemeClr val="tx1"/>
                </a:solidFill>
                <a:latin typeface="+mn-ea"/>
                <a:cs typeface="함초롬바탕" panose="02030604000101010101" pitchFamily="18" charset="-127"/>
              </a:rPr>
              <a:t>, </a:t>
            </a:r>
            <a:r>
              <a:rPr lang="ko-KR" altLang="en-US" sz="900" dirty="0">
                <a:solidFill>
                  <a:schemeClr val="tx1"/>
                </a:solidFill>
                <a:latin typeface="+mn-ea"/>
                <a:cs typeface="함초롬바탕" panose="02030604000101010101" pitchFamily="18" charset="-127"/>
              </a:rPr>
              <a:t>형틀</a:t>
            </a:r>
            <a:r>
              <a:rPr lang="en-US" altLang="ko-KR" sz="900" dirty="0">
                <a:solidFill>
                  <a:schemeClr val="tx1"/>
                </a:solidFill>
                <a:latin typeface="+mn-ea"/>
                <a:cs typeface="함초롬바탕" panose="02030604000101010101" pitchFamily="18" charset="-127"/>
              </a:rPr>
              <a:t>/</a:t>
            </a:r>
            <a:r>
              <a:rPr lang="ko-KR" altLang="en-US" sz="900" dirty="0">
                <a:solidFill>
                  <a:schemeClr val="tx1"/>
                </a:solidFill>
                <a:latin typeface="+mn-ea"/>
                <a:cs typeface="함초롬바탕" panose="02030604000101010101" pitchFamily="18" charset="-127"/>
              </a:rPr>
              <a:t>철근</a:t>
            </a:r>
            <a:r>
              <a:rPr lang="en-US" altLang="ko-KR" sz="900" dirty="0">
                <a:solidFill>
                  <a:schemeClr val="tx1"/>
                </a:solidFill>
                <a:latin typeface="+mn-ea"/>
                <a:cs typeface="함초롬바탕" panose="02030604000101010101" pitchFamily="18" charset="-127"/>
              </a:rPr>
              <a:t>, </a:t>
            </a:r>
            <a:r>
              <a:rPr lang="ko-KR" altLang="en-US" sz="900" dirty="0">
                <a:solidFill>
                  <a:schemeClr val="tx1"/>
                </a:solidFill>
                <a:latin typeface="+mn-ea"/>
                <a:cs typeface="함초롬바탕" panose="02030604000101010101" pitchFamily="18" charset="-127"/>
              </a:rPr>
              <a:t>계단 등 </a:t>
            </a:r>
            <a:r>
              <a:rPr lang="ko-KR" altLang="en-US" sz="900" dirty="0" err="1">
                <a:solidFill>
                  <a:schemeClr val="tx1"/>
                </a:solidFill>
                <a:latin typeface="+mn-ea"/>
                <a:cs typeface="함초롬바탕" panose="02030604000101010101" pitchFamily="18" charset="-127"/>
              </a:rPr>
              <a:t>보행시</a:t>
            </a:r>
            <a:r>
              <a:rPr lang="en-US" altLang="ko-KR" sz="900" dirty="0">
                <a:solidFill>
                  <a:schemeClr val="tx1"/>
                </a:solidFill>
                <a:latin typeface="+mn-ea"/>
                <a:cs typeface="함초롬바탕" panose="02030604000101010101" pitchFamily="18" charset="-127"/>
              </a:rPr>
              <a:t>, </a:t>
            </a:r>
            <a:r>
              <a:rPr lang="ko-KR" altLang="en-US" sz="900" dirty="0">
                <a:solidFill>
                  <a:schemeClr val="tx1"/>
                </a:solidFill>
                <a:latin typeface="+mn-ea"/>
                <a:cs typeface="함초롬바탕" panose="02030604000101010101" pitchFamily="18" charset="-127"/>
              </a:rPr>
              <a:t>사다리 미끄러짐</a:t>
            </a:r>
            <a:endParaRPr lang="en-US" altLang="ko-KR" sz="900" dirty="0">
              <a:solidFill>
                <a:schemeClr val="tx1"/>
              </a:solidFill>
              <a:latin typeface="+mn-ea"/>
              <a:cs typeface="함초롬바탕" panose="02030604000101010101" pitchFamily="18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900" dirty="0">
                <a:solidFill>
                  <a:schemeClr val="tx1"/>
                </a:solidFill>
                <a:latin typeface="+mn-ea"/>
                <a:cs typeface="함초롬바탕" panose="02030604000101010101" pitchFamily="18" charset="-127"/>
              </a:rPr>
              <a:t>   - </a:t>
            </a:r>
            <a:r>
              <a:rPr lang="ko-KR" altLang="en-US" sz="900" dirty="0">
                <a:solidFill>
                  <a:schemeClr val="tx1"/>
                </a:solidFill>
                <a:latin typeface="+mn-ea"/>
                <a:cs typeface="함초롬바탕" panose="02030604000101010101" pitchFamily="18" charset="-127"/>
              </a:rPr>
              <a:t>고소작업대 작업위치 불량</a:t>
            </a:r>
            <a:r>
              <a:rPr lang="en-US" altLang="ko-KR" sz="900" dirty="0">
                <a:solidFill>
                  <a:schemeClr val="tx1"/>
                </a:solidFill>
                <a:latin typeface="+mn-ea"/>
                <a:cs typeface="함초롬바탕" panose="02030604000101010101" pitchFamily="18" charset="-127"/>
              </a:rPr>
              <a:t>(</a:t>
            </a:r>
            <a:r>
              <a:rPr lang="ko-KR" altLang="en-US" sz="900" dirty="0">
                <a:solidFill>
                  <a:schemeClr val="tx1"/>
                </a:solidFill>
                <a:latin typeface="+mn-ea"/>
                <a:cs typeface="함초롬바탕" panose="02030604000101010101" pitchFamily="18" charset="-127"/>
              </a:rPr>
              <a:t>전도 위험</a:t>
            </a:r>
            <a:r>
              <a:rPr lang="en-US" altLang="ko-KR" sz="900" dirty="0">
                <a:solidFill>
                  <a:schemeClr val="tx1"/>
                </a:solidFill>
                <a:latin typeface="+mn-ea"/>
                <a:cs typeface="함초롬바탕" panose="02030604000101010101" pitchFamily="18" charset="-127"/>
              </a:rPr>
              <a:t>)</a:t>
            </a:r>
          </a:p>
          <a:p>
            <a:pPr marL="128588" indent="-128588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900" dirty="0">
                <a:solidFill>
                  <a:schemeClr val="tx1"/>
                </a:solidFill>
                <a:latin typeface="+mn-ea"/>
                <a:cs typeface="함초롬바탕" panose="02030604000101010101" pitchFamily="18" charset="-127"/>
              </a:rPr>
              <a:t>근로자의 숙련도</a:t>
            </a:r>
            <a:r>
              <a:rPr lang="en-US" altLang="ko-KR" sz="900" dirty="0">
                <a:solidFill>
                  <a:schemeClr val="tx1"/>
                </a:solidFill>
                <a:latin typeface="+mn-ea"/>
                <a:cs typeface="함초롬바탕" panose="02030604000101010101" pitchFamily="18" charset="-127"/>
              </a:rPr>
              <a:t>(</a:t>
            </a:r>
            <a:r>
              <a:rPr lang="ko-KR" altLang="en-US" sz="900" dirty="0">
                <a:solidFill>
                  <a:schemeClr val="tx1"/>
                </a:solidFill>
                <a:latin typeface="+mn-ea"/>
                <a:cs typeface="함초롬바탕" panose="02030604000101010101" pitchFamily="18" charset="-127"/>
              </a:rPr>
              <a:t>미숙련자</a:t>
            </a:r>
            <a:r>
              <a:rPr lang="en-US" altLang="ko-KR" sz="900" dirty="0">
                <a:solidFill>
                  <a:schemeClr val="tx1"/>
                </a:solidFill>
                <a:latin typeface="+mn-ea"/>
                <a:cs typeface="함초롬바탕" panose="02030604000101010101" pitchFamily="18" charset="-127"/>
              </a:rPr>
              <a:t>, </a:t>
            </a:r>
            <a:r>
              <a:rPr lang="ko-KR" altLang="en-US" sz="900" dirty="0">
                <a:solidFill>
                  <a:schemeClr val="tx1"/>
                </a:solidFill>
                <a:latin typeface="+mn-ea"/>
                <a:cs typeface="함초롬바탕" panose="02030604000101010101" pitchFamily="18" charset="-127"/>
              </a:rPr>
              <a:t>경험</a:t>
            </a:r>
            <a:r>
              <a:rPr lang="en-US" altLang="ko-KR" sz="900" dirty="0">
                <a:solidFill>
                  <a:schemeClr val="tx1"/>
                </a:solidFill>
                <a:latin typeface="+mn-ea"/>
                <a:cs typeface="함초롬바탕" panose="02030604000101010101" pitchFamily="18" charset="-127"/>
              </a:rPr>
              <a:t>, </a:t>
            </a:r>
            <a:r>
              <a:rPr lang="ko-KR" altLang="en-US" sz="900" dirty="0">
                <a:solidFill>
                  <a:schemeClr val="tx1"/>
                </a:solidFill>
                <a:latin typeface="+mn-ea"/>
                <a:cs typeface="함초롬바탕" panose="02030604000101010101" pitchFamily="18" charset="-127"/>
              </a:rPr>
              <a:t>역량</a:t>
            </a:r>
            <a:r>
              <a:rPr lang="en-US" altLang="ko-KR" sz="900" dirty="0">
                <a:solidFill>
                  <a:schemeClr val="tx1"/>
                </a:solidFill>
                <a:latin typeface="+mn-ea"/>
                <a:cs typeface="함초롬바탕" panose="02030604000101010101" pitchFamily="18" charset="-127"/>
              </a:rPr>
              <a:t>)</a:t>
            </a:r>
            <a:r>
              <a:rPr lang="ko-KR" altLang="en-US" sz="900" dirty="0">
                <a:solidFill>
                  <a:schemeClr val="tx1"/>
                </a:solidFill>
                <a:latin typeface="+mn-ea"/>
                <a:cs typeface="함초롬바탕" panose="02030604000101010101" pitchFamily="18" charset="-127"/>
              </a:rPr>
              <a:t>와 배제된 부적절한 지시 </a:t>
            </a:r>
            <a:endParaRPr lang="en-US" altLang="ko-KR" sz="900" dirty="0">
              <a:solidFill>
                <a:schemeClr val="tx1"/>
              </a:solidFill>
              <a:latin typeface="+mn-ea"/>
              <a:cs typeface="함초롬바탕" panose="02030604000101010101" pitchFamily="18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900" dirty="0">
                <a:solidFill>
                  <a:schemeClr val="tx1"/>
                </a:solidFill>
                <a:latin typeface="+mn-ea"/>
                <a:cs typeface="함초롬바탕" panose="02030604000101010101" pitchFamily="18" charset="-127"/>
              </a:rPr>
              <a:t>    - </a:t>
            </a:r>
            <a:r>
              <a:rPr lang="ko-KR" altLang="en-US" sz="900" dirty="0">
                <a:solidFill>
                  <a:schemeClr val="tx1"/>
                </a:solidFill>
                <a:latin typeface="+mn-ea"/>
                <a:cs typeface="함초롬바탕" panose="02030604000101010101" pitchFamily="18" charset="-127"/>
              </a:rPr>
              <a:t>작업내용</a:t>
            </a:r>
            <a:r>
              <a:rPr lang="en-US" altLang="ko-KR" sz="900" dirty="0">
                <a:solidFill>
                  <a:schemeClr val="tx1"/>
                </a:solidFill>
                <a:latin typeface="+mn-ea"/>
                <a:cs typeface="함초롬바탕" panose="02030604000101010101" pitchFamily="18" charset="-127"/>
              </a:rPr>
              <a:t>, </a:t>
            </a:r>
            <a:r>
              <a:rPr lang="ko-KR" altLang="en-US" sz="900" dirty="0">
                <a:solidFill>
                  <a:schemeClr val="tx1"/>
                </a:solidFill>
                <a:latin typeface="+mn-ea"/>
                <a:cs typeface="함초롬바탕" panose="02030604000101010101" pitchFamily="18" charset="-127"/>
              </a:rPr>
              <a:t>방법 및 위험요인에 대한 인식 교육 부족</a:t>
            </a:r>
            <a:endParaRPr lang="en-US" altLang="ko-KR" sz="900" dirty="0">
              <a:solidFill>
                <a:schemeClr val="tx1"/>
              </a:solidFill>
              <a:latin typeface="+mn-ea"/>
              <a:cs typeface="함초롬바탕" panose="02030604000101010101" pitchFamily="18" charset="-127"/>
            </a:endParaRPr>
          </a:p>
          <a:p>
            <a:pPr marL="128588" indent="-128588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900" dirty="0">
                <a:solidFill>
                  <a:schemeClr val="tx1"/>
                </a:solidFill>
                <a:latin typeface="+mn-ea"/>
                <a:cs typeface="함초롬바탕" panose="02030604000101010101" pitchFamily="18" charset="-127"/>
              </a:rPr>
              <a:t>노동부 통계</a:t>
            </a:r>
            <a:r>
              <a:rPr lang="en-US" altLang="ko-KR" sz="900" dirty="0">
                <a:solidFill>
                  <a:schemeClr val="tx1"/>
                </a:solidFill>
                <a:latin typeface="+mn-ea"/>
                <a:cs typeface="함초롬바탕" panose="02030604000101010101" pitchFamily="18" charset="-127"/>
              </a:rPr>
              <a:t>, </a:t>
            </a:r>
            <a:r>
              <a:rPr lang="ko-KR" altLang="en-US" sz="900" dirty="0">
                <a:solidFill>
                  <a:schemeClr val="tx1"/>
                </a:solidFill>
                <a:latin typeface="+mn-ea"/>
                <a:cs typeface="함초롬바탕" panose="02030604000101010101" pitchFamily="18" charset="-127"/>
              </a:rPr>
              <a:t>건설현장 추락 사망사고 증가</a:t>
            </a:r>
            <a:r>
              <a:rPr lang="en-US" altLang="ko-KR" sz="900" dirty="0">
                <a:solidFill>
                  <a:schemeClr val="tx1"/>
                </a:solidFill>
                <a:latin typeface="+mn-ea"/>
                <a:cs typeface="함초롬바탕" panose="02030604000101010101" pitchFamily="18" charset="-127"/>
              </a:rPr>
              <a:t>(</a:t>
            </a:r>
            <a:r>
              <a:rPr lang="ko-KR" altLang="en-US" sz="900" dirty="0">
                <a:solidFill>
                  <a:schemeClr val="tx1"/>
                </a:solidFill>
                <a:latin typeface="+mn-ea"/>
                <a:cs typeface="함초롬바탕" panose="02030604000101010101" pitchFamily="18" charset="-127"/>
              </a:rPr>
              <a:t>전체 </a:t>
            </a:r>
            <a:r>
              <a:rPr lang="en-US" altLang="ko-KR" sz="900" dirty="0">
                <a:solidFill>
                  <a:schemeClr val="tx1"/>
                </a:solidFill>
                <a:latin typeface="+mn-ea"/>
                <a:cs typeface="함초롬바탕" panose="02030604000101010101" pitchFamily="18" charset="-127"/>
              </a:rPr>
              <a:t>45% </a:t>
            </a:r>
            <a:r>
              <a:rPr lang="ko-KR" altLang="en-US" sz="900" dirty="0">
                <a:solidFill>
                  <a:schemeClr val="tx1"/>
                </a:solidFill>
                <a:latin typeface="+mn-ea"/>
                <a:cs typeface="함초롬바탕" panose="02030604000101010101" pitchFamily="18" charset="-127"/>
              </a:rPr>
              <a:t>이상 차지</a:t>
            </a:r>
            <a:r>
              <a:rPr lang="en-US" altLang="ko-KR" sz="900" dirty="0">
                <a:solidFill>
                  <a:schemeClr val="tx1"/>
                </a:solidFill>
                <a:latin typeface="+mn-ea"/>
                <a:cs typeface="함초롬바탕" panose="02030604000101010101" pitchFamily="18" charset="-127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900" dirty="0">
                <a:solidFill>
                  <a:schemeClr val="tx1"/>
                </a:solidFill>
                <a:latin typeface="+mn-ea"/>
                <a:cs typeface="함초롬바탕" panose="02030604000101010101" pitchFamily="18" charset="-127"/>
              </a:rPr>
              <a:t>    - </a:t>
            </a:r>
            <a:r>
              <a:rPr lang="ko-KR" altLang="en-US" sz="900" dirty="0">
                <a:solidFill>
                  <a:schemeClr val="tx1"/>
                </a:solidFill>
                <a:latin typeface="+mn-ea"/>
                <a:cs typeface="함초롬바탕" panose="02030604000101010101" pitchFamily="18" charset="-127"/>
              </a:rPr>
              <a:t>고소작업시 </a:t>
            </a:r>
            <a:r>
              <a:rPr lang="ko-KR" altLang="en-US" sz="900" dirty="0" err="1">
                <a:solidFill>
                  <a:schemeClr val="tx1"/>
                </a:solidFill>
                <a:latin typeface="+mn-ea"/>
                <a:cs typeface="함초롬바탕" panose="02030604000101010101" pitchFamily="18" charset="-127"/>
              </a:rPr>
              <a:t>안전밸트</a:t>
            </a:r>
            <a:r>
              <a:rPr lang="ko-KR" altLang="en-US" sz="900" dirty="0">
                <a:solidFill>
                  <a:schemeClr val="tx1"/>
                </a:solidFill>
                <a:latin typeface="+mn-ea"/>
                <a:cs typeface="함초롬바탕" panose="02030604000101010101" pitchFamily="18" charset="-127"/>
              </a:rPr>
              <a:t> </a:t>
            </a:r>
            <a:r>
              <a:rPr lang="ko-KR" altLang="en-US" sz="900" dirty="0" err="1">
                <a:solidFill>
                  <a:schemeClr val="tx1"/>
                </a:solidFill>
                <a:latin typeface="+mn-ea"/>
                <a:cs typeface="함초롬바탕" panose="02030604000101010101" pitchFamily="18" charset="-127"/>
              </a:rPr>
              <a:t>걸이대</a:t>
            </a:r>
            <a:r>
              <a:rPr lang="ko-KR" altLang="en-US" sz="900" dirty="0">
                <a:solidFill>
                  <a:schemeClr val="tx1"/>
                </a:solidFill>
                <a:latin typeface="+mn-ea"/>
                <a:cs typeface="함초롬바탕" panose="02030604000101010101" pitchFamily="18" charset="-127"/>
              </a:rPr>
              <a:t> </a:t>
            </a:r>
            <a:r>
              <a:rPr lang="ko-KR" altLang="en-US" sz="900" dirty="0" err="1">
                <a:solidFill>
                  <a:schemeClr val="tx1"/>
                </a:solidFill>
                <a:latin typeface="+mn-ea"/>
                <a:cs typeface="함초롬바탕" panose="02030604000101010101" pitchFamily="18" charset="-127"/>
              </a:rPr>
              <a:t>미사용</a:t>
            </a:r>
            <a:r>
              <a:rPr lang="ko-KR" altLang="en-US" sz="900" dirty="0">
                <a:solidFill>
                  <a:schemeClr val="tx1"/>
                </a:solidFill>
                <a:latin typeface="+mn-ea"/>
                <a:cs typeface="함초롬바탕" panose="02030604000101010101" pitchFamily="18" charset="-127"/>
              </a:rPr>
              <a:t> 등 추락예방 조치 불량</a:t>
            </a:r>
            <a:endParaRPr lang="en-US" altLang="ko-KR" sz="900" dirty="0">
              <a:solidFill>
                <a:schemeClr val="tx1"/>
              </a:solidFill>
              <a:latin typeface="+mn-ea"/>
              <a:cs typeface="함초롬바탕" panose="02030604000101010101" pitchFamily="18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900" dirty="0">
                <a:solidFill>
                  <a:schemeClr val="tx1"/>
                </a:solidFill>
                <a:latin typeface="+mn-ea"/>
                <a:cs typeface="함초롬바탕" panose="02030604000101010101" pitchFamily="18" charset="-127"/>
              </a:rPr>
              <a:t>    - </a:t>
            </a:r>
            <a:r>
              <a:rPr lang="ko-KR" altLang="en-US" sz="900" dirty="0">
                <a:solidFill>
                  <a:schemeClr val="tx1"/>
                </a:solidFill>
                <a:latin typeface="+mn-ea"/>
                <a:cs typeface="함초롬바탕" panose="02030604000101010101" pitchFamily="18" charset="-127"/>
              </a:rPr>
              <a:t>사다리 </a:t>
            </a:r>
            <a:r>
              <a:rPr lang="en-US" altLang="ko-KR" sz="900" dirty="0">
                <a:solidFill>
                  <a:schemeClr val="tx1"/>
                </a:solidFill>
                <a:latin typeface="+mn-ea"/>
                <a:cs typeface="함초롬바탕" panose="02030604000101010101" pitchFamily="18" charset="-127"/>
              </a:rPr>
              <a:t>2</a:t>
            </a:r>
            <a:r>
              <a:rPr lang="ko-KR" altLang="en-US" sz="900" dirty="0">
                <a:solidFill>
                  <a:schemeClr val="tx1"/>
                </a:solidFill>
                <a:latin typeface="+mn-ea"/>
                <a:cs typeface="함초롬바탕" panose="02030604000101010101" pitchFamily="18" charset="-127"/>
              </a:rPr>
              <a:t>인</a:t>
            </a:r>
            <a:r>
              <a:rPr lang="en-US" altLang="ko-KR" sz="900" dirty="0">
                <a:solidFill>
                  <a:schemeClr val="tx1"/>
                </a:solidFill>
                <a:latin typeface="+mn-ea"/>
                <a:cs typeface="함초롬바탕" panose="02030604000101010101" pitchFamily="18" charset="-127"/>
              </a:rPr>
              <a:t>1</a:t>
            </a:r>
            <a:r>
              <a:rPr lang="ko-KR" altLang="en-US" sz="900" dirty="0">
                <a:solidFill>
                  <a:schemeClr val="tx1"/>
                </a:solidFill>
                <a:latin typeface="+mn-ea"/>
                <a:cs typeface="함초롬바탕" panose="02030604000101010101" pitchFamily="18" charset="-127"/>
              </a:rPr>
              <a:t>조 </a:t>
            </a:r>
            <a:r>
              <a:rPr lang="ko-KR" altLang="en-US" sz="900" dirty="0" err="1">
                <a:solidFill>
                  <a:schemeClr val="tx1"/>
                </a:solidFill>
                <a:latin typeface="+mn-ea"/>
                <a:cs typeface="함초롬바탕" panose="02030604000101010101" pitchFamily="18" charset="-127"/>
              </a:rPr>
              <a:t>미시행</a:t>
            </a:r>
            <a:r>
              <a:rPr lang="ko-KR" altLang="en-US" sz="900" dirty="0">
                <a:solidFill>
                  <a:schemeClr val="tx1"/>
                </a:solidFill>
                <a:latin typeface="+mn-ea"/>
                <a:cs typeface="함초롬바탕" panose="02030604000101010101" pitchFamily="18" charset="-127"/>
              </a:rPr>
              <a:t> 및 </a:t>
            </a:r>
            <a:r>
              <a:rPr lang="ko-KR" altLang="en-US" sz="900" dirty="0" err="1">
                <a:solidFill>
                  <a:schemeClr val="tx1"/>
                </a:solidFill>
                <a:latin typeface="+mn-ea"/>
                <a:cs typeface="함초롬바탕" panose="02030604000101010101" pitchFamily="18" charset="-127"/>
              </a:rPr>
              <a:t>아웃트리거</a:t>
            </a:r>
            <a:r>
              <a:rPr lang="ko-KR" altLang="en-US" sz="900" dirty="0">
                <a:solidFill>
                  <a:schemeClr val="tx1"/>
                </a:solidFill>
                <a:latin typeface="+mn-ea"/>
                <a:cs typeface="함초롬바탕" panose="02030604000101010101" pitchFamily="18" charset="-127"/>
              </a:rPr>
              <a:t> </a:t>
            </a:r>
            <a:r>
              <a:rPr lang="ko-KR" altLang="en-US" sz="900" dirty="0" err="1">
                <a:solidFill>
                  <a:schemeClr val="tx1"/>
                </a:solidFill>
                <a:latin typeface="+mn-ea"/>
                <a:cs typeface="함초롬바탕" panose="02030604000101010101" pitchFamily="18" charset="-127"/>
              </a:rPr>
              <a:t>미사용</a:t>
            </a:r>
            <a:r>
              <a:rPr lang="ko-KR" altLang="en-US" sz="900" dirty="0">
                <a:solidFill>
                  <a:schemeClr val="tx1"/>
                </a:solidFill>
                <a:latin typeface="+mn-ea"/>
                <a:cs typeface="함초롬바탕" panose="02030604000101010101" pitchFamily="18" charset="-127"/>
              </a:rPr>
              <a:t> 등</a:t>
            </a:r>
            <a:endParaRPr lang="en-US" altLang="ko-KR" sz="900" dirty="0">
              <a:solidFill>
                <a:schemeClr val="tx1"/>
              </a:solidFill>
              <a:latin typeface="+mn-ea"/>
              <a:cs typeface="함초롬바탕" panose="02030604000101010101" pitchFamily="18" charset="-127"/>
            </a:endParaRPr>
          </a:p>
          <a:p>
            <a:pPr marL="128588" indent="-128588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900" dirty="0">
                <a:solidFill>
                  <a:schemeClr val="tx1"/>
                </a:solidFill>
                <a:latin typeface="+mn-ea"/>
                <a:cs typeface="함초롬바탕" panose="02030604000101010101" pitchFamily="18" charset="-127"/>
              </a:rPr>
              <a:t>전동 </a:t>
            </a:r>
            <a:r>
              <a:rPr lang="ko-KR" altLang="en-US" sz="900" dirty="0" err="1">
                <a:solidFill>
                  <a:schemeClr val="tx1"/>
                </a:solidFill>
                <a:latin typeface="+mn-ea"/>
                <a:cs typeface="함초롬바탕" panose="02030604000101010101" pitchFamily="18" charset="-127"/>
              </a:rPr>
              <a:t>공구류</a:t>
            </a:r>
            <a:r>
              <a:rPr lang="ko-KR" altLang="en-US" sz="900" dirty="0">
                <a:solidFill>
                  <a:schemeClr val="tx1"/>
                </a:solidFill>
                <a:latin typeface="+mn-ea"/>
                <a:cs typeface="함초롬바탕" panose="02030604000101010101" pitchFamily="18" charset="-127"/>
              </a:rPr>
              <a:t> 사용시 부주의 </a:t>
            </a:r>
            <a:r>
              <a:rPr lang="en-US" altLang="ko-KR" sz="900" dirty="0">
                <a:solidFill>
                  <a:schemeClr val="tx1"/>
                </a:solidFill>
                <a:latin typeface="+mn-ea"/>
                <a:cs typeface="함초롬바탕" panose="02030604000101010101" pitchFamily="18" charset="-127"/>
              </a:rPr>
              <a:t>/ </a:t>
            </a:r>
            <a:r>
              <a:rPr lang="ko-KR" altLang="en-US" sz="900" dirty="0" err="1">
                <a:solidFill>
                  <a:schemeClr val="tx1"/>
                </a:solidFill>
                <a:latin typeface="+mn-ea"/>
                <a:cs typeface="함초롬바탕" panose="02030604000101010101" pitchFamily="18" charset="-127"/>
              </a:rPr>
              <a:t>중량물</a:t>
            </a:r>
            <a:r>
              <a:rPr lang="ko-KR" altLang="en-US" sz="900" dirty="0">
                <a:solidFill>
                  <a:schemeClr val="tx1"/>
                </a:solidFill>
                <a:latin typeface="+mn-ea"/>
                <a:cs typeface="함초롬바탕" panose="02030604000101010101" pitchFamily="18" charset="-127"/>
              </a:rPr>
              <a:t> </a:t>
            </a:r>
            <a:r>
              <a:rPr lang="ko-KR" altLang="en-US" sz="900" dirty="0" err="1">
                <a:solidFill>
                  <a:schemeClr val="tx1"/>
                </a:solidFill>
                <a:latin typeface="+mn-ea"/>
                <a:cs typeface="함초롬바탕" panose="02030604000101010101" pitchFamily="18" charset="-127"/>
              </a:rPr>
              <a:t>취급시</a:t>
            </a:r>
            <a:r>
              <a:rPr lang="ko-KR" altLang="en-US" sz="900" dirty="0">
                <a:solidFill>
                  <a:schemeClr val="tx1"/>
                </a:solidFill>
                <a:latin typeface="+mn-ea"/>
                <a:cs typeface="함초롬바탕" panose="02030604000101010101" pitchFamily="18" charset="-127"/>
              </a:rPr>
              <a:t> 무리한 동작 금지</a:t>
            </a:r>
            <a:endParaRPr lang="en-US" altLang="ko-KR" sz="900" dirty="0">
              <a:solidFill>
                <a:schemeClr val="tx1"/>
              </a:solidFill>
              <a:latin typeface="+mn-ea"/>
              <a:cs typeface="함초롬바탕" panose="02030604000101010101" pitchFamily="18" charset="-127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E646DDCF-1A0C-4876-B4C0-5148731F8067}"/>
              </a:ext>
            </a:extLst>
          </p:cNvPr>
          <p:cNvSpPr/>
          <p:nvPr/>
        </p:nvSpPr>
        <p:spPr>
          <a:xfrm>
            <a:off x="355840" y="1364771"/>
            <a:ext cx="1572164" cy="24585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50" b="1" dirty="0">
                <a:solidFill>
                  <a:schemeClr val="tx1"/>
                </a:solidFill>
                <a:latin typeface="+mn-ea"/>
              </a:rPr>
              <a:t>[</a:t>
            </a:r>
            <a:r>
              <a:rPr lang="ko-KR" altLang="en-US" sz="1350" b="1" dirty="0">
                <a:solidFill>
                  <a:schemeClr val="tx1"/>
                </a:solidFill>
                <a:latin typeface="+mn-ea"/>
              </a:rPr>
              <a:t>우리의 현실</a:t>
            </a:r>
            <a:r>
              <a:rPr lang="en-US" altLang="ko-KR" sz="1350" b="1" dirty="0">
                <a:solidFill>
                  <a:schemeClr val="tx1"/>
                </a:solidFill>
                <a:latin typeface="+mn-ea"/>
              </a:rPr>
              <a:t>]</a:t>
            </a:r>
            <a:endParaRPr lang="ko-KR" altLang="en-US" sz="135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52C558A3-7E23-4C9D-AFDF-47BE800A5808}"/>
              </a:ext>
            </a:extLst>
          </p:cNvPr>
          <p:cNvSpPr/>
          <p:nvPr/>
        </p:nvSpPr>
        <p:spPr>
          <a:xfrm>
            <a:off x="355839" y="1683177"/>
            <a:ext cx="1775039" cy="24585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chemeClr val="tx1"/>
                </a:solidFill>
                <a:latin typeface="+mn-ea"/>
              </a:rPr>
              <a:t>지속적인 부적합</a:t>
            </a:r>
            <a:r>
              <a:rPr lang="en-US" altLang="ko-KR" sz="1000" b="1" dirty="0">
                <a:solidFill>
                  <a:schemeClr val="tx1"/>
                </a:solidFill>
                <a:latin typeface="+mn-ea"/>
              </a:rPr>
              <a:t>/ </a:t>
            </a:r>
            <a:r>
              <a:rPr lang="ko-KR" altLang="en-US" sz="1000" b="1" dirty="0">
                <a:solidFill>
                  <a:schemeClr val="tx1"/>
                </a:solidFill>
                <a:latin typeface="+mn-ea"/>
              </a:rPr>
              <a:t>이슈사항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13D511DE-CE0D-4FAC-BE7C-2CBAB16E5DAC}"/>
              </a:ext>
            </a:extLst>
          </p:cNvPr>
          <p:cNvSpPr/>
          <p:nvPr/>
        </p:nvSpPr>
        <p:spPr>
          <a:xfrm>
            <a:off x="345982" y="4009233"/>
            <a:ext cx="1423358" cy="24585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25" b="1" dirty="0">
                <a:solidFill>
                  <a:schemeClr val="tx1"/>
                </a:solidFill>
                <a:latin typeface="+mn-ea"/>
              </a:rPr>
              <a:t>최근 </a:t>
            </a:r>
            <a:r>
              <a:rPr lang="en-US" altLang="ko-KR" sz="825" b="1" dirty="0">
                <a:solidFill>
                  <a:schemeClr val="tx1"/>
                </a:solidFill>
                <a:latin typeface="+mn-ea"/>
              </a:rPr>
              <a:t>3</a:t>
            </a:r>
            <a:r>
              <a:rPr lang="ko-KR" altLang="en-US" sz="825" b="1" dirty="0">
                <a:solidFill>
                  <a:schemeClr val="tx1"/>
                </a:solidFill>
                <a:latin typeface="+mn-ea"/>
              </a:rPr>
              <a:t>년간 재해분석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DBC003A2-6467-485A-BA4C-2E593F3ECB01}"/>
              </a:ext>
            </a:extLst>
          </p:cNvPr>
          <p:cNvSpPr/>
          <p:nvPr/>
        </p:nvSpPr>
        <p:spPr>
          <a:xfrm>
            <a:off x="4437369" y="1358301"/>
            <a:ext cx="1771960" cy="245853"/>
          </a:xfrm>
          <a:prstGeom prst="rect">
            <a:avLst/>
          </a:prstGeom>
          <a:solidFill>
            <a:srgbClr val="0000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50" b="1" dirty="0">
                <a:latin typeface="+mn-ea"/>
              </a:rPr>
              <a:t>[</a:t>
            </a:r>
            <a:r>
              <a:rPr lang="ko-KR" altLang="en-US" sz="1350" b="1" dirty="0">
                <a:latin typeface="+mn-ea"/>
              </a:rPr>
              <a:t>안전관리 당부사항</a:t>
            </a:r>
            <a:r>
              <a:rPr lang="en-US" altLang="ko-KR" sz="1350" b="1" dirty="0">
                <a:latin typeface="+mn-ea"/>
              </a:rPr>
              <a:t>]</a:t>
            </a:r>
            <a:endParaRPr lang="ko-KR" altLang="en-US" sz="1350" b="1" dirty="0">
              <a:latin typeface="+mn-ea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BE6D37FA-F20E-4C91-B860-FF18BC6CCA71}"/>
              </a:ext>
            </a:extLst>
          </p:cNvPr>
          <p:cNvSpPr/>
          <p:nvPr/>
        </p:nvSpPr>
        <p:spPr>
          <a:xfrm>
            <a:off x="4430899" y="1676711"/>
            <a:ext cx="1698406" cy="245853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chemeClr val="bg1"/>
                </a:solidFill>
                <a:latin typeface="+mn-ea"/>
              </a:rPr>
              <a:t>기본 안전수칙 준수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670A8980-B09B-443D-BE1D-8237D8FFDF05}"/>
              </a:ext>
            </a:extLst>
          </p:cNvPr>
          <p:cNvSpPr/>
          <p:nvPr/>
        </p:nvSpPr>
        <p:spPr>
          <a:xfrm>
            <a:off x="4446919" y="4544993"/>
            <a:ext cx="1586488" cy="24585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rgbClr val="FF0000"/>
                </a:solidFill>
                <a:latin typeface="+mn-ea"/>
              </a:rPr>
              <a:t>이것만은 안돼</a:t>
            </a:r>
            <a:r>
              <a:rPr lang="en-US" altLang="ko-KR" sz="1200" b="1" dirty="0">
                <a:solidFill>
                  <a:srgbClr val="FF0000"/>
                </a:solidFill>
                <a:latin typeface="+mn-ea"/>
              </a:rPr>
              <a:t>!</a:t>
            </a:r>
            <a:endParaRPr lang="ko-KR" altLang="en-US" sz="12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30" name="화살표: 오른쪽 29">
            <a:extLst>
              <a:ext uri="{FF2B5EF4-FFF2-40B4-BE49-F238E27FC236}">
                <a16:creationId xmlns:a16="http://schemas.microsoft.com/office/drawing/2014/main" id="{604D1AA0-DAF6-4E69-B38A-1857105E2370}"/>
              </a:ext>
            </a:extLst>
          </p:cNvPr>
          <p:cNvSpPr/>
          <p:nvPr/>
        </p:nvSpPr>
        <p:spPr>
          <a:xfrm>
            <a:off x="4094160" y="3014573"/>
            <a:ext cx="265569" cy="2109159"/>
          </a:xfrm>
          <a:prstGeom prst="rightArrow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>
              <a:latin typeface="+mn-ea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72DD1A60-0834-40E2-ADA2-968112B9934A}"/>
              </a:ext>
            </a:extLst>
          </p:cNvPr>
          <p:cNvGrpSpPr/>
          <p:nvPr/>
        </p:nvGrpSpPr>
        <p:grpSpPr>
          <a:xfrm>
            <a:off x="86882" y="4295161"/>
            <a:ext cx="3889126" cy="1686993"/>
            <a:chOff x="135867" y="4477043"/>
            <a:chExt cx="3331952" cy="1003985"/>
          </a:xfrm>
        </p:grpSpPr>
        <p:graphicFrame>
          <p:nvGraphicFramePr>
            <p:cNvPr id="13" name="Object 24">
              <a:extLst>
                <a:ext uri="{FF2B5EF4-FFF2-40B4-BE49-F238E27FC236}">
                  <a16:creationId xmlns:a16="http://schemas.microsoft.com/office/drawing/2014/main" id="{0B71AD22-BB0D-4971-B61C-3F9141085FC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17845232"/>
                </p:ext>
              </p:extLst>
            </p:nvPr>
          </p:nvGraphicFramePr>
          <p:xfrm>
            <a:off x="135867" y="4486769"/>
            <a:ext cx="1979762" cy="982598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2"/>
            </a:graphicData>
          </a:graphic>
        </p:graphicFrame>
        <p:graphicFrame>
          <p:nvGraphicFramePr>
            <p:cNvPr id="14" name="차트 13">
              <a:extLst>
                <a:ext uri="{FF2B5EF4-FFF2-40B4-BE49-F238E27FC236}">
                  <a16:creationId xmlns:a16="http://schemas.microsoft.com/office/drawing/2014/main" id="{873EE6AE-00D1-4B05-A1E7-13D0EF9B4CD4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2816988920"/>
                </p:ext>
              </p:extLst>
            </p:nvPr>
          </p:nvGraphicFramePr>
          <p:xfrm>
            <a:off x="1856836" y="4477043"/>
            <a:ext cx="1610983" cy="1003985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3"/>
            </a:graphicData>
          </a:graphic>
        </p:graphicFrame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AD022611-0321-4807-BF01-B2D85AB0B429}"/>
                </a:ext>
              </a:extLst>
            </p:cNvPr>
            <p:cNvCxnSpPr>
              <a:cxnSpLocks/>
            </p:cNvCxnSpPr>
            <p:nvPr/>
          </p:nvCxnSpPr>
          <p:spPr>
            <a:xfrm>
              <a:off x="1759789" y="4533106"/>
              <a:ext cx="0" cy="822210"/>
            </a:xfrm>
            <a:prstGeom prst="line">
              <a:avLst/>
            </a:prstGeom>
            <a:ln w="6350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4094111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6C777948-DA7F-4059-B7F2-4E40B15363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091" y="593233"/>
            <a:ext cx="4225478" cy="5803325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3C14A5E9-E0FF-4A03-B324-948D1DD135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6086" y="620486"/>
            <a:ext cx="4196459" cy="5731327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8058C5EB-52EE-441D-BE43-F07D2A00604C}"/>
              </a:ext>
            </a:extLst>
          </p:cNvPr>
          <p:cNvSpPr/>
          <p:nvPr/>
        </p:nvSpPr>
        <p:spPr>
          <a:xfrm>
            <a:off x="335758" y="167255"/>
            <a:ext cx="3814763" cy="3357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350" dirty="0"/>
              <a:t>반드시 </a:t>
            </a:r>
            <a:r>
              <a:rPr lang="ko-KR" altLang="en-US" sz="1350" dirty="0" err="1"/>
              <a:t>알아두고</a:t>
            </a:r>
            <a:r>
              <a:rPr lang="ko-KR" altLang="en-US" sz="1350" dirty="0"/>
              <a:t> 실행에 옮겨야 할 사항</a:t>
            </a:r>
          </a:p>
        </p:txBody>
      </p:sp>
    </p:spTree>
    <p:extLst>
      <p:ext uri="{BB962C8B-B14F-4D97-AF65-F5344CB8AC3E}">
        <p14:creationId xmlns:p14="http://schemas.microsoft.com/office/powerpoint/2010/main" val="30228858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B7073F2E-3B9A-4BBC-9BED-685FA864199F}"/>
              </a:ext>
            </a:extLst>
          </p:cNvPr>
          <p:cNvSpPr/>
          <p:nvPr/>
        </p:nvSpPr>
        <p:spPr>
          <a:xfrm>
            <a:off x="245951" y="159090"/>
            <a:ext cx="3814763" cy="3357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350" dirty="0"/>
              <a:t>반드시 </a:t>
            </a:r>
            <a:r>
              <a:rPr lang="ko-KR" altLang="en-US" sz="1350" dirty="0" err="1"/>
              <a:t>알아두고</a:t>
            </a:r>
            <a:r>
              <a:rPr lang="ko-KR" altLang="en-US" sz="1350" dirty="0"/>
              <a:t> 실행에 옮겨야 할 사항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4B830773-8514-43F7-B413-9ACD110AF9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8919" y="595994"/>
            <a:ext cx="4334645" cy="581297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809B6A40-4F49-4C3E-82D5-133A98CD09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110" y="599059"/>
            <a:ext cx="4093518" cy="5809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96551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D9444A2B-BADD-48D6-B995-9D97FB9F31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916" y="555230"/>
            <a:ext cx="4199594" cy="5788419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98CDB115-6215-41A2-ACA8-A930CBD182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6224" y="496488"/>
            <a:ext cx="4145697" cy="5847162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2C8E059C-D1D3-44F0-9DD7-7F19125CC8A6}"/>
              </a:ext>
            </a:extLst>
          </p:cNvPr>
          <p:cNvSpPr/>
          <p:nvPr/>
        </p:nvSpPr>
        <p:spPr>
          <a:xfrm>
            <a:off x="188801" y="110104"/>
            <a:ext cx="3814763" cy="3357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350" dirty="0"/>
              <a:t>반드시 </a:t>
            </a:r>
            <a:r>
              <a:rPr lang="ko-KR" altLang="en-US" sz="1350" dirty="0" err="1"/>
              <a:t>알아두고</a:t>
            </a:r>
            <a:r>
              <a:rPr lang="ko-KR" altLang="en-US" sz="1350" dirty="0"/>
              <a:t> 실행에 옮겨야 할 사항</a:t>
            </a:r>
          </a:p>
        </p:txBody>
      </p:sp>
    </p:spTree>
    <p:extLst>
      <p:ext uri="{BB962C8B-B14F-4D97-AF65-F5344CB8AC3E}">
        <p14:creationId xmlns:p14="http://schemas.microsoft.com/office/powerpoint/2010/main" val="13440664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D575A71B-56A5-47BD-AD04-50E1810D0EB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9825" y="590584"/>
            <a:ext cx="4194398" cy="5802052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FE86C702-8DC2-4A5D-91E9-014F7A4997E3}"/>
              </a:ext>
            </a:extLst>
          </p:cNvPr>
          <p:cNvSpPr/>
          <p:nvPr/>
        </p:nvSpPr>
        <p:spPr>
          <a:xfrm>
            <a:off x="188801" y="110104"/>
            <a:ext cx="3814763" cy="3357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350" dirty="0"/>
              <a:t>반드시 </a:t>
            </a:r>
            <a:r>
              <a:rPr lang="ko-KR" altLang="en-US" sz="1350" dirty="0" err="1"/>
              <a:t>알아두고</a:t>
            </a:r>
            <a:r>
              <a:rPr lang="ko-KR" altLang="en-US" sz="1350" dirty="0"/>
              <a:t> 실행에 옮겨야 할 사항</a:t>
            </a: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71BA294C-0F7B-44AB-98E4-3AD697880453}"/>
              </a:ext>
            </a:extLst>
          </p:cNvPr>
          <p:cNvGrpSpPr/>
          <p:nvPr/>
        </p:nvGrpSpPr>
        <p:grpSpPr>
          <a:xfrm>
            <a:off x="4578422" y="579663"/>
            <a:ext cx="4255335" cy="5812973"/>
            <a:chOff x="1818891" y="-662116"/>
            <a:chExt cx="5506218" cy="7676325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D818103D-E977-4B34-BF8C-AE98370E79C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818891" y="-662116"/>
              <a:ext cx="5506218" cy="5077534"/>
            </a:xfrm>
            <a:prstGeom prst="rect">
              <a:avLst/>
            </a:prstGeom>
          </p:spPr>
        </p:pic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FA1C0F1E-692A-4E19-AA53-1E1882FBB1F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818891" y="4413521"/>
              <a:ext cx="5506218" cy="260068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2478628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FB6BE014-7066-4570-AF75-E94CB4B814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756" y="537709"/>
            <a:ext cx="4151352" cy="5822270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B6AB8749-19D5-434C-A3DF-4B54A7D713A9}"/>
              </a:ext>
            </a:extLst>
          </p:cNvPr>
          <p:cNvSpPr/>
          <p:nvPr/>
        </p:nvSpPr>
        <p:spPr>
          <a:xfrm>
            <a:off x="188801" y="110104"/>
            <a:ext cx="3814763" cy="3357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350" dirty="0"/>
              <a:t>반드시 </a:t>
            </a:r>
            <a:r>
              <a:rPr lang="ko-KR" altLang="en-US" sz="1350" dirty="0" err="1"/>
              <a:t>알아두고</a:t>
            </a:r>
            <a:r>
              <a:rPr lang="ko-KR" altLang="en-US" sz="1350" dirty="0"/>
              <a:t> 실행에 옮겨야 할 사항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C2100C94-4F21-487B-ADD7-2788F582A6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8774" y="564512"/>
            <a:ext cx="3790247" cy="5787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21118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9E10EFFB-383B-49C9-8378-3529AF683748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6760" y="573394"/>
            <a:ext cx="4171950" cy="2800230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A5BA4F7B-6604-40D6-B7D3-A4974256E7C6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60268" y="572133"/>
            <a:ext cx="4184704" cy="5787846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DD931D2C-20E6-4887-9BDD-F204B06E35DD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6760" y="3461620"/>
            <a:ext cx="4165055" cy="2882030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383626FB-D683-486C-886B-0F8CC28884BB}"/>
              </a:ext>
            </a:extLst>
          </p:cNvPr>
          <p:cNvSpPr/>
          <p:nvPr/>
        </p:nvSpPr>
        <p:spPr>
          <a:xfrm>
            <a:off x="188801" y="110104"/>
            <a:ext cx="3814763" cy="3357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350" dirty="0"/>
              <a:t>반드시 </a:t>
            </a:r>
            <a:r>
              <a:rPr lang="ko-KR" altLang="en-US" sz="1350" dirty="0" err="1"/>
              <a:t>알아두고</a:t>
            </a:r>
            <a:r>
              <a:rPr lang="ko-KR" altLang="en-US" sz="1350" dirty="0"/>
              <a:t> 실행에 옮겨야 할 사항</a:t>
            </a:r>
          </a:p>
        </p:txBody>
      </p:sp>
    </p:spTree>
    <p:extLst>
      <p:ext uri="{BB962C8B-B14F-4D97-AF65-F5344CB8AC3E}">
        <p14:creationId xmlns:p14="http://schemas.microsoft.com/office/powerpoint/2010/main" val="12369570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4528001E-761A-4F1A-8EFC-FD010CD07C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572" y="545801"/>
            <a:ext cx="4208918" cy="5797849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4D4EFB47-C16F-4BF9-A038-8EE3D9214DD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-154" t="53488" r="788" b="507"/>
          <a:stretch/>
        </p:blipFill>
        <p:spPr>
          <a:xfrm>
            <a:off x="4584225" y="560545"/>
            <a:ext cx="4178096" cy="5787679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A835B29F-0B9E-4206-AA02-B47ABD8979A1}"/>
              </a:ext>
            </a:extLst>
          </p:cNvPr>
          <p:cNvSpPr/>
          <p:nvPr/>
        </p:nvSpPr>
        <p:spPr>
          <a:xfrm>
            <a:off x="188801" y="110104"/>
            <a:ext cx="3814763" cy="3357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350" dirty="0"/>
              <a:t>반드시 </a:t>
            </a:r>
            <a:r>
              <a:rPr lang="ko-KR" altLang="en-US" sz="1350" dirty="0" err="1"/>
              <a:t>알아두고</a:t>
            </a:r>
            <a:r>
              <a:rPr lang="ko-KR" altLang="en-US" sz="1350" dirty="0"/>
              <a:t> 실행에 옮겨야 할 사항</a:t>
            </a:r>
          </a:p>
        </p:txBody>
      </p:sp>
    </p:spTree>
    <p:extLst>
      <p:ext uri="{BB962C8B-B14F-4D97-AF65-F5344CB8AC3E}">
        <p14:creationId xmlns:p14="http://schemas.microsoft.com/office/powerpoint/2010/main" val="24804099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텍스트 개체 틀 2">
            <a:extLst>
              <a:ext uri="{FF2B5EF4-FFF2-40B4-BE49-F238E27FC236}">
                <a16:creationId xmlns:a16="http://schemas.microsoft.com/office/drawing/2014/main" id="{B8105FDC-6107-4CC0-BA4F-843C1F8B9169}"/>
              </a:ext>
            </a:extLst>
          </p:cNvPr>
          <p:cNvSpPr txBox="1">
            <a:spLocks/>
          </p:cNvSpPr>
          <p:nvPr/>
        </p:nvSpPr>
        <p:spPr>
          <a:xfrm>
            <a:off x="221137" y="587316"/>
            <a:ext cx="2747428" cy="1583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b="1" kern="1200" spc="-15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100000"/>
              </a:lnSpc>
            </a:pPr>
            <a:r>
              <a:rPr lang="ko-KR" altLang="en-US" sz="1029" spc="-74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안전관리 이행준수 평가 제재 및 인센티브</a:t>
            </a:r>
            <a:endParaRPr lang="en-US" altLang="ko-KR" sz="1029" spc="-74" dirty="0">
              <a:solidFill>
                <a:schemeClr val="tx1">
                  <a:lumMod val="50000"/>
                  <a:lumOff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FFA8DDC7-29CC-4968-9089-4B3FA84BB5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086308"/>
              </p:ext>
            </p:extLst>
          </p:nvPr>
        </p:nvGraphicFramePr>
        <p:xfrm>
          <a:off x="265961" y="859117"/>
          <a:ext cx="8559630" cy="5460044"/>
        </p:xfrm>
        <a:graphic>
          <a:graphicData uri="http://schemas.openxmlformats.org/drawingml/2006/table">
            <a:tbl>
              <a:tblPr>
                <a:effectLst>
                  <a:innerShdw blurRad="63500" dist="50800" dir="2700000">
                    <a:prstClr val="black">
                      <a:alpha val="50000"/>
                    </a:prstClr>
                  </a:innerShdw>
                </a:effectLst>
              </a:tblPr>
              <a:tblGrid>
                <a:gridCol w="351168">
                  <a:extLst>
                    <a:ext uri="{9D8B030D-6E8A-4147-A177-3AD203B41FA5}">
                      <a16:colId xmlns:a16="http://schemas.microsoft.com/office/drawing/2014/main" val="1977248011"/>
                    </a:ext>
                  </a:extLst>
                </a:gridCol>
                <a:gridCol w="604609">
                  <a:extLst>
                    <a:ext uri="{9D8B030D-6E8A-4147-A177-3AD203B41FA5}">
                      <a16:colId xmlns:a16="http://schemas.microsoft.com/office/drawing/2014/main" val="1374068496"/>
                    </a:ext>
                  </a:extLst>
                </a:gridCol>
                <a:gridCol w="2155255">
                  <a:extLst>
                    <a:ext uri="{9D8B030D-6E8A-4147-A177-3AD203B41FA5}">
                      <a16:colId xmlns:a16="http://schemas.microsoft.com/office/drawing/2014/main" val="1578521498"/>
                    </a:ext>
                  </a:extLst>
                </a:gridCol>
                <a:gridCol w="533478">
                  <a:extLst>
                    <a:ext uri="{9D8B030D-6E8A-4147-A177-3AD203B41FA5}">
                      <a16:colId xmlns:a16="http://schemas.microsoft.com/office/drawing/2014/main" val="2071736914"/>
                    </a:ext>
                  </a:extLst>
                </a:gridCol>
                <a:gridCol w="412557">
                  <a:extLst>
                    <a:ext uri="{9D8B030D-6E8A-4147-A177-3AD203B41FA5}">
                      <a16:colId xmlns:a16="http://schemas.microsoft.com/office/drawing/2014/main" val="4198259116"/>
                    </a:ext>
                  </a:extLst>
                </a:gridCol>
                <a:gridCol w="376992">
                  <a:extLst>
                    <a:ext uri="{9D8B030D-6E8A-4147-A177-3AD203B41FA5}">
                      <a16:colId xmlns:a16="http://schemas.microsoft.com/office/drawing/2014/main" val="3822201948"/>
                    </a:ext>
                  </a:extLst>
                </a:gridCol>
                <a:gridCol w="355653">
                  <a:extLst>
                    <a:ext uri="{9D8B030D-6E8A-4147-A177-3AD203B41FA5}">
                      <a16:colId xmlns:a16="http://schemas.microsoft.com/office/drawing/2014/main" val="223908481"/>
                    </a:ext>
                  </a:extLst>
                </a:gridCol>
                <a:gridCol w="376992">
                  <a:extLst>
                    <a:ext uri="{9D8B030D-6E8A-4147-A177-3AD203B41FA5}">
                      <a16:colId xmlns:a16="http://schemas.microsoft.com/office/drawing/2014/main" val="2018611502"/>
                    </a:ext>
                  </a:extLst>
                </a:gridCol>
                <a:gridCol w="433896">
                  <a:extLst>
                    <a:ext uri="{9D8B030D-6E8A-4147-A177-3AD203B41FA5}">
                      <a16:colId xmlns:a16="http://schemas.microsoft.com/office/drawing/2014/main" val="44488354"/>
                    </a:ext>
                  </a:extLst>
                </a:gridCol>
                <a:gridCol w="1401270">
                  <a:extLst>
                    <a:ext uri="{9D8B030D-6E8A-4147-A177-3AD203B41FA5}">
                      <a16:colId xmlns:a16="http://schemas.microsoft.com/office/drawing/2014/main" val="1448910254"/>
                    </a:ext>
                  </a:extLst>
                </a:gridCol>
                <a:gridCol w="1557760">
                  <a:extLst>
                    <a:ext uri="{9D8B030D-6E8A-4147-A177-3AD203B41FA5}">
                      <a16:colId xmlns:a16="http://schemas.microsoft.com/office/drawing/2014/main" val="843391592"/>
                    </a:ext>
                  </a:extLst>
                </a:gridCol>
              </a:tblGrid>
              <a:tr h="171699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NO</a:t>
                      </a:r>
                    </a:p>
                  </a:txBody>
                  <a:tcPr marL="5123" marR="5123" marT="51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구분</a:t>
                      </a:r>
                    </a:p>
                  </a:txBody>
                  <a:tcPr marL="5123" marR="5123" marT="51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이행준수</a:t>
                      </a:r>
                    </a:p>
                  </a:txBody>
                  <a:tcPr marL="5123" marR="5123" marT="51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gridSpan="6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 가</a:t>
                      </a:r>
                    </a:p>
                  </a:txBody>
                  <a:tcPr marL="5123" marR="5123" marT="51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제재내용</a:t>
                      </a:r>
                    </a:p>
                  </a:txBody>
                  <a:tcPr marL="5123" marR="5123" marT="51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인센티브적용</a:t>
                      </a:r>
                    </a:p>
                  </a:txBody>
                  <a:tcPr marL="5123" marR="5123" marT="51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6731735"/>
                  </a:ext>
                </a:extLst>
              </a:tr>
              <a:tr h="254188">
                <a:tc rowSpan="6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5123" marR="5123" marT="51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6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작업위반</a:t>
                      </a:r>
                    </a:p>
                  </a:txBody>
                  <a:tcPr marL="5123" marR="5123" marT="51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lnSpc>
                          <a:spcPct val="150000"/>
                        </a:lnSpc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 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고소 및 </a:t>
                      </a:r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단부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작업시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안전대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미체결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23" marR="5123" marT="51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8" gridSpan="6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발생시</a:t>
                      </a:r>
                    </a:p>
                  </a:txBody>
                  <a:tcPr marL="5123" marR="5123" marT="51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8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8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8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8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8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rowSpan="6"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■ </a:t>
                      </a:r>
                      <a:r>
                        <a:rPr lang="en-US" altLang="ko-KR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ko-KR" altLang="en-US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회 </a:t>
                      </a:r>
                      <a:r>
                        <a:rPr lang="ko-KR" altLang="en-US" sz="800" b="0" i="0" u="none" strike="noStrike" dirty="0" err="1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적발시</a:t>
                      </a:r>
                      <a:br>
                        <a:rPr lang="ko-KR" altLang="en-US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ko-KR" altLang="en-US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당일현장 퇴출</a:t>
                      </a:r>
                    </a:p>
                  </a:txBody>
                  <a:tcPr marL="5123" marR="5123" marT="51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8"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* 부현전기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ERP/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안전플랫폼</a:t>
                      </a:r>
                      <a:b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(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출력제한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List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관리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800" b="0" i="0" u="none" strike="noStrike" dirty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23" marR="5123" marT="51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1308351"/>
                  </a:ext>
                </a:extLst>
              </a:tr>
              <a:tr h="2541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ctr">
                        <a:lnSpc>
                          <a:spcPct val="150000"/>
                        </a:lnSpc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2. 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음주 및 폭력 행위</a:t>
                      </a:r>
                    </a:p>
                  </a:txBody>
                  <a:tcPr marL="5123" marR="5123" marT="51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6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6416772"/>
                  </a:ext>
                </a:extLst>
              </a:tr>
              <a:tr h="2541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ctr">
                        <a:lnSpc>
                          <a:spcPct val="150000"/>
                        </a:lnSpc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3. 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화기작업 불티 비산방지 </a:t>
                      </a:r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미조치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23" marR="5123" marT="51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6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5393218"/>
                  </a:ext>
                </a:extLst>
              </a:tr>
              <a:tr h="2541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ctr">
                        <a:lnSpc>
                          <a:spcPct val="150000"/>
                        </a:lnSpc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4. 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안전시설물 임의 해체 </a:t>
                      </a:r>
                    </a:p>
                  </a:txBody>
                  <a:tcPr marL="5123" marR="5123" marT="51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6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9936090"/>
                  </a:ext>
                </a:extLst>
              </a:tr>
              <a:tr h="2541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ctr">
                        <a:lnSpc>
                          <a:spcPct val="150000"/>
                        </a:lnSpc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5. </a:t>
                      </a:r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공종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STOP </a:t>
                      </a:r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유발자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23" marR="5123" marT="51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6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8926533"/>
                  </a:ext>
                </a:extLst>
              </a:tr>
              <a:tr h="2541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ctr">
                        <a:lnSpc>
                          <a:spcPct val="150000"/>
                        </a:lnSpc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6. 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미 승인 임의작업</a:t>
                      </a:r>
                    </a:p>
                  </a:txBody>
                  <a:tcPr marL="5123" marR="5123" marT="51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6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2366952"/>
                  </a:ext>
                </a:extLst>
              </a:tr>
              <a:tr h="257137"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5123" marR="5123" marT="51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안전사고</a:t>
                      </a:r>
                    </a:p>
                  </a:txBody>
                  <a:tcPr marL="5123" marR="5123" marT="51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 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사고지연 보고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-&gt; 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안전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공무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소장</a:t>
                      </a:r>
                    </a:p>
                  </a:txBody>
                  <a:tcPr marL="5123" marR="5123" marT="51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 gridSpan="6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■ </a:t>
                      </a:r>
                      <a:r>
                        <a:rPr lang="en-US" altLang="ko-KR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ko-KR" altLang="en-US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회 위반시</a:t>
                      </a:r>
                      <a:br>
                        <a:rPr lang="ko-KR" altLang="en-US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ko-KR" altLang="en-US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</a:t>
                      </a:r>
                      <a:r>
                        <a:rPr lang="en-US" altLang="ko-KR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b="0" i="0" u="none" strike="noStrike" dirty="0" err="1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현장영구</a:t>
                      </a:r>
                      <a:r>
                        <a:rPr lang="ko-KR" altLang="en-US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퇴출</a:t>
                      </a:r>
                      <a:r>
                        <a:rPr lang="en-US" altLang="ko-KR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5123" marR="5123" marT="51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rtl="0" fontAlgn="ctr"/>
                      <a:endParaRPr lang="en-US" altLang="ko-KR" sz="1100" b="0" i="0" u="none" strike="noStrike" dirty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831" marR="6831" marT="68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5845229"/>
                  </a:ext>
                </a:extLst>
              </a:tr>
              <a:tr h="25713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2. 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미 보고 및 퇴근 후 단독병원 진료</a:t>
                      </a:r>
                    </a:p>
                  </a:txBody>
                  <a:tcPr marL="5123" marR="5123" marT="51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 gridSpan="6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9975749"/>
                  </a:ext>
                </a:extLst>
              </a:tr>
              <a:tr h="171699"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NO</a:t>
                      </a:r>
                    </a:p>
                  </a:txBody>
                  <a:tcPr marL="5123" marR="5123" marT="51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구분</a:t>
                      </a:r>
                    </a:p>
                  </a:txBody>
                  <a:tcPr marL="5123" marR="5123" marT="51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이행준수</a:t>
                      </a:r>
                    </a:p>
                  </a:txBody>
                  <a:tcPr marL="5123" marR="5123" marT="51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배점</a:t>
                      </a:r>
                    </a:p>
                  </a:txBody>
                  <a:tcPr marL="5123" marR="5123" marT="51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평가</a:t>
                      </a:r>
                    </a:p>
                  </a:txBody>
                  <a:tcPr marL="5123" marR="5123" marT="51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결과</a:t>
                      </a:r>
                    </a:p>
                  </a:txBody>
                  <a:tcPr marL="5123" marR="5123" marT="51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rowSpan="2" grid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 고</a:t>
                      </a:r>
                    </a:p>
                  </a:txBody>
                  <a:tcPr marL="5123" marR="5123" marT="51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2940984"/>
                  </a:ext>
                </a:extLst>
              </a:tr>
              <a:tr h="21817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우수</a:t>
                      </a:r>
                      <a:endParaRPr lang="ko-KR" altLang="en-US" sz="1000" dirty="0"/>
                    </a:p>
                  </a:txBody>
                  <a:tcPr marL="5123" marR="5123" marT="51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보통</a:t>
                      </a:r>
                      <a:endParaRPr lang="ko-KR" altLang="en-US" sz="1000" dirty="0"/>
                    </a:p>
                  </a:txBody>
                  <a:tcPr marL="5123" marR="5123" marT="51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부족</a:t>
                      </a:r>
                      <a:endParaRPr lang="ko-KR" altLang="en-US" sz="1000"/>
                    </a:p>
                  </a:txBody>
                  <a:tcPr marL="5123" marR="5123" marT="51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문제</a:t>
                      </a:r>
                      <a:endParaRPr lang="ko-KR" altLang="en-US" sz="1000" dirty="0"/>
                    </a:p>
                  </a:txBody>
                  <a:tcPr marL="5123" marR="5123" marT="51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8606103"/>
                  </a:ext>
                </a:extLst>
              </a:tr>
              <a:tr h="254188">
                <a:tc rowSpan="8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5123" marR="5123" marT="51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8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안전수칙 </a:t>
                      </a:r>
                      <a:b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준수</a:t>
                      </a:r>
                      <a:b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(100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점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5123" marR="5123" marT="51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lnSpc>
                          <a:spcPct val="150000"/>
                        </a:lnSpc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 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매일 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TBM 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참석</a:t>
                      </a:r>
                    </a:p>
                  </a:txBody>
                  <a:tcPr marL="5123" marR="5123" marT="51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</a:t>
                      </a:r>
                    </a:p>
                  </a:txBody>
                  <a:tcPr marL="5123" marR="5123" marT="51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</a:t>
                      </a:r>
                    </a:p>
                  </a:txBody>
                  <a:tcPr marL="5123" marR="5123" marT="51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</a:t>
                      </a:r>
                    </a:p>
                  </a:txBody>
                  <a:tcPr marL="5123" marR="5123" marT="51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</a:t>
                      </a:r>
                      <a:endParaRPr lang="ko-KR" altLang="en-US" sz="1000" dirty="0"/>
                    </a:p>
                  </a:txBody>
                  <a:tcPr marL="5123" marR="5123" marT="51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endParaRPr lang="ko-KR" altLang="en-US" sz="1000"/>
                    </a:p>
                  </a:txBody>
                  <a:tcPr marL="5123" marR="5123" marT="51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123" marR="5123" marT="51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8"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■ 안전 지시 불이행</a:t>
                      </a:r>
                      <a:br>
                        <a:rPr lang="ko-KR" altLang="en-US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ko-KR" altLang="en-US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삼진아웃제</a:t>
                      </a:r>
                      <a:b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b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 1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차지적시</a:t>
                      </a:r>
                      <a:b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구두경고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b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. 2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차경고시</a:t>
                      </a:r>
                      <a:b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안전교육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시간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b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. 3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차경고시</a:t>
                      </a:r>
                      <a:b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부현전기 영구퇴출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5123" marR="5123" marT="51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8"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■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50</a:t>
                      </a:r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점이하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[C]</a:t>
                      </a:r>
                      <a:b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- 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월초 근로계약 해지</a:t>
                      </a:r>
                      <a:b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재 교육실시 </a:t>
                      </a:r>
                      <a:b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b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■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50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점이상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[B.A.S]</a:t>
                      </a:r>
                      <a:b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- 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현장 연속근로계약</a:t>
                      </a:r>
                      <a:b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b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■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70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점이상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[A,S]</a:t>
                      </a:r>
                      <a:b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- 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현장이동 등 연속적 근무</a:t>
                      </a:r>
                      <a:b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퇴직금 연계</a:t>
                      </a:r>
                      <a:b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</a:t>
                      </a:r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일노임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상승반영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23" marR="5123" marT="51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3909247"/>
                  </a:ext>
                </a:extLst>
              </a:tr>
              <a:tr h="2541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ctr">
                        <a:lnSpc>
                          <a:spcPct val="150000"/>
                        </a:lnSpc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2. 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작업지시서 확인</a:t>
                      </a:r>
                    </a:p>
                  </a:txBody>
                  <a:tcPr marL="5123" marR="5123" marT="51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</a:t>
                      </a:r>
                    </a:p>
                  </a:txBody>
                  <a:tcPr marL="5123" marR="5123" marT="51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</a:t>
                      </a:r>
                    </a:p>
                  </a:txBody>
                  <a:tcPr marL="5123" marR="5123" marT="51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</a:t>
                      </a:r>
                    </a:p>
                  </a:txBody>
                  <a:tcPr marL="5123" marR="5123" marT="51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</a:t>
                      </a:r>
                      <a:endParaRPr lang="ko-KR" altLang="en-US" sz="1000" dirty="0"/>
                    </a:p>
                  </a:txBody>
                  <a:tcPr marL="5123" marR="5123" marT="51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endParaRPr lang="ko-KR" altLang="en-US" sz="1000"/>
                    </a:p>
                  </a:txBody>
                  <a:tcPr marL="5123" marR="5123" marT="51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123" marR="5123" marT="51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0949164"/>
                  </a:ext>
                </a:extLst>
              </a:tr>
              <a:tr h="2541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ctr">
                        <a:lnSpc>
                          <a:spcPct val="150000"/>
                        </a:lnSpc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3. 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개인보호구 착용</a:t>
                      </a:r>
                    </a:p>
                  </a:txBody>
                  <a:tcPr marL="5123" marR="5123" marT="51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</a:t>
                      </a:r>
                    </a:p>
                  </a:txBody>
                  <a:tcPr marL="5123" marR="5123" marT="51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</a:t>
                      </a:r>
                    </a:p>
                  </a:txBody>
                  <a:tcPr marL="5123" marR="5123" marT="51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</a:t>
                      </a:r>
                    </a:p>
                  </a:txBody>
                  <a:tcPr marL="5123" marR="5123" marT="51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  <a:endParaRPr lang="ko-KR" altLang="en-US" sz="1000" dirty="0"/>
                    </a:p>
                  </a:txBody>
                  <a:tcPr marL="5123" marR="5123" marT="51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  <a:endParaRPr lang="ko-KR" altLang="en-US" sz="1000"/>
                    </a:p>
                  </a:txBody>
                  <a:tcPr marL="5123" marR="5123" marT="51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123" marR="5123" marT="51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1258857"/>
                  </a:ext>
                </a:extLst>
              </a:tr>
              <a:tr h="2541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ctr">
                        <a:lnSpc>
                          <a:spcPct val="150000"/>
                        </a:lnSpc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4. 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기본 </a:t>
                      </a:r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공도구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관리</a:t>
                      </a:r>
                    </a:p>
                  </a:txBody>
                  <a:tcPr marL="5123" marR="5123" marT="51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</a:p>
                  </a:txBody>
                  <a:tcPr marL="5123" marR="5123" marT="51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</a:p>
                  </a:txBody>
                  <a:tcPr marL="5123" marR="5123" marT="51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</a:p>
                  </a:txBody>
                  <a:tcPr marL="5123" marR="5123" marT="51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  <a:endParaRPr lang="ko-KR" altLang="en-US" sz="1000" dirty="0"/>
                    </a:p>
                  </a:txBody>
                  <a:tcPr marL="5123" marR="5123" marT="51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endParaRPr lang="ko-KR" altLang="en-US" sz="1000" dirty="0"/>
                    </a:p>
                  </a:txBody>
                  <a:tcPr marL="5123" marR="5123" marT="51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123" marR="5123" marT="51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5763503"/>
                  </a:ext>
                </a:extLst>
              </a:tr>
              <a:tr h="34440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5. 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안전통로 이용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핸드폰 사용 보행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b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이어폰 착용 작업 등</a:t>
                      </a:r>
                    </a:p>
                  </a:txBody>
                  <a:tcPr marL="5123" marR="5123" marT="51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</a:t>
                      </a:r>
                    </a:p>
                  </a:txBody>
                  <a:tcPr marL="5123" marR="5123" marT="51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</a:t>
                      </a:r>
                    </a:p>
                  </a:txBody>
                  <a:tcPr marL="5123" marR="5123" marT="51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</a:t>
                      </a:r>
                    </a:p>
                  </a:txBody>
                  <a:tcPr marL="5123" marR="5123" marT="51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</a:t>
                      </a:r>
                      <a:endParaRPr lang="ko-KR" altLang="en-US" sz="1000" dirty="0"/>
                    </a:p>
                  </a:txBody>
                  <a:tcPr marL="5123" marR="5123" marT="51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endParaRPr lang="ko-KR" altLang="en-US" sz="1000" dirty="0"/>
                    </a:p>
                  </a:txBody>
                  <a:tcPr marL="5123" marR="5123" marT="51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123" marR="5123" marT="51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173397"/>
                  </a:ext>
                </a:extLst>
              </a:tr>
              <a:tr h="2541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ctr">
                        <a:lnSpc>
                          <a:spcPct val="150000"/>
                        </a:lnSpc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6. 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지정된 장소에서 흡연</a:t>
                      </a:r>
                    </a:p>
                  </a:txBody>
                  <a:tcPr marL="5123" marR="5123" marT="51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</a:p>
                  </a:txBody>
                  <a:tcPr marL="5123" marR="5123" marT="51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</a:p>
                  </a:txBody>
                  <a:tcPr marL="5123" marR="5123" marT="51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5123" marR="5123" marT="51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endParaRPr lang="ko-KR" altLang="en-US" sz="1000"/>
                    </a:p>
                  </a:txBody>
                  <a:tcPr marL="5123" marR="5123" marT="51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lang="ko-KR" altLang="en-US" sz="1000" dirty="0"/>
                    </a:p>
                  </a:txBody>
                  <a:tcPr marL="5123" marR="5123" marT="51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123" marR="5123" marT="51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8107053"/>
                  </a:ext>
                </a:extLst>
              </a:tr>
              <a:tr h="2541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ctr">
                        <a:lnSpc>
                          <a:spcPct val="150000"/>
                        </a:lnSpc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7. 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작업 후 정리정돈</a:t>
                      </a:r>
                    </a:p>
                  </a:txBody>
                  <a:tcPr marL="5123" marR="5123" marT="51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</a:p>
                  </a:txBody>
                  <a:tcPr marL="5123" marR="5123" marT="51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</a:p>
                  </a:txBody>
                  <a:tcPr marL="5123" marR="5123" marT="51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</a:p>
                  </a:txBody>
                  <a:tcPr marL="5123" marR="5123" marT="51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  <a:endParaRPr lang="ko-KR" altLang="en-US" sz="1000"/>
                    </a:p>
                  </a:txBody>
                  <a:tcPr marL="5123" marR="5123" marT="51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endParaRPr lang="ko-KR" altLang="en-US" sz="1000" dirty="0"/>
                    </a:p>
                  </a:txBody>
                  <a:tcPr marL="5123" marR="5123" marT="51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123" marR="5123" marT="51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3838058"/>
                  </a:ext>
                </a:extLst>
              </a:tr>
              <a:tr h="2541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ctr">
                        <a:lnSpc>
                          <a:spcPct val="150000"/>
                        </a:lnSpc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8. 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근태관리 등</a:t>
                      </a:r>
                    </a:p>
                  </a:txBody>
                  <a:tcPr marL="5123" marR="5123" marT="51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</a:p>
                  </a:txBody>
                  <a:tcPr marL="5123" marR="5123" marT="51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</a:p>
                  </a:txBody>
                  <a:tcPr marL="5123" marR="5123" marT="51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</a:p>
                  </a:txBody>
                  <a:tcPr marL="5123" marR="5123" marT="51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  <a:endParaRPr lang="ko-KR" altLang="en-US" sz="1000" dirty="0"/>
                    </a:p>
                  </a:txBody>
                  <a:tcPr marL="5123" marR="5123" marT="51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endParaRPr lang="ko-KR" altLang="en-US" sz="1000" dirty="0"/>
                    </a:p>
                  </a:txBody>
                  <a:tcPr marL="5123" marR="5123" marT="51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123" marR="5123" marT="51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4773688"/>
                  </a:ext>
                </a:extLst>
              </a:tr>
              <a:tr h="257137"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5123" marR="5123" marT="51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가점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점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23" marR="5123" marT="51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lnSpc>
                          <a:spcPct val="150000"/>
                        </a:lnSpc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포상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우수제안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우수 개선사례 등</a:t>
                      </a:r>
                    </a:p>
                  </a:txBody>
                  <a:tcPr marL="5123" marR="5123" marT="51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123" marR="5123" marT="51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123" marR="5123" marT="51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각 건수당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점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최대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점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5123" marR="5123" marT="51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23" marR="5123" marT="51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8773459"/>
                  </a:ext>
                </a:extLst>
              </a:tr>
              <a:tr h="25713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감점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(10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점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23" marR="5123" marT="51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lnSpc>
                          <a:spcPct val="150000"/>
                        </a:lnSpc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1,2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항 </a:t>
                      </a:r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미준수시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23" marR="5123" marT="51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123" marR="5123" marT="51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123" marR="5123" marT="51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각 건수당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점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최대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점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5123" marR="5123" marT="51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23" marR="5123" marT="51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3160367"/>
                  </a:ext>
                </a:extLst>
              </a:tr>
              <a:tr h="221070"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Toral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123" marR="5123" marT="51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</a:p>
                  </a:txBody>
                  <a:tcPr marL="5123" marR="5123" marT="51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23" marR="5123" marT="51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23" marR="5123" marT="51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23" marR="5123" marT="51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23" marR="5123" marT="51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123" marR="5123" marT="51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123" marR="5123" marT="51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123" marR="5123" marT="51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6574773"/>
                  </a:ext>
                </a:extLst>
              </a:tr>
            </a:tbl>
          </a:graphicData>
        </a:graphic>
      </p:graphicFrame>
      <p:sp>
        <p:nvSpPr>
          <p:cNvPr id="12" name="직사각형 11">
            <a:extLst>
              <a:ext uri="{FF2B5EF4-FFF2-40B4-BE49-F238E27FC236}">
                <a16:creationId xmlns:a16="http://schemas.microsoft.com/office/drawing/2014/main" id="{F34E682E-F733-495A-9DF5-DF8B08339445}"/>
              </a:ext>
            </a:extLst>
          </p:cNvPr>
          <p:cNvSpPr/>
          <p:nvPr/>
        </p:nvSpPr>
        <p:spPr>
          <a:xfrm>
            <a:off x="245951" y="159090"/>
            <a:ext cx="3814763" cy="3357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350" dirty="0"/>
              <a:t>반드시 </a:t>
            </a:r>
            <a:r>
              <a:rPr lang="ko-KR" altLang="en-US" sz="1350" dirty="0" err="1"/>
              <a:t>알아두고</a:t>
            </a:r>
            <a:r>
              <a:rPr lang="ko-KR" altLang="en-US" sz="1350" dirty="0"/>
              <a:t> 실행에 옮겨야 할 사항</a:t>
            </a:r>
          </a:p>
        </p:txBody>
      </p:sp>
    </p:spTree>
    <p:extLst>
      <p:ext uri="{BB962C8B-B14F-4D97-AF65-F5344CB8AC3E}">
        <p14:creationId xmlns:p14="http://schemas.microsoft.com/office/powerpoint/2010/main" val="54592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텍스트 개체 틀 2">
            <a:extLst>
              <a:ext uri="{FF2B5EF4-FFF2-40B4-BE49-F238E27FC236}">
                <a16:creationId xmlns:a16="http://schemas.microsoft.com/office/drawing/2014/main" id="{52DEB9EA-BC57-4EA5-AAB6-4971B2667CCD}"/>
              </a:ext>
            </a:extLst>
          </p:cNvPr>
          <p:cNvSpPr txBox="1">
            <a:spLocks/>
          </p:cNvSpPr>
          <p:nvPr/>
        </p:nvSpPr>
        <p:spPr>
          <a:xfrm>
            <a:off x="204810" y="611808"/>
            <a:ext cx="2264970" cy="1583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b="1" kern="1200" spc="-15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100000"/>
              </a:lnSpc>
            </a:pPr>
            <a:r>
              <a:rPr lang="ko-KR" altLang="en-US" sz="1029" spc="-74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■ 사고처리 절차 프로세스</a:t>
            </a:r>
            <a:endParaRPr lang="en-US" altLang="ko-KR" sz="1029" spc="-74" dirty="0">
              <a:solidFill>
                <a:schemeClr val="tx1">
                  <a:lumMod val="50000"/>
                  <a:lumOff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9" name="Picture 1">
            <a:extLst>
              <a:ext uri="{FF2B5EF4-FFF2-40B4-BE49-F238E27FC236}">
                <a16:creationId xmlns:a16="http://schemas.microsoft.com/office/drawing/2014/main" id="{CC40A4F5-B1B2-4DC0-9952-B9C500FA35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7319" y="847746"/>
            <a:ext cx="4586473" cy="5381604"/>
          </a:xfrm>
          <a:prstGeom prst="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  <a:effectLst/>
        </p:spPr>
      </p:pic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38CC1000-B258-44D3-89EF-DECB6190D5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5424868"/>
              </p:ext>
            </p:extLst>
          </p:nvPr>
        </p:nvGraphicFramePr>
        <p:xfrm>
          <a:off x="351373" y="847746"/>
          <a:ext cx="3518497" cy="4597834"/>
        </p:xfrm>
        <a:graphic>
          <a:graphicData uri="http://schemas.openxmlformats.org/drawingml/2006/table">
            <a:tbl>
              <a:tblPr/>
              <a:tblGrid>
                <a:gridCol w="2542664">
                  <a:extLst>
                    <a:ext uri="{9D8B030D-6E8A-4147-A177-3AD203B41FA5}">
                      <a16:colId xmlns:a16="http://schemas.microsoft.com/office/drawing/2014/main" val="932979981"/>
                    </a:ext>
                  </a:extLst>
                </a:gridCol>
                <a:gridCol w="975833">
                  <a:extLst>
                    <a:ext uri="{9D8B030D-6E8A-4147-A177-3AD203B41FA5}">
                      <a16:colId xmlns:a16="http://schemas.microsoft.com/office/drawing/2014/main" val="586067480"/>
                    </a:ext>
                  </a:extLst>
                </a:gridCol>
              </a:tblGrid>
              <a:tr h="262282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kern="0" spc="0" dirty="0">
                          <a:solidFill>
                            <a:srgbClr val="000000"/>
                          </a:solidFill>
                          <a:effectLst/>
                          <a:latin typeface="함초롬돋움" panose="020B0604000101010101" pitchFamily="50" charset="-127"/>
                          <a:ea typeface="함초롬돋움" panose="020B0604000101010101" pitchFamily="50" charset="-127"/>
                        </a:rPr>
                        <a:t>대응 </a:t>
                      </a:r>
                      <a:r>
                        <a:rPr lang="en-US" sz="900" b="1" kern="0" spc="0" dirty="0">
                          <a:solidFill>
                            <a:srgbClr val="000000"/>
                          </a:solidFill>
                          <a:effectLst/>
                          <a:latin typeface="함초롬돋움" panose="020B0604000101010101" pitchFamily="50" charset="-127"/>
                          <a:ea typeface="함초롬돋움" panose="020B0604000101010101" pitchFamily="50" charset="-127"/>
                        </a:rPr>
                        <a:t>Flow</a:t>
                      </a:r>
                      <a:endParaRPr lang="en-US" sz="8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48578" marR="48578" marT="13430" marB="1343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kern="0" spc="0" dirty="0">
                          <a:solidFill>
                            <a:srgbClr val="000000"/>
                          </a:solidFill>
                          <a:effectLst/>
                          <a:latin typeface="함초롬돋움" panose="020B0604000101010101" pitchFamily="50" charset="-127"/>
                          <a:ea typeface="함초롬돋움" panose="020B0604000101010101" pitchFamily="50" charset="-127"/>
                        </a:rPr>
                        <a:t>보고 시기</a:t>
                      </a:r>
                      <a:endParaRPr lang="ko-KR" altLang="en-US" sz="8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48578" marR="48578" marT="13430" marB="1343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6235161"/>
                  </a:ext>
                </a:extLst>
              </a:tr>
              <a:tr h="966484">
                <a:tc>
                  <a:txBody>
                    <a:bodyPr/>
                    <a:lstStyle/>
                    <a:p>
                      <a:pPr marL="171450" marR="0" indent="-17145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ü"/>
                      </a:pP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함초롬돋움" panose="020B0604000101010101" pitchFamily="50" charset="-127"/>
                          <a:ea typeface="함초롬돋움" panose="020B0604000101010101" pitchFamily="50" charset="-127"/>
                        </a:rPr>
                        <a:t>부상 정도 확인</a:t>
                      </a:r>
                      <a:r>
                        <a:rPr lang="en-US" altLang="ko-KR" sz="900" kern="0" spc="0" dirty="0">
                          <a:solidFill>
                            <a:srgbClr val="000000"/>
                          </a:solidFill>
                          <a:effectLst/>
                          <a:latin typeface="함초롬돋움" panose="020B0604000101010101" pitchFamily="50" charset="-127"/>
                          <a:ea typeface="함초롬돋움" panose="020B0604000101010101" pitchFamily="50" charset="-127"/>
                        </a:rPr>
                        <a:t>(</a:t>
                      </a: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함초롬돋움" panose="020B0604000101010101" pitchFamily="50" charset="-127"/>
                          <a:ea typeface="함초롬돋움" panose="020B0604000101010101" pitchFamily="50" charset="-127"/>
                        </a:rPr>
                        <a:t>경상</a:t>
                      </a:r>
                      <a:r>
                        <a:rPr lang="en-US" altLang="ko-KR" sz="900" kern="0" spc="0" dirty="0">
                          <a:solidFill>
                            <a:srgbClr val="000000"/>
                          </a:solidFill>
                          <a:effectLst/>
                          <a:latin typeface="함초롬돋움" panose="020B0604000101010101" pitchFamily="50" charset="-127"/>
                          <a:ea typeface="함초롬돋움" panose="020B0604000101010101" pitchFamily="50" charset="-127"/>
                        </a:rPr>
                        <a:t>, </a:t>
                      </a: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함초롬돋움" panose="020B0604000101010101" pitchFamily="50" charset="-127"/>
                          <a:ea typeface="함초롬돋움" panose="020B0604000101010101" pitchFamily="50" charset="-127"/>
                        </a:rPr>
                        <a:t>중상</a:t>
                      </a:r>
                      <a:r>
                        <a:rPr lang="en-US" altLang="ko-KR" sz="900" kern="0" spc="0" dirty="0">
                          <a:solidFill>
                            <a:srgbClr val="000000"/>
                          </a:solidFill>
                          <a:effectLst/>
                          <a:latin typeface="함초롬돋움" panose="020B0604000101010101" pitchFamily="50" charset="-127"/>
                          <a:ea typeface="함초롬돋움" panose="020B0604000101010101" pitchFamily="50" charset="-127"/>
                        </a:rPr>
                        <a:t>, </a:t>
                      </a: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함초롬돋움" panose="020B0604000101010101" pitchFamily="50" charset="-127"/>
                          <a:ea typeface="함초롬돋움" panose="020B0604000101010101" pitchFamily="50" charset="-127"/>
                        </a:rPr>
                        <a:t>사망 등</a:t>
                      </a:r>
                      <a:r>
                        <a:rPr lang="en-US" altLang="ko-KR" sz="900" kern="0" spc="0" dirty="0">
                          <a:solidFill>
                            <a:srgbClr val="000000"/>
                          </a:solidFill>
                          <a:effectLst/>
                          <a:latin typeface="함초롬돋움" panose="020B0604000101010101" pitchFamily="50" charset="-127"/>
                          <a:ea typeface="함초롬돋움" panose="020B0604000101010101" pitchFamily="50" charset="-127"/>
                        </a:rPr>
                        <a:t>)</a:t>
                      </a:r>
                      <a:endParaRPr lang="ko-KR" altLang="en-US" sz="8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  <a:p>
                      <a:pPr marL="171450" marR="0" indent="-17145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ü"/>
                      </a:pPr>
                      <a:r>
                        <a:rPr lang="ko-KR" altLang="en-US" sz="900" b="1" kern="0" spc="0" dirty="0">
                          <a:solidFill>
                            <a:srgbClr val="000000"/>
                          </a:solidFill>
                          <a:effectLst/>
                          <a:latin typeface="함초롬돋움" panose="020B0604000101010101" pitchFamily="50" charset="-127"/>
                          <a:ea typeface="함초롬돋움" panose="020B0604000101010101" pitchFamily="50" charset="-127"/>
                        </a:rPr>
                        <a:t>초동 대응 </a:t>
                      </a:r>
                      <a:r>
                        <a:rPr lang="en-US" altLang="ko-KR" sz="900" b="1" kern="0" spc="0" dirty="0">
                          <a:solidFill>
                            <a:srgbClr val="000000"/>
                          </a:solidFill>
                          <a:effectLst/>
                          <a:latin typeface="함초롬돋움" panose="020B0604000101010101" pitchFamily="50" charset="-127"/>
                          <a:ea typeface="함초롬돋움" panose="020B0604000101010101" pitchFamily="50" charset="-127"/>
                        </a:rPr>
                        <a:t>(5</a:t>
                      </a:r>
                      <a:r>
                        <a:rPr lang="ko-KR" altLang="en-US" sz="900" b="1" kern="0" spc="0" dirty="0" err="1">
                          <a:solidFill>
                            <a:srgbClr val="000000"/>
                          </a:solidFill>
                          <a:effectLst/>
                          <a:latin typeface="함초롬돋움" panose="020B0604000101010101" pitchFamily="50" charset="-127"/>
                          <a:ea typeface="함초롬돋움" panose="020B0604000101010101" pitchFamily="50" charset="-127"/>
                        </a:rPr>
                        <a:t>분이내</a:t>
                      </a:r>
                      <a:r>
                        <a:rPr lang="en-US" altLang="ko-KR" sz="900" b="1" kern="0" spc="0" dirty="0">
                          <a:solidFill>
                            <a:srgbClr val="000000"/>
                          </a:solidFill>
                          <a:effectLst/>
                          <a:latin typeface="함초롬돋움" panose="020B0604000101010101" pitchFamily="50" charset="-127"/>
                          <a:ea typeface="함초롬돋움" panose="020B0604000101010101" pitchFamily="50" charset="-127"/>
                        </a:rPr>
                        <a:t>)</a:t>
                      </a:r>
                      <a:endParaRPr lang="ko-KR" altLang="en-US" sz="8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  <a:p>
                      <a:pPr marL="171450" marR="0" indent="-17145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ü"/>
                      </a:pP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함초롬돋움" panose="020B0604000101010101" pitchFamily="50" charset="-127"/>
                          <a:ea typeface="함초롬돋움" panose="020B0604000101010101" pitchFamily="50" charset="-127"/>
                        </a:rPr>
                        <a:t>응급처치 및 필요 시 </a:t>
                      </a:r>
                      <a:r>
                        <a:rPr lang="en-US" altLang="ko-KR" sz="900" kern="0" spc="0" dirty="0">
                          <a:solidFill>
                            <a:srgbClr val="000000"/>
                          </a:solidFill>
                          <a:effectLst/>
                          <a:latin typeface="함초롬돋움" panose="020B0604000101010101" pitchFamily="50" charset="-127"/>
                          <a:ea typeface="함초롬돋움" panose="020B0604000101010101" pitchFamily="50" charset="-127"/>
                        </a:rPr>
                        <a:t>119</a:t>
                      </a: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함초롬돋움" panose="020B0604000101010101" pitchFamily="50" charset="-127"/>
                          <a:ea typeface="함초롬돋움" panose="020B0604000101010101" pitchFamily="50" charset="-127"/>
                        </a:rPr>
                        <a:t>신고</a:t>
                      </a:r>
                      <a:endParaRPr lang="ko-KR" altLang="en-US" sz="8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48578" marR="48578" marT="13430" marB="1343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solidFill>
                            <a:srgbClr val="000000"/>
                          </a:solidFill>
                          <a:effectLst/>
                          <a:latin typeface="함초롬돋움" panose="020B0604000101010101" pitchFamily="50" charset="-127"/>
                          <a:ea typeface="함초롬돋움" panose="020B0604000101010101" pitchFamily="50" charset="-127"/>
                        </a:rPr>
                        <a:t>중상 </a:t>
                      </a:r>
                      <a:r>
                        <a:rPr lang="en-US" altLang="ko-KR" sz="800" kern="0" spc="0" dirty="0">
                          <a:solidFill>
                            <a:srgbClr val="000000"/>
                          </a:solidFill>
                          <a:effectLst/>
                          <a:latin typeface="함초롬돋움" panose="020B0604000101010101" pitchFamily="50" charset="-127"/>
                          <a:ea typeface="함초롬돋움" panose="020B0604000101010101" pitchFamily="50" charset="-127"/>
                        </a:rPr>
                        <a:t>: </a:t>
                      </a:r>
                      <a:r>
                        <a:rPr lang="ko-KR" altLang="en-US" sz="800" kern="0" spc="0" dirty="0">
                          <a:solidFill>
                            <a:srgbClr val="000000"/>
                          </a:solidFill>
                          <a:effectLst/>
                          <a:latin typeface="함초롬돋움" panose="020B0604000101010101" pitchFamily="50" charset="-127"/>
                          <a:ea typeface="함초롬돋움" panose="020B0604000101010101" pitchFamily="50" charset="-127"/>
                        </a:rPr>
                        <a:t>발생 즉시</a:t>
                      </a:r>
                      <a:endParaRPr lang="en-US" altLang="ko-KR" sz="800" kern="0" spc="0" dirty="0">
                        <a:solidFill>
                          <a:srgbClr val="000000"/>
                        </a:solidFill>
                        <a:effectLst/>
                        <a:latin typeface="함초롬돋움" panose="020B0604000101010101" pitchFamily="50" charset="-127"/>
                        <a:ea typeface="함초롬돋움" panose="020B0604000101010101" pitchFamily="50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solidFill>
                            <a:srgbClr val="000000"/>
                          </a:solidFill>
                          <a:effectLst/>
                          <a:latin typeface="함초롬돋움" panose="020B0604000101010101" pitchFamily="50" charset="-127"/>
                          <a:ea typeface="함초롬돋움" panose="020B0604000101010101" pitchFamily="50" charset="-127"/>
                        </a:rPr>
                        <a:t>경상 </a:t>
                      </a:r>
                      <a:r>
                        <a:rPr lang="en-US" altLang="ko-KR" sz="800" kern="0" spc="0" dirty="0">
                          <a:solidFill>
                            <a:srgbClr val="000000"/>
                          </a:solidFill>
                          <a:effectLst/>
                          <a:latin typeface="함초롬돋움" panose="020B0604000101010101" pitchFamily="50" charset="-127"/>
                          <a:ea typeface="함초롬돋움" panose="020B0604000101010101" pitchFamily="50" charset="-127"/>
                        </a:rPr>
                        <a:t>: 1</a:t>
                      </a:r>
                      <a:r>
                        <a:rPr lang="ko-KR" altLang="en-US" sz="800" kern="0" spc="0" dirty="0">
                          <a:solidFill>
                            <a:srgbClr val="000000"/>
                          </a:solidFill>
                          <a:effectLst/>
                          <a:latin typeface="함초롬돋움" panose="020B0604000101010101" pitchFamily="50" charset="-127"/>
                          <a:ea typeface="함초롬돋움" panose="020B0604000101010101" pitchFamily="50" charset="-127"/>
                        </a:rPr>
                        <a:t>시간 이내</a:t>
                      </a:r>
                      <a:endParaRPr lang="en-US" altLang="ko-KR" sz="800" kern="0" spc="0" dirty="0">
                        <a:solidFill>
                          <a:srgbClr val="000000"/>
                        </a:solidFill>
                        <a:effectLst/>
                        <a:latin typeface="함초롬돋움" panose="020B0604000101010101" pitchFamily="50" charset="-127"/>
                        <a:ea typeface="함초롬돋움" panose="020B0604000101010101" pitchFamily="50" charset="-127"/>
                      </a:endParaRPr>
                    </a:p>
                  </a:txBody>
                  <a:tcPr marL="48578" marR="48578" marT="13430" marB="1343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54243505"/>
                  </a:ext>
                </a:extLst>
              </a:tr>
              <a:tr h="1121408">
                <a:tc>
                  <a:txBody>
                    <a:bodyPr/>
                    <a:lstStyle/>
                    <a:p>
                      <a:pPr marL="171450" marR="0" indent="-17145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ü"/>
                      </a:pPr>
                      <a:r>
                        <a:rPr lang="ko-KR" altLang="en-US" sz="900" kern="0" spc="0" dirty="0">
                          <a:solidFill>
                            <a:schemeClr val="tx1"/>
                          </a:solidFill>
                          <a:effectLst/>
                          <a:latin typeface="함초롬돋움" panose="020B0604000101010101" pitchFamily="50" charset="-127"/>
                          <a:ea typeface="함초롬돋움" panose="020B0604000101010101" pitchFamily="50" charset="-127"/>
                        </a:rPr>
                        <a:t>본사</a:t>
                      </a:r>
                      <a:r>
                        <a:rPr lang="en-US" altLang="ko-KR" sz="900" kern="0" spc="0" dirty="0">
                          <a:solidFill>
                            <a:schemeClr val="tx1"/>
                          </a:solidFill>
                          <a:effectLst/>
                          <a:latin typeface="함초롬돋움" panose="020B0604000101010101" pitchFamily="50" charset="-127"/>
                          <a:ea typeface="함초롬돋움" panose="020B0604000101010101" pitchFamily="50" charset="-127"/>
                        </a:rPr>
                        <a:t>(</a:t>
                      </a:r>
                      <a:r>
                        <a:rPr lang="ko-KR" altLang="en-US" sz="900" kern="0" spc="0" dirty="0" err="1">
                          <a:solidFill>
                            <a:schemeClr val="tx1"/>
                          </a:solidFill>
                          <a:effectLst/>
                          <a:latin typeface="함초롬돋움" panose="020B0604000101010101" pitchFamily="50" charset="-127"/>
                          <a:ea typeface="함초롬돋움" panose="020B0604000101010101" pitchFamily="50" charset="-127"/>
                        </a:rPr>
                        <a:t>공사팀</a:t>
                      </a:r>
                      <a:r>
                        <a:rPr lang="en-US" altLang="ko-KR" sz="900" kern="0" spc="0" dirty="0">
                          <a:solidFill>
                            <a:schemeClr val="tx1"/>
                          </a:solidFill>
                          <a:effectLst/>
                          <a:latin typeface="함초롬돋움" panose="020B0604000101010101" pitchFamily="50" charset="-127"/>
                          <a:ea typeface="함초롬돋움" panose="020B0604000101010101" pitchFamily="50" charset="-127"/>
                        </a:rPr>
                        <a:t>, </a:t>
                      </a:r>
                      <a:r>
                        <a:rPr lang="ko-KR" altLang="en-US" sz="900" kern="0" spc="0" dirty="0">
                          <a:solidFill>
                            <a:schemeClr val="tx1"/>
                          </a:solidFill>
                          <a:effectLst/>
                          <a:latin typeface="함초롬돋움" panose="020B0604000101010101" pitchFamily="50" charset="-127"/>
                          <a:ea typeface="함초롬돋움" panose="020B0604000101010101" pitchFamily="50" charset="-127"/>
                        </a:rPr>
                        <a:t>안전보건실</a:t>
                      </a:r>
                      <a:r>
                        <a:rPr lang="en-US" altLang="ko-KR" sz="900" kern="0" spc="0" dirty="0">
                          <a:solidFill>
                            <a:schemeClr val="tx1"/>
                          </a:solidFill>
                          <a:effectLst/>
                          <a:latin typeface="함초롬돋움" panose="020B0604000101010101" pitchFamily="50" charset="-127"/>
                          <a:ea typeface="함초롬돋움" panose="020B0604000101010101" pitchFamily="50" charset="-127"/>
                        </a:rPr>
                        <a:t>),</a:t>
                      </a:r>
                      <a:r>
                        <a:rPr lang="ko-KR" altLang="en-US" sz="900" kern="0" spc="0" dirty="0">
                          <a:solidFill>
                            <a:schemeClr val="tx1"/>
                          </a:solidFill>
                          <a:effectLst/>
                          <a:latin typeface="함초롬돋움" panose="020B0604000101010101" pitchFamily="50" charset="-127"/>
                          <a:ea typeface="함초롬돋움" panose="020B0604000101010101" pitchFamily="50" charset="-127"/>
                        </a:rPr>
                        <a:t> </a:t>
                      </a:r>
                      <a:r>
                        <a:rPr lang="ko-KR" altLang="en-US" sz="900" kern="0" spc="0" dirty="0" err="1">
                          <a:solidFill>
                            <a:schemeClr val="tx1"/>
                          </a:solidFill>
                          <a:effectLst/>
                          <a:latin typeface="함초롬돋움" panose="020B0604000101010101" pitchFamily="50" charset="-127"/>
                          <a:ea typeface="함초롬돋움" panose="020B0604000101010101" pitchFamily="50" charset="-127"/>
                        </a:rPr>
                        <a:t>원청사</a:t>
                      </a:r>
                      <a:r>
                        <a:rPr lang="ko-KR" altLang="en-US" sz="900" kern="0" spc="0" dirty="0">
                          <a:solidFill>
                            <a:schemeClr val="tx1"/>
                          </a:solidFill>
                          <a:effectLst/>
                          <a:latin typeface="함초롬돋움" panose="020B0604000101010101" pitchFamily="50" charset="-127"/>
                          <a:ea typeface="함초롬돋움" panose="020B0604000101010101" pitchFamily="50" charset="-127"/>
                        </a:rPr>
                        <a:t> 즉시 보고</a:t>
                      </a:r>
                      <a:endParaRPr lang="en-US" altLang="ko-KR" sz="900" kern="0" spc="0" dirty="0">
                        <a:solidFill>
                          <a:schemeClr val="tx1"/>
                        </a:solidFill>
                        <a:effectLst/>
                        <a:latin typeface="함초롬돋움" panose="020B0604000101010101" pitchFamily="50" charset="-127"/>
                        <a:ea typeface="함초롬돋움" panose="020B0604000101010101" pitchFamily="50" charset="-127"/>
                      </a:endParaRPr>
                    </a:p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en-US" altLang="ko-KR" sz="900" kern="0" spc="0" dirty="0">
                          <a:solidFill>
                            <a:schemeClr val="tx1"/>
                          </a:solidFill>
                          <a:effectLst/>
                          <a:latin typeface="함초롬돋움" panose="020B0604000101010101" pitchFamily="50" charset="-127"/>
                          <a:ea typeface="함초롬돋움" panose="020B0604000101010101" pitchFamily="50" charset="-127"/>
                        </a:rPr>
                        <a:t>    - </a:t>
                      </a:r>
                      <a:r>
                        <a:rPr lang="ko-KR" altLang="en-US" sz="900" kern="0" spc="0" dirty="0">
                          <a:solidFill>
                            <a:schemeClr val="tx1"/>
                          </a:solidFill>
                          <a:effectLst/>
                          <a:latin typeface="함초롬돋움" panose="020B0604000101010101" pitchFamily="50" charset="-127"/>
                          <a:ea typeface="함초롬돋움" panose="020B0604000101010101" pitchFamily="50" charset="-127"/>
                        </a:rPr>
                        <a:t>안전보건실 </a:t>
                      </a:r>
                      <a:r>
                        <a:rPr lang="en-US" altLang="ko-KR" sz="900" kern="0" spc="0" dirty="0">
                          <a:solidFill>
                            <a:schemeClr val="tx1"/>
                          </a:solidFill>
                          <a:effectLst/>
                          <a:latin typeface="함초롬돋움" panose="020B0604000101010101" pitchFamily="50" charset="-127"/>
                          <a:ea typeface="함초롬돋움" panose="020B0604000101010101" pitchFamily="50" charset="-127"/>
                        </a:rPr>
                        <a:t>: </a:t>
                      </a:r>
                      <a:r>
                        <a:rPr lang="ko-KR" altLang="en-US" sz="900" kern="0" spc="0" dirty="0" err="1">
                          <a:solidFill>
                            <a:schemeClr val="tx1"/>
                          </a:solidFill>
                          <a:effectLst/>
                          <a:latin typeface="함초롬돋움" panose="020B0604000101010101" pitchFamily="50" charset="-127"/>
                          <a:ea typeface="함초롬돋움" panose="020B0604000101010101" pitchFamily="50" charset="-127"/>
                        </a:rPr>
                        <a:t>정상익</a:t>
                      </a:r>
                      <a:r>
                        <a:rPr lang="ko-KR" altLang="en-US" sz="900" kern="0" spc="0" dirty="0">
                          <a:solidFill>
                            <a:schemeClr val="tx1"/>
                          </a:solidFill>
                          <a:effectLst/>
                          <a:latin typeface="함초롬돋움" panose="020B0604000101010101" pitchFamily="50" charset="-127"/>
                          <a:ea typeface="함초롬돋움" panose="020B0604000101010101" pitchFamily="50" charset="-127"/>
                        </a:rPr>
                        <a:t> 차장</a:t>
                      </a:r>
                      <a:r>
                        <a:rPr lang="en-US" altLang="ko-KR" sz="900" kern="0" spc="0" dirty="0">
                          <a:solidFill>
                            <a:schemeClr val="tx1"/>
                          </a:solidFill>
                          <a:effectLst/>
                          <a:latin typeface="함초롬돋움" panose="020B0604000101010101" pitchFamily="50" charset="-127"/>
                          <a:ea typeface="함초롬돋움" panose="020B0604000101010101" pitchFamily="50" charset="-127"/>
                        </a:rPr>
                        <a:t>, </a:t>
                      </a:r>
                      <a:r>
                        <a:rPr lang="ko-KR" altLang="en-US" sz="900" kern="0" spc="0" dirty="0" err="1">
                          <a:solidFill>
                            <a:schemeClr val="tx1"/>
                          </a:solidFill>
                          <a:effectLst/>
                          <a:latin typeface="함초롬돋움" panose="020B0604000101010101" pitchFamily="50" charset="-127"/>
                          <a:ea typeface="함초롬돋움" panose="020B0604000101010101" pitchFamily="50" charset="-127"/>
                        </a:rPr>
                        <a:t>엄재복</a:t>
                      </a:r>
                      <a:r>
                        <a:rPr lang="ko-KR" altLang="en-US" sz="900" kern="0" spc="0" dirty="0">
                          <a:solidFill>
                            <a:schemeClr val="tx1"/>
                          </a:solidFill>
                          <a:effectLst/>
                          <a:latin typeface="함초롬돋움" panose="020B0604000101010101" pitchFamily="50" charset="-127"/>
                          <a:ea typeface="함초롬돋움" panose="020B0604000101010101" pitchFamily="50" charset="-127"/>
                        </a:rPr>
                        <a:t> 대리</a:t>
                      </a:r>
                      <a:endParaRPr lang="ko-KR" altLang="en-US" sz="800" kern="0" spc="0" dirty="0">
                        <a:solidFill>
                          <a:schemeClr val="tx1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  <a:p>
                      <a:pPr marL="171450" marR="0" lvl="0" indent="-17145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lang="ko-KR" altLang="en-US" sz="900" kern="0" spc="0" dirty="0">
                          <a:solidFill>
                            <a:schemeClr val="tx1"/>
                          </a:solidFill>
                          <a:effectLst/>
                          <a:latin typeface="함초롬돋움" panose="020B0604000101010101" pitchFamily="50" charset="-127"/>
                          <a:ea typeface="함초롬돋움" panose="020B0604000101010101" pitchFamily="50" charset="-127"/>
                        </a:rPr>
                        <a:t>사고 상황과 증거의 보존</a:t>
                      </a:r>
                      <a:r>
                        <a:rPr lang="en-US" altLang="ko-KR" sz="900" kern="0" spc="0" dirty="0">
                          <a:solidFill>
                            <a:schemeClr val="tx1"/>
                          </a:solidFill>
                          <a:effectLst/>
                          <a:latin typeface="함초롬돋움" panose="020B0604000101010101" pitchFamily="50" charset="-127"/>
                          <a:ea typeface="함초롬돋움" panose="020B0604000101010101" pitchFamily="50" charset="-127"/>
                        </a:rPr>
                        <a:t>(</a:t>
                      </a:r>
                      <a:r>
                        <a:rPr lang="ko-KR" altLang="en-US" sz="900" kern="0" spc="0" dirty="0">
                          <a:solidFill>
                            <a:schemeClr val="tx1"/>
                          </a:solidFill>
                          <a:effectLst/>
                          <a:latin typeface="함초롬돋움" panose="020B0604000101010101" pitchFamily="50" charset="-127"/>
                          <a:ea typeface="함초롬돋움" panose="020B0604000101010101" pitchFamily="50" charset="-127"/>
                        </a:rPr>
                        <a:t>현장 보존</a:t>
                      </a:r>
                      <a:r>
                        <a:rPr lang="en-US" altLang="ko-KR" sz="900" kern="0" spc="0" dirty="0">
                          <a:solidFill>
                            <a:schemeClr val="tx1"/>
                          </a:solidFill>
                          <a:effectLst/>
                          <a:latin typeface="함초롬돋움" panose="020B0604000101010101" pitchFamily="50" charset="-127"/>
                          <a:ea typeface="함초롬돋움" panose="020B0604000101010101" pitchFamily="50" charset="-127"/>
                        </a:rPr>
                        <a:t>)</a:t>
                      </a:r>
                      <a:r>
                        <a:rPr lang="en-US" altLang="ko-KR" sz="800" kern="0" spc="0" dirty="0">
                          <a:solidFill>
                            <a:schemeClr val="tx1"/>
                          </a:solidFill>
                          <a:effectLst/>
                          <a:latin typeface="함초롬바탕" panose="02030604000101010101" pitchFamily="18" charset="-127"/>
                        </a:rPr>
                        <a:t> </a:t>
                      </a:r>
                      <a:endParaRPr lang="ko-KR" altLang="en-US" sz="800" kern="0" spc="0" dirty="0">
                        <a:solidFill>
                          <a:schemeClr val="tx1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48578" marR="48578" marT="13430" marB="1343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00" kern="0" spc="0" dirty="0">
                          <a:solidFill>
                            <a:srgbClr val="000000"/>
                          </a:solidFill>
                          <a:effectLst/>
                          <a:latin typeface="함초롬돋움" panose="020B0604000101010101" pitchFamily="50" charset="-127"/>
                          <a:ea typeface="함초롬돋움" panose="020B0604000101010101" pitchFamily="50" charset="-127"/>
                        </a:rPr>
                        <a:t>1</a:t>
                      </a:r>
                      <a:r>
                        <a:rPr lang="ko-KR" altLang="en-US" sz="800" kern="0" spc="0" dirty="0">
                          <a:solidFill>
                            <a:srgbClr val="000000"/>
                          </a:solidFill>
                          <a:effectLst/>
                          <a:latin typeface="함초롬돋움" panose="020B0604000101010101" pitchFamily="50" charset="-127"/>
                          <a:ea typeface="함초롬돋움" panose="020B0604000101010101" pitchFamily="50" charset="-127"/>
                        </a:rPr>
                        <a:t>시간 이내</a:t>
                      </a:r>
                      <a:endParaRPr lang="ko-KR" altLang="en-US" sz="7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48578" marR="48578" marT="13430" marB="1343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03829095"/>
                  </a:ext>
                </a:extLst>
              </a:tr>
              <a:tr h="2247660">
                <a:tc>
                  <a:txBody>
                    <a:bodyPr/>
                    <a:lstStyle/>
                    <a:p>
                      <a:pPr marL="175260" marR="0" indent="-17526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ü"/>
                      </a:pPr>
                      <a:r>
                        <a:rPr lang="ko-KR" altLang="en-US" sz="900" kern="0" spc="0" dirty="0">
                          <a:solidFill>
                            <a:schemeClr val="tx1"/>
                          </a:solidFill>
                          <a:effectLst/>
                          <a:latin typeface="함초롬돋움" panose="020B0604000101010101" pitchFamily="50" charset="-127"/>
                          <a:ea typeface="함초롬돋움" panose="020B0604000101010101" pitchFamily="50" charset="-127"/>
                        </a:rPr>
                        <a:t>사고보고서 작성</a:t>
                      </a:r>
                      <a:endParaRPr lang="en-US" altLang="ko-KR" sz="900" kern="0" spc="0" dirty="0">
                        <a:solidFill>
                          <a:schemeClr val="tx1"/>
                        </a:solidFill>
                        <a:effectLst/>
                        <a:latin typeface="함초롬돋움" panose="020B0604000101010101" pitchFamily="50" charset="-127"/>
                        <a:ea typeface="함초롬돋움" panose="020B0604000101010101" pitchFamily="50" charset="-127"/>
                      </a:endParaRPr>
                    </a:p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en-US" altLang="ko-KR" sz="900" kern="0" spc="0" dirty="0">
                          <a:solidFill>
                            <a:schemeClr val="tx1"/>
                          </a:solidFill>
                          <a:effectLst/>
                          <a:latin typeface="함초롬돋움" panose="020B0604000101010101" pitchFamily="50" charset="-127"/>
                          <a:ea typeface="함초롬돋움" panose="020B0604000101010101" pitchFamily="50" charset="-127"/>
                        </a:rPr>
                        <a:t>   - </a:t>
                      </a:r>
                      <a:r>
                        <a:rPr lang="ko-KR" altLang="en-US" sz="900" kern="0" spc="0" dirty="0">
                          <a:solidFill>
                            <a:schemeClr val="tx1"/>
                          </a:solidFill>
                          <a:effectLst/>
                          <a:latin typeface="함초롬돋움" panose="020B0604000101010101" pitchFamily="50" charset="-127"/>
                          <a:ea typeface="함초롬돋움" panose="020B0604000101010101" pitchFamily="50" charset="-127"/>
                        </a:rPr>
                        <a:t>재해자</a:t>
                      </a:r>
                      <a:r>
                        <a:rPr lang="en-US" altLang="ko-KR" sz="900" kern="0" spc="0" dirty="0">
                          <a:solidFill>
                            <a:schemeClr val="tx1"/>
                          </a:solidFill>
                          <a:effectLst/>
                          <a:latin typeface="함초롬돋움" panose="020B0604000101010101" pitchFamily="50" charset="-127"/>
                          <a:ea typeface="함초롬돋움" panose="020B0604000101010101" pitchFamily="50" charset="-127"/>
                        </a:rPr>
                        <a:t>/</a:t>
                      </a:r>
                      <a:r>
                        <a:rPr lang="ko-KR" altLang="en-US" sz="900" kern="0" spc="0" dirty="0">
                          <a:solidFill>
                            <a:schemeClr val="tx1"/>
                          </a:solidFill>
                          <a:effectLst/>
                          <a:latin typeface="함초롬돋움" panose="020B0604000101010101" pitchFamily="50" charset="-127"/>
                          <a:ea typeface="함초롬돋움" panose="020B0604000101010101" pitchFamily="50" charset="-127"/>
                        </a:rPr>
                        <a:t>목격자 진술</a:t>
                      </a:r>
                      <a:r>
                        <a:rPr lang="en-US" altLang="ko-KR" sz="900" kern="0" spc="0" dirty="0">
                          <a:solidFill>
                            <a:schemeClr val="tx1"/>
                          </a:solidFill>
                          <a:effectLst/>
                          <a:latin typeface="함초롬돋움" panose="020B0604000101010101" pitchFamily="50" charset="-127"/>
                          <a:ea typeface="함초롬돋움" panose="020B0604000101010101" pitchFamily="50" charset="-127"/>
                        </a:rPr>
                        <a:t>, </a:t>
                      </a:r>
                      <a:r>
                        <a:rPr lang="ko-KR" altLang="en-US" sz="900" kern="0" spc="0" dirty="0">
                          <a:solidFill>
                            <a:schemeClr val="tx1"/>
                          </a:solidFill>
                          <a:effectLst/>
                          <a:latin typeface="함초롬돋움" panose="020B0604000101010101" pitchFamily="50" charset="-127"/>
                          <a:ea typeface="함초롬돋움" panose="020B0604000101010101" pitchFamily="50" charset="-127"/>
                        </a:rPr>
                        <a:t>현장사진</a:t>
                      </a:r>
                      <a:endParaRPr lang="en-US" altLang="ko-KR" sz="900" kern="0" spc="0" dirty="0">
                        <a:solidFill>
                          <a:schemeClr val="tx1"/>
                        </a:solidFill>
                        <a:effectLst/>
                        <a:latin typeface="함초롬돋움" panose="020B0604000101010101" pitchFamily="50" charset="-127"/>
                        <a:ea typeface="함초롬돋움" panose="020B0604000101010101" pitchFamily="50" charset="-127"/>
                      </a:endParaRPr>
                    </a:p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en-US" altLang="ko-KR" sz="900" kern="0" spc="0" dirty="0">
                          <a:solidFill>
                            <a:schemeClr val="tx1"/>
                          </a:solidFill>
                          <a:effectLst/>
                          <a:latin typeface="함초롬돋움" panose="020B0604000101010101" pitchFamily="50" charset="-127"/>
                          <a:ea typeface="함초롬돋움" panose="020B0604000101010101" pitchFamily="50" charset="-127"/>
                        </a:rPr>
                        <a:t>   - </a:t>
                      </a:r>
                      <a:r>
                        <a:rPr lang="ko-KR" altLang="en-US" sz="900" kern="0" spc="0" dirty="0">
                          <a:solidFill>
                            <a:schemeClr val="tx1"/>
                          </a:solidFill>
                          <a:effectLst/>
                          <a:latin typeface="함초롬돋움" panose="020B0604000101010101" pitchFamily="50" charset="-127"/>
                          <a:ea typeface="함초롬돋움" panose="020B0604000101010101" pitchFamily="50" charset="-127"/>
                        </a:rPr>
                        <a:t>원인규명</a:t>
                      </a:r>
                      <a:r>
                        <a:rPr lang="en-US" altLang="ko-KR" sz="900" kern="0" spc="0" dirty="0">
                          <a:solidFill>
                            <a:schemeClr val="tx1"/>
                          </a:solidFill>
                          <a:effectLst/>
                          <a:latin typeface="함초롬돋움" panose="020B0604000101010101" pitchFamily="50" charset="-127"/>
                          <a:ea typeface="함초롬돋움" panose="020B0604000101010101" pitchFamily="50" charset="-127"/>
                        </a:rPr>
                        <a:t>, </a:t>
                      </a:r>
                      <a:r>
                        <a:rPr lang="ko-KR" altLang="en-US" sz="900" kern="0" spc="0" dirty="0">
                          <a:solidFill>
                            <a:schemeClr val="tx1"/>
                          </a:solidFill>
                          <a:effectLst/>
                          <a:latin typeface="함초롬돋움" panose="020B0604000101010101" pitchFamily="50" charset="-127"/>
                          <a:ea typeface="함초롬돋움" panose="020B0604000101010101" pitchFamily="50" charset="-127"/>
                        </a:rPr>
                        <a:t>재발방지대책</a:t>
                      </a:r>
                      <a:r>
                        <a:rPr lang="en-US" altLang="ko-KR" sz="900" kern="0" spc="0" dirty="0">
                          <a:solidFill>
                            <a:schemeClr val="tx1"/>
                          </a:solidFill>
                          <a:effectLst/>
                          <a:latin typeface="함초롬돋움" panose="020B0604000101010101" pitchFamily="50" charset="-127"/>
                          <a:ea typeface="함초롬돋움" panose="020B0604000101010101" pitchFamily="50" charset="-127"/>
                        </a:rPr>
                        <a:t> </a:t>
                      </a:r>
                      <a:r>
                        <a:rPr lang="ko-KR" altLang="en-US" sz="900" kern="0" spc="0" dirty="0">
                          <a:solidFill>
                            <a:schemeClr val="tx1"/>
                          </a:solidFill>
                          <a:effectLst/>
                          <a:latin typeface="함초롬돋움" panose="020B0604000101010101" pitchFamily="50" charset="-127"/>
                          <a:ea typeface="함초롬돋움" panose="020B0604000101010101" pitchFamily="50" charset="-127"/>
                        </a:rPr>
                        <a:t>수립 및 이행</a:t>
                      </a:r>
                      <a:endParaRPr lang="en-US" altLang="ko-KR" sz="900" kern="0" spc="0" dirty="0">
                        <a:solidFill>
                          <a:schemeClr val="tx1"/>
                        </a:solidFill>
                        <a:effectLst/>
                        <a:latin typeface="함초롬돋움" panose="020B0604000101010101" pitchFamily="50" charset="-127"/>
                        <a:ea typeface="함초롬돋움" panose="020B0604000101010101" pitchFamily="50" charset="-127"/>
                      </a:endParaRPr>
                    </a:p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en-US" altLang="ko-KR" sz="900" kern="0" spc="0" dirty="0">
                          <a:solidFill>
                            <a:schemeClr val="tx1"/>
                          </a:solidFill>
                          <a:effectLst/>
                          <a:latin typeface="함초롬돋움" panose="020B0604000101010101" pitchFamily="50" charset="-127"/>
                          <a:ea typeface="함초롬돋움" panose="020B0604000101010101" pitchFamily="50" charset="-127"/>
                        </a:rPr>
                        <a:t>   - </a:t>
                      </a:r>
                      <a:r>
                        <a:rPr lang="ko-KR" altLang="en-US" sz="900" kern="0" spc="0" dirty="0">
                          <a:solidFill>
                            <a:schemeClr val="tx1"/>
                          </a:solidFill>
                          <a:effectLst/>
                          <a:latin typeface="함초롬돋움" panose="020B0604000101010101" pitchFamily="50" charset="-127"/>
                          <a:ea typeface="함초롬돋움" panose="020B0604000101010101" pitchFamily="50" charset="-127"/>
                        </a:rPr>
                        <a:t>소견서</a:t>
                      </a:r>
                      <a:r>
                        <a:rPr lang="en-US" altLang="ko-KR" sz="900" kern="0" spc="0" dirty="0">
                          <a:solidFill>
                            <a:schemeClr val="tx1"/>
                          </a:solidFill>
                          <a:effectLst/>
                          <a:latin typeface="함초롬돋움" panose="020B0604000101010101" pitchFamily="50" charset="-127"/>
                          <a:ea typeface="함초롬돋움" panose="020B0604000101010101" pitchFamily="50" charset="-127"/>
                        </a:rPr>
                        <a:t>(</a:t>
                      </a:r>
                      <a:r>
                        <a:rPr lang="ko-KR" altLang="en-US" sz="900" kern="0" spc="0" dirty="0">
                          <a:solidFill>
                            <a:schemeClr val="tx1"/>
                          </a:solidFill>
                          <a:effectLst/>
                          <a:latin typeface="함초롬돋움" panose="020B0604000101010101" pitchFamily="50" charset="-127"/>
                          <a:ea typeface="함초롬돋움" panose="020B0604000101010101" pitchFamily="50" charset="-127"/>
                        </a:rPr>
                        <a:t>진단서</a:t>
                      </a:r>
                      <a:r>
                        <a:rPr lang="en-US" altLang="ko-KR" sz="900" kern="0" spc="0" dirty="0">
                          <a:solidFill>
                            <a:schemeClr val="tx1"/>
                          </a:solidFill>
                          <a:effectLst/>
                          <a:latin typeface="함초롬돋움" panose="020B0604000101010101" pitchFamily="50" charset="-127"/>
                          <a:ea typeface="함초롬돋움" panose="020B0604000101010101" pitchFamily="50" charset="-127"/>
                        </a:rPr>
                        <a:t>),</a:t>
                      </a:r>
                      <a:r>
                        <a:rPr lang="ko-KR" altLang="en-US" sz="900" kern="0" spc="0" dirty="0">
                          <a:solidFill>
                            <a:schemeClr val="tx1"/>
                          </a:solidFill>
                          <a:effectLst/>
                          <a:latin typeface="함초롬돋움" panose="020B0604000101010101" pitchFamily="50" charset="-127"/>
                          <a:ea typeface="함초롬돋움" panose="020B0604000101010101" pitchFamily="50" charset="-127"/>
                        </a:rPr>
                        <a:t>영수증</a:t>
                      </a:r>
                      <a:r>
                        <a:rPr lang="en-US" altLang="ko-KR" sz="900" kern="0" spc="0" dirty="0">
                          <a:solidFill>
                            <a:schemeClr val="tx1"/>
                          </a:solidFill>
                          <a:effectLst/>
                          <a:latin typeface="함초롬돋움" panose="020B0604000101010101" pitchFamily="50" charset="-127"/>
                          <a:ea typeface="함초롬돋움" panose="020B0604000101010101" pitchFamily="50" charset="-127"/>
                        </a:rPr>
                        <a:t>, </a:t>
                      </a:r>
                      <a:r>
                        <a:rPr lang="ko-KR" altLang="en-US" sz="900" kern="0" spc="0" dirty="0">
                          <a:solidFill>
                            <a:schemeClr val="tx1"/>
                          </a:solidFill>
                          <a:effectLst/>
                          <a:latin typeface="함초롬돋움" panose="020B0604000101010101" pitchFamily="50" charset="-127"/>
                          <a:ea typeface="함초롬돋움" panose="020B0604000101010101" pitchFamily="50" charset="-127"/>
                        </a:rPr>
                        <a:t>진료 내역서</a:t>
                      </a:r>
                      <a:endParaRPr lang="en-US" altLang="ko-KR" sz="900" kern="0" spc="0" dirty="0">
                        <a:solidFill>
                          <a:schemeClr val="tx1"/>
                        </a:solidFill>
                        <a:effectLst/>
                        <a:latin typeface="함초롬돋움" panose="020B0604000101010101" pitchFamily="50" charset="-127"/>
                        <a:ea typeface="함초롬돋움" panose="020B0604000101010101" pitchFamily="50" charset="-127"/>
                      </a:endParaRPr>
                    </a:p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en-US" altLang="ko-KR" sz="900" kern="0" spc="0" dirty="0">
                          <a:solidFill>
                            <a:schemeClr val="tx1"/>
                          </a:solidFill>
                          <a:effectLst/>
                          <a:latin typeface="함초롬돋움" panose="020B0604000101010101" pitchFamily="50" charset="-127"/>
                          <a:ea typeface="함초롬돋움" panose="020B0604000101010101" pitchFamily="50" charset="-127"/>
                        </a:rPr>
                        <a:t>   - </a:t>
                      </a:r>
                      <a:r>
                        <a:rPr lang="ko-KR" altLang="en-US" sz="900" kern="0" spc="0" dirty="0">
                          <a:solidFill>
                            <a:schemeClr val="tx1"/>
                          </a:solidFill>
                          <a:effectLst/>
                          <a:latin typeface="함초롬돋움" panose="020B0604000101010101" pitchFamily="50" charset="-127"/>
                          <a:ea typeface="함초롬돋움" panose="020B0604000101010101" pitchFamily="50" charset="-127"/>
                        </a:rPr>
                        <a:t>위험성평가</a:t>
                      </a:r>
                      <a:r>
                        <a:rPr lang="en-US" altLang="ko-KR" sz="900" kern="0" spc="0" dirty="0">
                          <a:solidFill>
                            <a:schemeClr val="tx1"/>
                          </a:solidFill>
                          <a:effectLst/>
                          <a:latin typeface="함초롬돋움" panose="020B0604000101010101" pitchFamily="50" charset="-127"/>
                          <a:ea typeface="함초롬돋움" panose="020B0604000101010101" pitchFamily="50" charset="-127"/>
                        </a:rPr>
                        <a:t>, </a:t>
                      </a:r>
                      <a:r>
                        <a:rPr lang="ko-KR" altLang="en-US" sz="900" kern="0" spc="0" dirty="0">
                          <a:solidFill>
                            <a:schemeClr val="tx1"/>
                          </a:solidFill>
                          <a:effectLst/>
                          <a:latin typeface="함초롬돋움" panose="020B0604000101010101" pitchFamily="50" charset="-127"/>
                          <a:ea typeface="함초롬돋움" panose="020B0604000101010101" pitchFamily="50" charset="-127"/>
                        </a:rPr>
                        <a:t>교육</a:t>
                      </a:r>
                      <a:r>
                        <a:rPr lang="en-US" altLang="ko-KR" sz="900" kern="0" spc="0" dirty="0">
                          <a:solidFill>
                            <a:schemeClr val="tx1"/>
                          </a:solidFill>
                          <a:effectLst/>
                          <a:latin typeface="함초롬돋움" panose="020B0604000101010101" pitchFamily="50" charset="-127"/>
                          <a:ea typeface="함초롬돋움" panose="020B0604000101010101" pitchFamily="50" charset="-127"/>
                        </a:rPr>
                        <a:t>, </a:t>
                      </a:r>
                      <a:r>
                        <a:rPr lang="ko-KR" altLang="en-US" sz="900" kern="0" spc="0" dirty="0">
                          <a:solidFill>
                            <a:schemeClr val="tx1"/>
                          </a:solidFill>
                          <a:effectLst/>
                          <a:latin typeface="함초롬돋움" panose="020B0604000101010101" pitchFamily="50" charset="-127"/>
                          <a:ea typeface="함초롬돋움" panose="020B0604000101010101" pitchFamily="50" charset="-127"/>
                        </a:rPr>
                        <a:t>사고사례 전파 등</a:t>
                      </a:r>
                      <a:endParaRPr lang="en-US" altLang="ko-KR" sz="900" kern="0" spc="0" dirty="0">
                        <a:solidFill>
                          <a:schemeClr val="tx1"/>
                        </a:solidFill>
                        <a:effectLst/>
                        <a:latin typeface="함초롬돋움" panose="020B0604000101010101" pitchFamily="50" charset="-127"/>
                        <a:ea typeface="함초롬돋움" panose="020B0604000101010101" pitchFamily="50" charset="-127"/>
                      </a:endParaRPr>
                    </a:p>
                    <a:p>
                      <a:pPr marL="171450" marR="0" indent="-17145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ü"/>
                      </a:pPr>
                      <a:r>
                        <a:rPr lang="en-US" altLang="ko-KR" sz="900" kern="0" spc="0" dirty="0">
                          <a:solidFill>
                            <a:schemeClr val="tx1"/>
                          </a:solidFill>
                          <a:effectLst/>
                          <a:latin typeface="함초롬돋움" panose="020B0604000101010101" pitchFamily="50" charset="-127"/>
                          <a:ea typeface="함초롬돋움" panose="020B0604000101010101" pitchFamily="50" charset="-127"/>
                        </a:rPr>
                        <a:t> </a:t>
                      </a:r>
                      <a:r>
                        <a:rPr lang="ko-KR" altLang="en-US" sz="900" kern="0" spc="0" dirty="0">
                          <a:solidFill>
                            <a:schemeClr val="tx1"/>
                          </a:solidFill>
                          <a:effectLst/>
                          <a:latin typeface="함초롬돋움" panose="020B0604000101010101" pitchFamily="50" charset="-127"/>
                          <a:ea typeface="함초롬돋움" panose="020B0604000101010101" pitchFamily="50" charset="-127"/>
                        </a:rPr>
                        <a:t>안전보건실 및 도급사검토</a:t>
                      </a:r>
                      <a:endParaRPr lang="en-US" altLang="ko-KR" sz="900" kern="0" spc="0" dirty="0">
                        <a:solidFill>
                          <a:schemeClr val="tx1"/>
                        </a:solidFill>
                        <a:effectLst/>
                        <a:latin typeface="함초롬돋움" panose="020B0604000101010101" pitchFamily="50" charset="-127"/>
                        <a:ea typeface="함초롬돋움" panose="020B0604000101010101" pitchFamily="50" charset="-127"/>
                      </a:endParaRPr>
                    </a:p>
                    <a:p>
                      <a:pPr marL="171450" marR="0" indent="-17145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ü"/>
                      </a:pPr>
                      <a:r>
                        <a:rPr lang="ko-KR" altLang="en-US" sz="900" kern="0" spc="0" dirty="0">
                          <a:solidFill>
                            <a:schemeClr val="tx1"/>
                          </a:solidFill>
                          <a:effectLst/>
                          <a:latin typeface="함초롬돋움" panose="020B0604000101010101" pitchFamily="50" charset="-127"/>
                          <a:ea typeface="함초롬돋움" panose="020B0604000101010101" pitchFamily="50" charset="-127"/>
                        </a:rPr>
                        <a:t>산업재해조사표 작성</a:t>
                      </a:r>
                      <a:r>
                        <a:rPr lang="en-US" altLang="ko-KR" sz="900" kern="0" spc="0" dirty="0">
                          <a:solidFill>
                            <a:schemeClr val="tx1"/>
                          </a:solidFill>
                          <a:effectLst/>
                          <a:latin typeface="함초롬돋움" panose="020B0604000101010101" pitchFamily="50" charset="-127"/>
                          <a:ea typeface="함초롬돋움" panose="020B0604000101010101" pitchFamily="50" charset="-127"/>
                        </a:rPr>
                        <a:t>, </a:t>
                      </a:r>
                      <a:r>
                        <a:rPr lang="ko-KR" altLang="en-US" sz="900" kern="0" spc="0" dirty="0">
                          <a:solidFill>
                            <a:schemeClr val="tx1"/>
                          </a:solidFill>
                          <a:effectLst/>
                          <a:latin typeface="함초롬돋움" panose="020B0604000101010101" pitchFamily="50" charset="-127"/>
                          <a:ea typeface="함초롬돋움" panose="020B0604000101010101" pitchFamily="50" charset="-127"/>
                        </a:rPr>
                        <a:t>산재신청</a:t>
                      </a:r>
                      <a:r>
                        <a:rPr lang="en-US" altLang="ko-KR" sz="900" kern="0" spc="0" dirty="0">
                          <a:solidFill>
                            <a:schemeClr val="tx1"/>
                          </a:solidFill>
                          <a:effectLst/>
                          <a:latin typeface="함초롬돋움" panose="020B0604000101010101" pitchFamily="50" charset="-127"/>
                          <a:ea typeface="함초롬돋움" panose="020B0604000101010101" pitchFamily="50" charset="-127"/>
                        </a:rPr>
                        <a:t>(30</a:t>
                      </a:r>
                      <a:r>
                        <a:rPr lang="ko-KR" altLang="en-US" sz="900" kern="0" spc="0" dirty="0">
                          <a:solidFill>
                            <a:schemeClr val="tx1"/>
                          </a:solidFill>
                          <a:effectLst/>
                          <a:latin typeface="함초롬돋움" panose="020B0604000101010101" pitchFamily="50" charset="-127"/>
                          <a:ea typeface="함초롬돋움" panose="020B0604000101010101" pitchFamily="50" charset="-127"/>
                        </a:rPr>
                        <a:t>일 이내</a:t>
                      </a:r>
                      <a:r>
                        <a:rPr lang="en-US" altLang="ko-KR" sz="900" kern="0" spc="0" dirty="0">
                          <a:solidFill>
                            <a:schemeClr val="tx1"/>
                          </a:solidFill>
                          <a:effectLst/>
                          <a:latin typeface="함초롬돋움" panose="020B0604000101010101" pitchFamily="50" charset="-127"/>
                          <a:ea typeface="함초롬돋움" panose="020B0604000101010101" pitchFamily="50" charset="-127"/>
                        </a:rPr>
                        <a:t>)</a:t>
                      </a:r>
                      <a:endParaRPr lang="ko-KR" altLang="en-US" sz="800" kern="0" spc="0" dirty="0">
                        <a:solidFill>
                          <a:schemeClr val="tx1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48578" marR="48578" marT="13430" marB="1343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00" kern="0" spc="0" dirty="0">
                          <a:solidFill>
                            <a:srgbClr val="000000"/>
                          </a:solidFill>
                          <a:effectLst/>
                          <a:latin typeface="함초롬돋움" panose="020B0604000101010101" pitchFamily="50" charset="-127"/>
                          <a:ea typeface="함초롬돋움" panose="020B0604000101010101" pitchFamily="50" charset="-127"/>
                        </a:rPr>
                        <a:t>3</a:t>
                      </a:r>
                      <a:r>
                        <a:rPr lang="ko-KR" altLang="en-US" sz="800" kern="0" spc="0" dirty="0">
                          <a:solidFill>
                            <a:srgbClr val="000000"/>
                          </a:solidFill>
                          <a:effectLst/>
                          <a:latin typeface="함초롬돋움" panose="020B0604000101010101" pitchFamily="50" charset="-127"/>
                          <a:ea typeface="함초롬돋움" panose="020B0604000101010101" pitchFamily="50" charset="-127"/>
                        </a:rPr>
                        <a:t>일 이내</a:t>
                      </a:r>
                      <a:endParaRPr lang="ko-KR" altLang="en-US" sz="7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48578" marR="48578" marT="13430" marB="1343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30738103"/>
                  </a:ext>
                </a:extLst>
              </a:tr>
            </a:tbl>
          </a:graphicData>
        </a:graphic>
      </p:graphicFrame>
      <p:sp>
        <p:nvSpPr>
          <p:cNvPr id="11" name="텍스트 개체 틀 2">
            <a:extLst>
              <a:ext uri="{FF2B5EF4-FFF2-40B4-BE49-F238E27FC236}">
                <a16:creationId xmlns:a16="http://schemas.microsoft.com/office/drawing/2014/main" id="{EE93D6ED-D336-4070-BEF0-09AB9EBA7DC5}"/>
              </a:ext>
            </a:extLst>
          </p:cNvPr>
          <p:cNvSpPr txBox="1">
            <a:spLocks/>
          </p:cNvSpPr>
          <p:nvPr/>
        </p:nvSpPr>
        <p:spPr>
          <a:xfrm>
            <a:off x="4148780" y="615327"/>
            <a:ext cx="2264970" cy="1583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b="1" kern="1200" spc="-15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100000"/>
              </a:lnSpc>
            </a:pPr>
            <a:r>
              <a:rPr lang="ko-KR" altLang="en-US" sz="1029" spc="-74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■ 사고처리 </a:t>
            </a:r>
            <a:r>
              <a:rPr lang="en-US" altLang="ko-KR" sz="1029" spc="-74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FLOW(</a:t>
            </a:r>
            <a:r>
              <a:rPr lang="ko-KR" altLang="en-US" sz="1029" spc="-74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현장 게시용</a:t>
            </a:r>
            <a:r>
              <a:rPr lang="en-US" altLang="ko-KR" sz="1029" spc="-74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en-US" altLang="ko-KR" sz="1029" spc="-74" dirty="0">
              <a:solidFill>
                <a:schemeClr val="tx1">
                  <a:lumMod val="50000"/>
                  <a:lumOff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FA67E4E9-4949-4FA3-8FBC-56DA91C30443}"/>
              </a:ext>
            </a:extLst>
          </p:cNvPr>
          <p:cNvSpPr/>
          <p:nvPr/>
        </p:nvSpPr>
        <p:spPr>
          <a:xfrm>
            <a:off x="245951" y="159090"/>
            <a:ext cx="3814763" cy="3357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350" dirty="0"/>
              <a:t>반드시 </a:t>
            </a:r>
            <a:r>
              <a:rPr lang="ko-KR" altLang="en-US" sz="1350" dirty="0" err="1"/>
              <a:t>알아두고</a:t>
            </a:r>
            <a:r>
              <a:rPr lang="ko-KR" altLang="en-US" sz="1350" dirty="0"/>
              <a:t> 실행에 옮겨야 할 사항</a:t>
            </a:r>
          </a:p>
        </p:txBody>
      </p:sp>
    </p:spTree>
    <p:extLst>
      <p:ext uri="{BB962C8B-B14F-4D97-AF65-F5344CB8AC3E}">
        <p14:creationId xmlns:p14="http://schemas.microsoft.com/office/powerpoint/2010/main" val="10905743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텍스트 개체 틀 2">
            <a:extLst>
              <a:ext uri="{FF2B5EF4-FFF2-40B4-BE49-F238E27FC236}">
                <a16:creationId xmlns:a16="http://schemas.microsoft.com/office/drawing/2014/main" id="{9072DEBB-B053-42FB-ADC3-915D72A116DB}"/>
              </a:ext>
            </a:extLst>
          </p:cNvPr>
          <p:cNvSpPr txBox="1">
            <a:spLocks/>
          </p:cNvSpPr>
          <p:nvPr/>
        </p:nvSpPr>
        <p:spPr>
          <a:xfrm>
            <a:off x="221138" y="628138"/>
            <a:ext cx="2264970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b="1" kern="1200" spc="-15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100000"/>
              </a:lnSpc>
            </a:pPr>
            <a:r>
              <a:rPr lang="ko-KR" altLang="en-US" sz="1400" spc="-74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■ </a:t>
            </a:r>
            <a:r>
              <a:rPr lang="en-US" altLang="ko-KR" sz="1400" spc="-74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119 </a:t>
            </a:r>
            <a:r>
              <a:rPr lang="ko-KR" altLang="en-US" sz="1400" spc="-74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음주문화 캠페인 시행</a:t>
            </a:r>
            <a:endParaRPr lang="en-US" altLang="ko-KR" sz="1400" spc="-74" dirty="0">
              <a:solidFill>
                <a:schemeClr val="tx1">
                  <a:lumMod val="50000"/>
                  <a:lumOff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90B798B2-ADEE-4793-B4EA-6CCD033AD8C4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6624" y="1318662"/>
            <a:ext cx="2785569" cy="2790012"/>
          </a:xfrm>
          <a:prstGeom prst="rect">
            <a:avLst/>
          </a:prstGeom>
        </p:spPr>
      </p:pic>
      <p:pic>
        <p:nvPicPr>
          <p:cNvPr id="9" name="Picture 2" descr="11월 음주폐해예방의 달">
            <a:extLst>
              <a:ext uri="{FF2B5EF4-FFF2-40B4-BE49-F238E27FC236}">
                <a16:creationId xmlns:a16="http://schemas.microsoft.com/office/drawing/2014/main" id="{3B7E4D19-E077-47BB-9E37-14548BC4E3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240510" y="1318662"/>
            <a:ext cx="2790012" cy="2790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6509395-29D1-4B91-ACF2-9F9A90FB3ACA}"/>
              </a:ext>
            </a:extLst>
          </p:cNvPr>
          <p:cNvSpPr txBox="1"/>
          <p:nvPr/>
        </p:nvSpPr>
        <p:spPr>
          <a:xfrm>
            <a:off x="1531154" y="4400513"/>
            <a:ext cx="6698445" cy="510871"/>
          </a:xfrm>
          <a:prstGeom prst="rect">
            <a:avLst/>
          </a:prstGeom>
          <a:noFill/>
        </p:spPr>
        <p:txBody>
          <a:bodyPr wrap="square" lIns="27000" tIns="27000" rIns="27000" bIns="27000" rtlCol="0">
            <a:spAutoFit/>
          </a:bodyPr>
          <a:lstStyle/>
          <a:p>
            <a:pPr algn="just">
              <a:lnSpc>
                <a:spcPct val="107000"/>
              </a:lnSpc>
              <a:spcAft>
                <a:spcPts val="600"/>
              </a:spcAft>
            </a:pPr>
            <a:r>
              <a:rPr lang="en-US" altLang="ko-KR" sz="1200" kern="100" spc="-86" dirty="0">
                <a:solidFill>
                  <a:srgbClr val="3D3939"/>
                </a:solidFill>
                <a:latin typeface="+mn-ea"/>
                <a:cs typeface="Times New Roman" panose="02020603050405020304" pitchFamily="18" charset="0"/>
              </a:rPr>
              <a:t> "</a:t>
            </a:r>
            <a:r>
              <a:rPr lang="ko-KR" altLang="ko-KR" sz="1200" kern="100" spc="-86" dirty="0">
                <a:solidFill>
                  <a:srgbClr val="3D3939"/>
                </a:solidFill>
                <a:latin typeface="+mn-ea"/>
                <a:cs typeface="Times New Roman" panose="02020603050405020304" pitchFamily="18" charset="0"/>
              </a:rPr>
              <a:t>과음과 폭음으로 이어지는 잘못된 음주 습관이 </a:t>
            </a:r>
            <a:r>
              <a:rPr lang="ko-KR" altLang="ko-KR" sz="1200" kern="100" spc="-86" dirty="0" err="1">
                <a:solidFill>
                  <a:srgbClr val="3D3939"/>
                </a:solidFill>
                <a:latin typeface="+mn-ea"/>
                <a:cs typeface="Times New Roman" panose="02020603050405020304" pitchFamily="18" charset="0"/>
              </a:rPr>
              <a:t>개인과</a:t>
            </a:r>
            <a:r>
              <a:rPr lang="ko-KR" altLang="ko-KR" sz="1200" kern="100" spc="-86" dirty="0">
                <a:solidFill>
                  <a:srgbClr val="3D3939"/>
                </a:solidFill>
                <a:latin typeface="+mn-ea"/>
                <a:cs typeface="Times New Roman" panose="02020603050405020304" pitchFamily="18" charset="0"/>
              </a:rPr>
              <a:t> 회사에 미치는 부정적 영향을 인식하고 </a:t>
            </a:r>
            <a:endParaRPr lang="en-US" altLang="ko-KR" sz="1200" kern="100" spc="-86" dirty="0">
              <a:solidFill>
                <a:srgbClr val="3D3939"/>
              </a:solidFill>
              <a:latin typeface="+mn-ea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600"/>
              </a:spcAft>
            </a:pPr>
            <a:r>
              <a:rPr lang="en-US" altLang="ko-KR" sz="1200" b="1" kern="100" spc="-86" dirty="0">
                <a:solidFill>
                  <a:srgbClr val="0000FF"/>
                </a:solidFill>
                <a:latin typeface="+mn-ea"/>
                <a:cs typeface="Times New Roman" panose="02020603050405020304" pitchFamily="18" charset="0"/>
              </a:rPr>
              <a:t>  </a:t>
            </a:r>
            <a:r>
              <a:rPr lang="ko-KR" altLang="ko-KR" sz="1200" b="1" kern="100" spc="-86" dirty="0">
                <a:solidFill>
                  <a:srgbClr val="0000FF"/>
                </a:solidFill>
                <a:latin typeface="+mn-ea"/>
                <a:cs typeface="Times New Roman" panose="02020603050405020304" pitchFamily="18" charset="0"/>
              </a:rPr>
              <a:t>건전 음주문화 캠페인을 통해 개인의 건강</a:t>
            </a:r>
            <a:r>
              <a:rPr lang="en-US" altLang="ko-KR" sz="1200" b="1" kern="100" spc="-86" dirty="0">
                <a:solidFill>
                  <a:srgbClr val="0000FF"/>
                </a:solidFill>
                <a:latin typeface="+mn-ea"/>
                <a:cs typeface="Times New Roman" panose="02020603050405020304" pitchFamily="18" charset="0"/>
              </a:rPr>
              <a:t>Care</a:t>
            </a:r>
            <a:r>
              <a:rPr lang="ko-KR" altLang="ko-KR" sz="1200" b="1" kern="100" spc="-86" dirty="0">
                <a:solidFill>
                  <a:srgbClr val="0000FF"/>
                </a:solidFill>
                <a:latin typeface="+mn-ea"/>
                <a:cs typeface="Times New Roman" panose="02020603050405020304" pitchFamily="18" charset="0"/>
              </a:rPr>
              <a:t>와 각종 안전사고를 예방</a:t>
            </a:r>
            <a:r>
              <a:rPr lang="ko-KR" altLang="ko-KR" sz="1200" kern="100" spc="-86" dirty="0">
                <a:solidFill>
                  <a:srgbClr val="3D3939"/>
                </a:solidFill>
                <a:latin typeface="+mn-ea"/>
                <a:cs typeface="Times New Roman" panose="02020603050405020304" pitchFamily="18" charset="0"/>
              </a:rPr>
              <a:t>하고자 함</a:t>
            </a:r>
            <a:r>
              <a:rPr lang="en-US" altLang="ko-KR" sz="1200" kern="100" spc="-86" dirty="0">
                <a:solidFill>
                  <a:srgbClr val="3D3939"/>
                </a:solidFill>
                <a:latin typeface="+mn-ea"/>
                <a:cs typeface="Times New Roman" panose="02020603050405020304" pitchFamily="18" charset="0"/>
              </a:rPr>
              <a:t>.</a:t>
            </a:r>
            <a:endParaRPr lang="en-US" altLang="ko-KR" sz="1200" dirty="0">
              <a:solidFill>
                <a:srgbClr val="3D3939"/>
              </a:solidFill>
              <a:latin typeface="+mn-ea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97B68396-B0B8-481E-8038-7AAE6A7F2C96}"/>
              </a:ext>
            </a:extLst>
          </p:cNvPr>
          <p:cNvSpPr/>
          <p:nvPr/>
        </p:nvSpPr>
        <p:spPr bwMode="auto">
          <a:xfrm>
            <a:off x="300926" y="4372231"/>
            <a:ext cx="1081781" cy="520003"/>
          </a:xfrm>
          <a:prstGeom prst="rect">
            <a:avLst/>
          </a:prstGeom>
          <a:noFill/>
          <a:ln w="9525" cap="flat" cmpd="sng" algn="ctr">
            <a:solidFill>
              <a:sysClr val="windowText" lastClr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defTabSz="685800" fontAlgn="base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200" b="1" dirty="0">
                <a:solidFill>
                  <a:srgbClr val="000000"/>
                </a:solidFill>
                <a:latin typeface="+mn-ea"/>
              </a:rPr>
              <a:t>운영 취지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DA768C8-83B5-4AA4-9E8E-AC1CDDF95CD2}"/>
              </a:ext>
            </a:extLst>
          </p:cNvPr>
          <p:cNvSpPr txBox="1"/>
          <p:nvPr/>
        </p:nvSpPr>
        <p:spPr>
          <a:xfrm>
            <a:off x="1531157" y="5111660"/>
            <a:ext cx="7090329" cy="983051"/>
          </a:xfrm>
          <a:prstGeom prst="rect">
            <a:avLst/>
          </a:prstGeom>
          <a:noFill/>
        </p:spPr>
        <p:txBody>
          <a:bodyPr wrap="square" lIns="27000" tIns="27000" rIns="27000" bIns="27000" rtlCol="0">
            <a:spAutoFit/>
          </a:bodyPr>
          <a:lstStyle/>
          <a:p>
            <a:pPr marL="257175" indent="-257175" algn="just">
              <a:lnSpc>
                <a:spcPct val="107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en-US" altLang="ko-KR" sz="1200" b="1" kern="100" spc="-86" dirty="0">
                <a:solidFill>
                  <a:srgbClr val="444444"/>
                </a:solidFill>
                <a:latin typeface="+mn-ea"/>
                <a:cs typeface="Times New Roman" panose="02020603050405020304" pitchFamily="18" charset="0"/>
              </a:rPr>
              <a:t>"</a:t>
            </a:r>
            <a:r>
              <a:rPr lang="en-US" altLang="ko-KR" sz="1200" b="1" kern="100" dirty="0">
                <a:latin typeface="+mn-ea"/>
                <a:cs typeface="Times New Roman" panose="02020603050405020304" pitchFamily="18" charset="0"/>
              </a:rPr>
              <a:t> </a:t>
            </a:r>
            <a:r>
              <a:rPr lang="ko-KR" altLang="ko-KR" sz="1200" b="1" kern="100" spc="-19" dirty="0">
                <a:solidFill>
                  <a:srgbClr val="222425"/>
                </a:solidFill>
                <a:latin typeface="+mn-ea"/>
                <a:cs typeface="Times New Roman" panose="02020603050405020304" pitchFamily="18" charset="0"/>
              </a:rPr>
              <a:t>음주 회식은 ‘</a:t>
            </a:r>
            <a:r>
              <a:rPr lang="en-US" altLang="ko-KR" sz="1200" b="1" kern="100" spc="-19" dirty="0">
                <a:solidFill>
                  <a:srgbClr val="222425"/>
                </a:solidFill>
                <a:latin typeface="+mn-ea"/>
                <a:cs typeface="Times New Roman" panose="02020603050405020304" pitchFamily="18" charset="0"/>
              </a:rPr>
              <a:t>1</a:t>
            </a:r>
            <a:r>
              <a:rPr lang="ko-KR" altLang="ko-KR" sz="1200" b="1" kern="100" spc="-19" dirty="0">
                <a:solidFill>
                  <a:srgbClr val="222425"/>
                </a:solidFill>
                <a:latin typeface="+mn-ea"/>
                <a:cs typeface="Times New Roman" panose="02020603050405020304" pitchFamily="18" charset="0"/>
              </a:rPr>
              <a:t>·</a:t>
            </a:r>
            <a:r>
              <a:rPr lang="en-US" altLang="ko-KR" sz="1200" b="1" kern="100" spc="-19" dirty="0">
                <a:solidFill>
                  <a:srgbClr val="222425"/>
                </a:solidFill>
                <a:latin typeface="+mn-ea"/>
                <a:cs typeface="Times New Roman" panose="02020603050405020304" pitchFamily="18" charset="0"/>
              </a:rPr>
              <a:t>1</a:t>
            </a:r>
            <a:r>
              <a:rPr lang="ko-KR" altLang="ko-KR" sz="1200" b="1" kern="100" spc="-19" dirty="0">
                <a:solidFill>
                  <a:srgbClr val="222425"/>
                </a:solidFill>
                <a:latin typeface="+mn-ea"/>
                <a:cs typeface="Times New Roman" panose="02020603050405020304" pitchFamily="18" charset="0"/>
              </a:rPr>
              <a:t>·</a:t>
            </a:r>
            <a:r>
              <a:rPr lang="en-US" altLang="ko-KR" sz="1200" b="1" kern="100" spc="-19" dirty="0">
                <a:solidFill>
                  <a:srgbClr val="222425"/>
                </a:solidFill>
                <a:latin typeface="+mn-ea"/>
                <a:cs typeface="Times New Roman" panose="02020603050405020304" pitchFamily="18" charset="0"/>
              </a:rPr>
              <a:t>9 </a:t>
            </a:r>
            <a:r>
              <a:rPr lang="ko-KR" altLang="ko-KR" sz="1200" b="1" kern="100" spc="-19" dirty="0" err="1">
                <a:solidFill>
                  <a:srgbClr val="222425"/>
                </a:solidFill>
                <a:latin typeface="+mn-ea"/>
                <a:cs typeface="Times New Roman" panose="02020603050405020304" pitchFamily="18" charset="0"/>
              </a:rPr>
              <a:t>운동’을</a:t>
            </a:r>
            <a:r>
              <a:rPr lang="ko-KR" altLang="ko-KR" sz="1200" b="1" kern="100" spc="-19" dirty="0">
                <a:solidFill>
                  <a:srgbClr val="222425"/>
                </a:solidFill>
                <a:latin typeface="+mn-ea"/>
                <a:cs typeface="Times New Roman" panose="02020603050405020304" pitchFamily="18" charset="0"/>
              </a:rPr>
              <a:t> 권장하고</a:t>
            </a:r>
            <a:r>
              <a:rPr lang="en-US" altLang="ko-KR" sz="1200" b="1" kern="100" spc="-19" dirty="0">
                <a:solidFill>
                  <a:srgbClr val="222425"/>
                </a:solidFill>
                <a:latin typeface="+mn-ea"/>
                <a:cs typeface="Times New Roman" panose="02020603050405020304" pitchFamily="18" charset="0"/>
              </a:rPr>
              <a:t> 3</a:t>
            </a:r>
            <a:r>
              <a:rPr lang="ko-KR" altLang="ko-KR" sz="1200" b="1" kern="100" spc="-19" dirty="0">
                <a:solidFill>
                  <a:srgbClr val="222425"/>
                </a:solidFill>
                <a:latin typeface="+mn-ea"/>
                <a:cs typeface="Times New Roman" panose="02020603050405020304" pitchFamily="18" charset="0"/>
              </a:rPr>
              <a:t>대 금지사항을 준수하도록 한다</a:t>
            </a:r>
            <a:endParaRPr lang="ko-KR" altLang="ko-KR" sz="1200" b="1" kern="100" dirty="0">
              <a:latin typeface="+mn-ea"/>
              <a:cs typeface="Times New Roman" panose="02020603050405020304" pitchFamily="18" charset="0"/>
            </a:endParaRPr>
          </a:p>
          <a:p>
            <a:pPr marL="257175" indent="-257175" algn="just">
              <a:lnSpc>
                <a:spcPct val="107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en-US" altLang="ko-KR" sz="1200" b="1" kern="100" spc="-19" dirty="0">
                <a:solidFill>
                  <a:srgbClr val="222425"/>
                </a:solidFill>
                <a:latin typeface="+mn-ea"/>
                <a:cs typeface="Times New Roman" panose="02020603050405020304" pitchFamily="18" charset="0"/>
              </a:rPr>
              <a:t>3</a:t>
            </a:r>
            <a:r>
              <a:rPr lang="ko-KR" altLang="ko-KR" sz="1200" b="1" kern="100" spc="-19" dirty="0">
                <a:solidFill>
                  <a:srgbClr val="222425"/>
                </a:solidFill>
                <a:latin typeface="+mn-ea"/>
                <a:cs typeface="Times New Roman" panose="02020603050405020304" pitchFamily="18" charset="0"/>
              </a:rPr>
              <a:t>대 금지사항으로는 △</a:t>
            </a:r>
            <a:r>
              <a:rPr lang="ko-KR" altLang="ko-KR" sz="1200" b="1" kern="100" spc="-19" dirty="0" err="1">
                <a:solidFill>
                  <a:srgbClr val="222425"/>
                </a:solidFill>
                <a:latin typeface="+mn-ea"/>
                <a:cs typeface="Times New Roman" panose="02020603050405020304" pitchFamily="18" charset="0"/>
              </a:rPr>
              <a:t>음주강권</a:t>
            </a:r>
            <a:r>
              <a:rPr lang="ko-KR" altLang="ko-KR" sz="1200" b="1" kern="100" spc="-19" dirty="0">
                <a:solidFill>
                  <a:srgbClr val="222425"/>
                </a:solidFill>
                <a:latin typeface="+mn-ea"/>
                <a:cs typeface="Times New Roman" panose="02020603050405020304" pitchFamily="18" charset="0"/>
              </a:rPr>
              <a:t> 행위 금지</a:t>
            </a:r>
            <a:r>
              <a:rPr lang="en-US" altLang="ko-KR" sz="1200" b="1" kern="100" spc="-19" dirty="0">
                <a:solidFill>
                  <a:srgbClr val="222425"/>
                </a:solidFill>
                <a:latin typeface="+mn-ea"/>
                <a:cs typeface="Times New Roman" panose="02020603050405020304" pitchFamily="18" charset="0"/>
              </a:rPr>
              <a:t>(</a:t>
            </a:r>
            <a:r>
              <a:rPr lang="ko-KR" altLang="ko-KR" sz="1200" b="1" kern="100" spc="-19" dirty="0">
                <a:solidFill>
                  <a:srgbClr val="222425"/>
                </a:solidFill>
                <a:latin typeface="+mn-ea"/>
                <a:cs typeface="Times New Roman" panose="02020603050405020304" pitchFamily="18" charset="0"/>
              </a:rPr>
              <a:t>벌주</a:t>
            </a:r>
            <a:r>
              <a:rPr lang="en-US" altLang="ko-KR" sz="1200" b="1" kern="100" spc="-19" dirty="0">
                <a:solidFill>
                  <a:srgbClr val="222425"/>
                </a:solidFill>
                <a:latin typeface="+mn-ea"/>
                <a:cs typeface="Times New Roman" panose="02020603050405020304" pitchFamily="18" charset="0"/>
              </a:rPr>
              <a:t>, </a:t>
            </a:r>
            <a:r>
              <a:rPr lang="ko-KR" altLang="ko-KR" sz="1200" b="1" kern="100" spc="-19" dirty="0" err="1">
                <a:solidFill>
                  <a:srgbClr val="222425"/>
                </a:solidFill>
                <a:latin typeface="+mn-ea"/>
                <a:cs typeface="Times New Roman" panose="02020603050405020304" pitchFamily="18" charset="0"/>
              </a:rPr>
              <a:t>원샷</a:t>
            </a:r>
            <a:r>
              <a:rPr lang="en-US" altLang="ko-KR" sz="1200" b="1" kern="100" spc="-19" dirty="0">
                <a:solidFill>
                  <a:srgbClr val="222425"/>
                </a:solidFill>
                <a:latin typeface="+mn-ea"/>
                <a:cs typeface="Times New Roman" panose="02020603050405020304" pitchFamily="18" charset="0"/>
              </a:rPr>
              <a:t>, </a:t>
            </a:r>
            <a:r>
              <a:rPr lang="ko-KR" altLang="ko-KR" sz="1200" b="1" kern="100" spc="-19" dirty="0" err="1">
                <a:solidFill>
                  <a:srgbClr val="222425"/>
                </a:solidFill>
                <a:latin typeface="+mn-ea"/>
                <a:cs typeface="Times New Roman" panose="02020603050405020304" pitchFamily="18" charset="0"/>
              </a:rPr>
              <a:t>사발주</a:t>
            </a:r>
            <a:r>
              <a:rPr lang="ko-KR" altLang="ko-KR" sz="1200" b="1" kern="100" spc="-19" dirty="0">
                <a:solidFill>
                  <a:srgbClr val="222425"/>
                </a:solidFill>
                <a:latin typeface="+mn-ea"/>
                <a:cs typeface="Times New Roman" panose="02020603050405020304" pitchFamily="18" charset="0"/>
              </a:rPr>
              <a:t> 등</a:t>
            </a:r>
            <a:r>
              <a:rPr lang="en-US" altLang="ko-KR" sz="1200" b="1" kern="100" spc="-19" dirty="0">
                <a:solidFill>
                  <a:srgbClr val="222425"/>
                </a:solidFill>
                <a:latin typeface="+mn-ea"/>
                <a:cs typeface="Times New Roman" panose="02020603050405020304" pitchFamily="18" charset="0"/>
              </a:rPr>
              <a:t>) </a:t>
            </a:r>
            <a:r>
              <a:rPr lang="ko-KR" altLang="ko-KR" sz="1200" b="1" kern="100" spc="-19" dirty="0">
                <a:solidFill>
                  <a:srgbClr val="222425"/>
                </a:solidFill>
                <a:latin typeface="+mn-ea"/>
                <a:cs typeface="Times New Roman" panose="02020603050405020304" pitchFamily="18" charset="0"/>
              </a:rPr>
              <a:t>△음주운전 금지 △술잔 돌리기 않기 등이다</a:t>
            </a:r>
            <a:r>
              <a:rPr lang="en-US" altLang="ko-KR" sz="1200" b="1" kern="100" spc="-19" dirty="0">
                <a:solidFill>
                  <a:srgbClr val="222425"/>
                </a:solidFill>
                <a:latin typeface="+mn-ea"/>
                <a:cs typeface="Times New Roman" panose="02020603050405020304" pitchFamily="18" charset="0"/>
              </a:rPr>
              <a:t>.</a:t>
            </a:r>
          </a:p>
          <a:p>
            <a:pPr marL="257175" indent="-257175" algn="just">
              <a:lnSpc>
                <a:spcPct val="107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ko-KR" altLang="en-US" sz="1200" b="1" kern="100" spc="-19" dirty="0">
                <a:solidFill>
                  <a:srgbClr val="222425"/>
                </a:solidFill>
                <a:latin typeface="+mn-ea"/>
                <a:cs typeface="Times New Roman" panose="02020603050405020304" pitchFamily="18" charset="0"/>
              </a:rPr>
              <a:t>현장 </a:t>
            </a:r>
            <a:r>
              <a:rPr lang="ko-KR" altLang="en-US" sz="1200" b="1" kern="100" spc="-19" dirty="0" err="1">
                <a:solidFill>
                  <a:srgbClr val="222425"/>
                </a:solidFill>
                <a:latin typeface="+mn-ea"/>
                <a:cs typeface="Times New Roman" panose="02020603050405020304" pitchFamily="18" charset="0"/>
              </a:rPr>
              <a:t>출입시</a:t>
            </a:r>
            <a:r>
              <a:rPr lang="ko-KR" altLang="en-US" sz="1200" b="1" kern="100" spc="-19" dirty="0">
                <a:solidFill>
                  <a:srgbClr val="222425"/>
                </a:solidFill>
                <a:latin typeface="+mn-ea"/>
                <a:cs typeface="Times New Roman" panose="02020603050405020304" pitchFamily="18" charset="0"/>
              </a:rPr>
              <a:t> 음주</a:t>
            </a:r>
            <a:r>
              <a:rPr lang="en-US" altLang="ko-KR" sz="1200" b="1" kern="100" spc="-19" dirty="0">
                <a:solidFill>
                  <a:srgbClr val="222425"/>
                </a:solidFill>
                <a:latin typeface="+mn-ea"/>
                <a:cs typeface="Times New Roman" panose="02020603050405020304" pitchFamily="18" charset="0"/>
              </a:rPr>
              <a:t> </a:t>
            </a:r>
            <a:r>
              <a:rPr lang="ko-KR" altLang="en-US" sz="1200" b="1" kern="100" spc="-19" dirty="0">
                <a:solidFill>
                  <a:srgbClr val="222425"/>
                </a:solidFill>
                <a:latin typeface="+mn-ea"/>
                <a:cs typeface="Times New Roman" panose="02020603050405020304" pitchFamily="18" charset="0"/>
              </a:rPr>
              <a:t>및 </a:t>
            </a:r>
            <a:r>
              <a:rPr lang="ko-KR" altLang="en-US" sz="1200" b="1" kern="100" spc="-19" dirty="0" err="1">
                <a:solidFill>
                  <a:srgbClr val="222425"/>
                </a:solidFill>
                <a:latin typeface="+mn-ea"/>
                <a:cs typeface="Times New Roman" panose="02020603050405020304" pitchFamily="18" charset="0"/>
              </a:rPr>
              <a:t>숙취시</a:t>
            </a:r>
            <a:r>
              <a:rPr lang="ko-KR" altLang="en-US" sz="1200" b="1" kern="100" spc="-19" dirty="0">
                <a:solidFill>
                  <a:srgbClr val="222425"/>
                </a:solidFill>
                <a:latin typeface="+mn-ea"/>
                <a:cs typeface="Times New Roman" panose="02020603050405020304" pitchFamily="18" charset="0"/>
              </a:rPr>
              <a:t> 절대 작업 </a:t>
            </a:r>
            <a:r>
              <a:rPr lang="ko-KR" altLang="en-US" sz="1200" b="1" kern="100" spc="-19" dirty="0" err="1">
                <a:solidFill>
                  <a:srgbClr val="222425"/>
                </a:solidFill>
                <a:latin typeface="+mn-ea"/>
                <a:cs typeface="Times New Roman" panose="02020603050405020304" pitchFamily="18" charset="0"/>
              </a:rPr>
              <a:t>금지토록</a:t>
            </a:r>
            <a:r>
              <a:rPr lang="ko-KR" altLang="en-US" sz="1200" b="1" kern="100" spc="-19" dirty="0">
                <a:solidFill>
                  <a:srgbClr val="222425"/>
                </a:solidFill>
                <a:latin typeface="+mn-ea"/>
                <a:cs typeface="Times New Roman" panose="02020603050405020304" pitchFamily="18" charset="0"/>
              </a:rPr>
              <a:t> 함</a:t>
            </a:r>
            <a:endParaRPr lang="ko-KR" altLang="ko-KR" sz="1200" b="1" kern="100" dirty="0"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D9C59895-97C0-4C6E-880D-1371BB045AFD}"/>
              </a:ext>
            </a:extLst>
          </p:cNvPr>
          <p:cNvSpPr/>
          <p:nvPr/>
        </p:nvSpPr>
        <p:spPr bwMode="auto">
          <a:xfrm>
            <a:off x="300926" y="5095451"/>
            <a:ext cx="1081781" cy="717521"/>
          </a:xfrm>
          <a:prstGeom prst="rect">
            <a:avLst/>
          </a:prstGeom>
          <a:noFill/>
          <a:ln w="9525" cap="flat" cmpd="sng" algn="ctr">
            <a:solidFill>
              <a:sysClr val="windowText" lastClr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defTabSz="685800" fontAlgn="base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200" b="1" dirty="0">
                <a:solidFill>
                  <a:srgbClr val="000000"/>
                </a:solidFill>
                <a:latin typeface="+mn-ea"/>
              </a:rPr>
              <a:t>세부 사항</a:t>
            </a:r>
          </a:p>
        </p:txBody>
      </p:sp>
      <p:pic>
        <p:nvPicPr>
          <p:cNvPr id="14" name="Picture 10">
            <a:extLst>
              <a:ext uri="{FF2B5EF4-FFF2-40B4-BE49-F238E27FC236}">
                <a16:creationId xmlns:a16="http://schemas.microsoft.com/office/drawing/2014/main" id="{5F95BDBB-E747-4A07-8FCE-CBF161EF24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121197" y="1318662"/>
            <a:ext cx="2737054" cy="2790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E69EF819-A200-41BB-A740-C53228DB207E}"/>
              </a:ext>
            </a:extLst>
          </p:cNvPr>
          <p:cNvSpPr txBox="1"/>
          <p:nvPr/>
        </p:nvSpPr>
        <p:spPr>
          <a:xfrm>
            <a:off x="2550351" y="897700"/>
            <a:ext cx="4067269" cy="323165"/>
          </a:xfrm>
          <a:prstGeom prst="rect">
            <a:avLst/>
          </a:prstGeom>
          <a:solidFill>
            <a:schemeClr val="bg1"/>
          </a:solidFill>
          <a:ln w="15875">
            <a:solidFill>
              <a:srgbClr val="3D3939"/>
            </a:solidFill>
          </a:ln>
          <a:effectLst>
            <a:innerShdw blurRad="114300">
              <a:prstClr val="black"/>
            </a:inn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altLang="ko-KR" sz="1500" b="1" dirty="0">
                <a:solidFill>
                  <a:srgbClr val="0000FF"/>
                </a:solidFill>
                <a:latin typeface="+mn-ea"/>
              </a:rPr>
              <a:t>“</a:t>
            </a:r>
            <a:r>
              <a:rPr lang="en-US" altLang="ko-KR" sz="1500" b="1" dirty="0">
                <a:solidFill>
                  <a:srgbClr val="FF0000"/>
                </a:solidFill>
                <a:latin typeface="+mn-ea"/>
              </a:rPr>
              <a:t>1</a:t>
            </a:r>
            <a:r>
              <a:rPr lang="ko-KR" altLang="en-US" sz="1500" b="1" dirty="0">
                <a:solidFill>
                  <a:srgbClr val="0000FF"/>
                </a:solidFill>
                <a:latin typeface="+mn-ea"/>
              </a:rPr>
              <a:t>가지 술로</a:t>
            </a:r>
            <a:r>
              <a:rPr lang="en-US" altLang="ko-KR" sz="1500" b="1" dirty="0">
                <a:solidFill>
                  <a:srgbClr val="0000FF"/>
                </a:solidFill>
                <a:latin typeface="+mn-ea"/>
              </a:rPr>
              <a:t>, </a:t>
            </a:r>
            <a:r>
              <a:rPr lang="en-US" altLang="ko-KR" sz="1500" b="1" dirty="0">
                <a:solidFill>
                  <a:srgbClr val="FF0000"/>
                </a:solidFill>
                <a:latin typeface="+mn-ea"/>
              </a:rPr>
              <a:t>1</a:t>
            </a:r>
            <a:r>
              <a:rPr lang="ko-KR" altLang="en-US" sz="1500" b="1" dirty="0">
                <a:solidFill>
                  <a:srgbClr val="0000FF"/>
                </a:solidFill>
                <a:latin typeface="+mn-ea"/>
              </a:rPr>
              <a:t>차에 한하여</a:t>
            </a:r>
            <a:r>
              <a:rPr lang="en-US" altLang="ko-KR" sz="1500" b="1" dirty="0">
                <a:solidFill>
                  <a:srgbClr val="0000FF"/>
                </a:solidFill>
                <a:latin typeface="+mn-ea"/>
              </a:rPr>
              <a:t>, </a:t>
            </a:r>
            <a:r>
              <a:rPr lang="ko-KR" altLang="en-US" sz="1500" b="1" dirty="0">
                <a:solidFill>
                  <a:srgbClr val="0000FF"/>
                </a:solidFill>
                <a:latin typeface="+mn-ea"/>
              </a:rPr>
              <a:t>오후 </a:t>
            </a:r>
            <a:r>
              <a:rPr lang="en-US" altLang="ko-KR" sz="1500" b="1" dirty="0">
                <a:solidFill>
                  <a:srgbClr val="FF0000"/>
                </a:solidFill>
                <a:latin typeface="+mn-ea"/>
              </a:rPr>
              <a:t>9</a:t>
            </a:r>
            <a:r>
              <a:rPr lang="ko-KR" altLang="en-US" sz="1500" b="1" dirty="0">
                <a:solidFill>
                  <a:srgbClr val="0000FF"/>
                </a:solidFill>
                <a:latin typeface="+mn-ea"/>
              </a:rPr>
              <a:t>시까지</a:t>
            </a:r>
            <a:r>
              <a:rPr lang="en-US" altLang="ko-KR" sz="1500" b="1" dirty="0">
                <a:solidFill>
                  <a:srgbClr val="0000FF"/>
                </a:solidFill>
                <a:latin typeface="+mn-ea"/>
              </a:rPr>
              <a:t>”</a:t>
            </a:r>
            <a:endParaRPr lang="ko-KR" altLang="en-US" sz="1500" b="1" dirty="0">
              <a:solidFill>
                <a:srgbClr val="0000FF"/>
              </a:solidFill>
              <a:latin typeface="+mn-ea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0DF73976-CE9A-4531-AA41-D1AAF6F641B5}"/>
              </a:ext>
            </a:extLst>
          </p:cNvPr>
          <p:cNvSpPr/>
          <p:nvPr/>
        </p:nvSpPr>
        <p:spPr>
          <a:xfrm>
            <a:off x="245951" y="159090"/>
            <a:ext cx="3814763" cy="3357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350" dirty="0"/>
              <a:t>반드시 </a:t>
            </a:r>
            <a:r>
              <a:rPr lang="ko-KR" altLang="en-US" sz="1350" dirty="0" err="1"/>
              <a:t>알아두고</a:t>
            </a:r>
            <a:r>
              <a:rPr lang="ko-KR" altLang="en-US" sz="1350" dirty="0"/>
              <a:t> 실행에 옮겨야 할 사항</a:t>
            </a:r>
          </a:p>
        </p:txBody>
      </p:sp>
    </p:spTree>
    <p:extLst>
      <p:ext uri="{BB962C8B-B14F-4D97-AF65-F5344CB8AC3E}">
        <p14:creationId xmlns:p14="http://schemas.microsoft.com/office/powerpoint/2010/main" val="5004195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80835AB-F6BB-4A2A-ADEB-678751A8C555}"/>
              </a:ext>
            </a:extLst>
          </p:cNvPr>
          <p:cNvSpPr txBox="1"/>
          <p:nvPr/>
        </p:nvSpPr>
        <p:spPr>
          <a:xfrm>
            <a:off x="572662" y="292842"/>
            <a:ext cx="1493033" cy="305468"/>
          </a:xfrm>
          <a:prstGeom prst="rect">
            <a:avLst/>
          </a:prstGeom>
          <a:solidFill>
            <a:srgbClr val="0066FF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385" b="1" dirty="0">
                <a:solidFill>
                  <a:schemeClr val="bg1"/>
                </a:solidFill>
              </a:rPr>
              <a:t>중대재해 사례</a:t>
            </a:r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BD3EEA61-284D-4B37-9FD1-37FDFC6450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3368" y="595301"/>
            <a:ext cx="2632038" cy="2808215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EC5F80EC-369B-46F4-ABB7-6568C24D1F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658" y="618455"/>
            <a:ext cx="2649882" cy="2808215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8C9A08FF-99A5-47ED-93C7-B36C2B273B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7961" y="594311"/>
            <a:ext cx="2667726" cy="2788060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15A7BF12-2314-428D-807F-BEF809124E70}"/>
              </a:ext>
            </a:extLst>
          </p:cNvPr>
          <p:cNvSpPr txBox="1"/>
          <p:nvPr/>
        </p:nvSpPr>
        <p:spPr>
          <a:xfrm>
            <a:off x="6489719" y="292841"/>
            <a:ext cx="2149967" cy="284052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46" dirty="0"/>
              <a:t>[</a:t>
            </a:r>
            <a:r>
              <a:rPr lang="ko-KR" altLang="en-US" sz="1246" dirty="0"/>
              <a:t>고소작업대</a:t>
            </a:r>
            <a:r>
              <a:rPr lang="en-US" altLang="ko-KR" sz="1246" dirty="0"/>
              <a:t>]</a:t>
            </a:r>
            <a:r>
              <a:rPr lang="ko-KR" altLang="en-US" sz="1246" dirty="0"/>
              <a:t>협착</a:t>
            </a:r>
            <a:r>
              <a:rPr lang="en-US" altLang="ko-KR" sz="1246" dirty="0"/>
              <a:t>,</a:t>
            </a:r>
            <a:r>
              <a:rPr lang="ko-KR" altLang="en-US" sz="1246" dirty="0"/>
              <a:t>추락</a:t>
            </a:r>
            <a:r>
              <a:rPr lang="en-US" altLang="ko-KR" sz="1246" dirty="0"/>
              <a:t>, </a:t>
            </a:r>
            <a:r>
              <a:rPr lang="ko-KR" altLang="en-US" sz="1246" dirty="0"/>
              <a:t>전도</a:t>
            </a:r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B087D5EF-58AC-4785-A893-0BC2011C1BD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80692" y="3466269"/>
            <a:ext cx="2651627" cy="2839176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0996715B-9D25-49CE-B774-60A712BF25B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5836" y="3457936"/>
            <a:ext cx="2641764" cy="2852858"/>
          </a:xfrm>
          <a:prstGeom prst="rect">
            <a:avLst/>
          </a:prstGeom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B9871565-1885-4A47-BADE-F63CA691CE2A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1287" y="3461157"/>
            <a:ext cx="2595889" cy="2840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77858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67A9789F-B479-437D-A788-A09A07615B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8054" y="630462"/>
            <a:ext cx="2666104" cy="2802102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E21E7BDE-5C5D-48C4-AA7F-7917EB6B48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3638" y="659130"/>
            <a:ext cx="2648151" cy="2760121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C7889840-C3C2-4DD9-A1AC-64DBD9831371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0858" y="682002"/>
            <a:ext cx="2571922" cy="2754438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BB8B1F11-4B06-4F7B-A5C1-05EB52BF15B7}"/>
              </a:ext>
            </a:extLst>
          </p:cNvPr>
          <p:cNvSpPr txBox="1"/>
          <p:nvPr/>
        </p:nvSpPr>
        <p:spPr>
          <a:xfrm>
            <a:off x="7080297" y="300803"/>
            <a:ext cx="1559389" cy="284052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46" dirty="0"/>
              <a:t>[</a:t>
            </a:r>
            <a:r>
              <a:rPr lang="ko-KR" altLang="en-US" sz="1246" dirty="0"/>
              <a:t>사다리</a:t>
            </a:r>
            <a:r>
              <a:rPr lang="en-US" altLang="ko-KR" sz="1246" dirty="0"/>
              <a:t>] </a:t>
            </a:r>
            <a:r>
              <a:rPr lang="ko-KR" altLang="en-US" sz="1246" dirty="0"/>
              <a:t>추락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F2E2864-8451-4C07-A069-40E5D201BEDE}"/>
              </a:ext>
            </a:extLst>
          </p:cNvPr>
          <p:cNvSpPr txBox="1"/>
          <p:nvPr/>
        </p:nvSpPr>
        <p:spPr>
          <a:xfrm>
            <a:off x="572662" y="292842"/>
            <a:ext cx="1493033" cy="305468"/>
          </a:xfrm>
          <a:prstGeom prst="rect">
            <a:avLst/>
          </a:prstGeom>
          <a:solidFill>
            <a:srgbClr val="0066FF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385" b="1" dirty="0">
                <a:solidFill>
                  <a:schemeClr val="bg1"/>
                </a:solidFill>
              </a:rPr>
              <a:t>중대재해 사례</a:t>
            </a:r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CBBC9AD1-B2D2-4FF1-8D0F-BC5E3093C0F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16990" y="3467446"/>
            <a:ext cx="2675515" cy="2820245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70BEC2C9-2B4C-446A-90C2-D8F86072489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7586" y="3472507"/>
            <a:ext cx="2635700" cy="2820245"/>
          </a:xfrm>
          <a:prstGeom prst="rect">
            <a:avLst/>
          </a:prstGeom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8120F15A-4FF2-456E-A35E-79518F89D4D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10529" y="3469994"/>
            <a:ext cx="2661204" cy="2799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92687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>
            <a:extLst>
              <a:ext uri="{FF2B5EF4-FFF2-40B4-BE49-F238E27FC236}">
                <a16:creationId xmlns:a16="http://schemas.microsoft.com/office/drawing/2014/main" id="{B5BBBD4D-FD23-4A4B-AC5A-127DCB29FD0A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15545" y="652671"/>
            <a:ext cx="2682262" cy="2806394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0F30F3B8-25EA-47B5-BA18-2241CBF06B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923" y="660511"/>
            <a:ext cx="2648262" cy="2800709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3C936926-EA40-4532-9757-1463CA5BA7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86431" y="657836"/>
            <a:ext cx="2647920" cy="2811309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52FAB7F4-C114-49FA-AF40-010721867B06}"/>
              </a:ext>
            </a:extLst>
          </p:cNvPr>
          <p:cNvSpPr txBox="1"/>
          <p:nvPr/>
        </p:nvSpPr>
        <p:spPr>
          <a:xfrm>
            <a:off x="572662" y="308767"/>
            <a:ext cx="1493033" cy="305468"/>
          </a:xfrm>
          <a:prstGeom prst="rect">
            <a:avLst/>
          </a:prstGeom>
          <a:solidFill>
            <a:srgbClr val="0066FF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385" b="1" dirty="0">
                <a:solidFill>
                  <a:schemeClr val="bg1"/>
                </a:solidFill>
              </a:rPr>
              <a:t>중대재해 사례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D22D1D8-C26D-436C-81AF-F5F124B5DBFE}"/>
              </a:ext>
            </a:extLst>
          </p:cNvPr>
          <p:cNvSpPr txBox="1"/>
          <p:nvPr/>
        </p:nvSpPr>
        <p:spPr>
          <a:xfrm>
            <a:off x="6768418" y="308766"/>
            <a:ext cx="1743863" cy="284052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46" dirty="0"/>
              <a:t>[</a:t>
            </a:r>
            <a:r>
              <a:rPr lang="ko-KR" altLang="en-US" sz="1246" dirty="0"/>
              <a:t>전기</a:t>
            </a:r>
            <a:r>
              <a:rPr lang="en-US" altLang="ko-KR" sz="1246" dirty="0"/>
              <a:t>] </a:t>
            </a:r>
            <a:r>
              <a:rPr lang="ko-KR" altLang="en-US" sz="1246" dirty="0"/>
              <a:t>감전</a:t>
            </a:r>
            <a:r>
              <a:rPr lang="en-US" altLang="ko-KR" sz="1246" dirty="0"/>
              <a:t>,</a:t>
            </a:r>
            <a:r>
              <a:rPr lang="ko-KR" altLang="en-US" sz="1246" dirty="0"/>
              <a:t>추락</a:t>
            </a:r>
            <a:r>
              <a:rPr lang="en-US" altLang="ko-KR" sz="1246" dirty="0"/>
              <a:t>,</a:t>
            </a:r>
            <a:r>
              <a:rPr lang="ko-KR" altLang="en-US" sz="1246" dirty="0"/>
              <a:t>협착</a:t>
            </a: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34392C07-AFB4-4227-B443-92A86E0C7DF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85366" y="3478097"/>
            <a:ext cx="2650270" cy="2791504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A8698BC4-5BFC-43C5-A088-F798C59DCA3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8185" y="3462233"/>
            <a:ext cx="2650270" cy="2811683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2342FCDD-8804-4233-9D92-8FCAB69A194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16061" y="3458312"/>
            <a:ext cx="2695038" cy="2831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16316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>
            <a:extLst>
              <a:ext uri="{FF2B5EF4-FFF2-40B4-BE49-F238E27FC236}">
                <a16:creationId xmlns:a16="http://schemas.microsoft.com/office/drawing/2014/main" id="{E9ADCD70-CD3E-4564-BD1F-2D7D96FB73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708" y="3456010"/>
            <a:ext cx="2630504" cy="2833971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C735F1EF-48FE-4B21-A4D8-7BD2EC00A2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7540" y="3474798"/>
            <a:ext cx="2622929" cy="2820411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FDCDBBAB-A43A-43CE-A37A-B75B08127D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837" y="3448356"/>
            <a:ext cx="2650477" cy="281363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E5C62F4-3FC4-4275-B58E-3AE5D667E8C9}"/>
              </a:ext>
            </a:extLst>
          </p:cNvPr>
          <p:cNvSpPr txBox="1"/>
          <p:nvPr/>
        </p:nvSpPr>
        <p:spPr>
          <a:xfrm>
            <a:off x="572662" y="308768"/>
            <a:ext cx="1493033" cy="305468"/>
          </a:xfrm>
          <a:prstGeom prst="rect">
            <a:avLst/>
          </a:prstGeom>
          <a:solidFill>
            <a:srgbClr val="0066FF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385" b="1" dirty="0">
                <a:solidFill>
                  <a:schemeClr val="bg1"/>
                </a:solidFill>
              </a:rPr>
              <a:t>중대재해 사례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14BAFEB-C6C8-43E9-8BC4-E0C9686280F8}"/>
              </a:ext>
            </a:extLst>
          </p:cNvPr>
          <p:cNvSpPr txBox="1"/>
          <p:nvPr/>
        </p:nvSpPr>
        <p:spPr>
          <a:xfrm>
            <a:off x="6897151" y="308767"/>
            <a:ext cx="1469145" cy="284052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46" dirty="0"/>
              <a:t>[</a:t>
            </a:r>
            <a:r>
              <a:rPr lang="ko-KR" altLang="en-US" sz="1246" dirty="0"/>
              <a:t>이동식 비계</a:t>
            </a:r>
            <a:r>
              <a:rPr lang="en-US" altLang="ko-KR" sz="1246" dirty="0"/>
              <a:t>] </a:t>
            </a:r>
            <a:r>
              <a:rPr lang="ko-KR" altLang="en-US" sz="1246" dirty="0"/>
              <a:t>추락</a:t>
            </a: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A5EB0DC1-C359-43F1-9767-B835CD9A32E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6830" y="630136"/>
            <a:ext cx="2649389" cy="2811522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47709A7A-BE05-4827-8A16-7CE2E57222B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80018" y="625408"/>
            <a:ext cx="2622628" cy="2784682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E32F5C97-94B0-428B-9842-5F101EF1D50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19982" y="614893"/>
            <a:ext cx="2658309" cy="2818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07056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F480F5A9-06F4-468E-9B51-4E78A77829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2070" y="667211"/>
            <a:ext cx="2665513" cy="259349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F3FDCF4D-DDFF-4704-A9D4-BB7370AF3C88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21649" y="677914"/>
            <a:ext cx="2657982" cy="2574117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D33E2F22-4B1F-4658-8D2F-69E457B159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162" y="665220"/>
            <a:ext cx="2661021" cy="257474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44CF6FB8-AB6C-41BC-B3C3-E0AA6476800D}"/>
              </a:ext>
            </a:extLst>
          </p:cNvPr>
          <p:cNvSpPr txBox="1"/>
          <p:nvPr/>
        </p:nvSpPr>
        <p:spPr>
          <a:xfrm>
            <a:off x="572662" y="300804"/>
            <a:ext cx="1493033" cy="305468"/>
          </a:xfrm>
          <a:prstGeom prst="rect">
            <a:avLst/>
          </a:prstGeom>
          <a:solidFill>
            <a:srgbClr val="0066FF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385" b="1" dirty="0">
                <a:solidFill>
                  <a:schemeClr val="bg1"/>
                </a:solidFill>
              </a:rPr>
              <a:t>중대재해 사례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D3DA27A-21F6-4F70-8430-2F1038FBF3E4}"/>
              </a:ext>
            </a:extLst>
          </p:cNvPr>
          <p:cNvSpPr txBox="1"/>
          <p:nvPr/>
        </p:nvSpPr>
        <p:spPr>
          <a:xfrm>
            <a:off x="7239553" y="300803"/>
            <a:ext cx="1349703" cy="284052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46" dirty="0"/>
              <a:t>[</a:t>
            </a:r>
            <a:r>
              <a:rPr lang="ko-KR" altLang="en-US" sz="1246" dirty="0"/>
              <a:t>지게차</a:t>
            </a:r>
            <a:r>
              <a:rPr lang="en-US" altLang="ko-KR" sz="1246" dirty="0"/>
              <a:t>]</a:t>
            </a:r>
            <a:r>
              <a:rPr lang="ko-KR" altLang="en-US" sz="1246" dirty="0"/>
              <a:t> 협착</a:t>
            </a: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BF6FCDB6-01F9-46C7-8CEF-D9214D078F0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75651" y="3546656"/>
            <a:ext cx="2610753" cy="2790194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594B4621-45BD-42C8-8829-90B87EEEF4A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28469" y="3534191"/>
            <a:ext cx="2630264" cy="2783535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BA22D85D-2457-45CA-9E7F-C8720B1EC05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9434" y="3542999"/>
            <a:ext cx="2649023" cy="274358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7A36D8BB-D414-454C-A955-B9F763865099}"/>
              </a:ext>
            </a:extLst>
          </p:cNvPr>
          <p:cNvSpPr txBox="1"/>
          <p:nvPr/>
        </p:nvSpPr>
        <p:spPr>
          <a:xfrm>
            <a:off x="7287329" y="3255019"/>
            <a:ext cx="1349703" cy="284052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46" dirty="0"/>
              <a:t>[</a:t>
            </a:r>
            <a:r>
              <a:rPr lang="ko-KR" altLang="en-US" sz="1246" dirty="0"/>
              <a:t>개구부</a:t>
            </a:r>
            <a:r>
              <a:rPr lang="en-US" altLang="ko-KR" sz="1246" dirty="0"/>
              <a:t>] </a:t>
            </a:r>
            <a:r>
              <a:rPr lang="ko-KR" altLang="en-US" sz="1246" dirty="0"/>
              <a:t>추락</a:t>
            </a:r>
          </a:p>
        </p:txBody>
      </p:sp>
    </p:spTree>
    <p:extLst>
      <p:ext uri="{BB962C8B-B14F-4D97-AF65-F5344CB8AC3E}">
        <p14:creationId xmlns:p14="http://schemas.microsoft.com/office/powerpoint/2010/main" val="36120150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BAE7EF-AF10-F8D4-4661-A750FECAE3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Rectangle 11">
            <a:extLst>
              <a:ext uri="{FF2B5EF4-FFF2-40B4-BE49-F238E27FC236}">
                <a16:creationId xmlns:a16="http://schemas.microsoft.com/office/drawing/2014/main" id="{A1121B02-9FD0-4047-9B84-94BBB2B233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0244" y="3982518"/>
            <a:ext cx="8548006" cy="1936589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txBody>
          <a:bodyPr/>
          <a:lstStyle>
            <a:lvl1pPr marL="342900" indent="-342900" algn="l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742950" indent="-285750" algn="l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 algn="l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 algn="l">
              <a:spcBef>
                <a:spcPct val="20000"/>
              </a:spcBef>
              <a:buChar char="–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 algn="l">
              <a:spcBef>
                <a:spcPct val="20000"/>
              </a:spcBef>
              <a:buChar char="»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ko-KR" altLang="en-US" sz="3200" b="1" dirty="0">
                <a:solidFill>
                  <a:srgbClr val="FFFFFF"/>
                </a:solidFill>
                <a:latin typeface="굴림체" panose="020B0609000101010101" pitchFamily="49" charset="-127"/>
                <a:ea typeface="굴림체" panose="020B0609000101010101" pitchFamily="49" charset="-127"/>
              </a:rPr>
              <a:t>안전은 </a:t>
            </a:r>
            <a:r>
              <a:rPr lang="ko-KR" altLang="en-US" sz="3200" b="1" dirty="0">
                <a:solidFill>
                  <a:srgbClr val="FF0000"/>
                </a:solidFill>
                <a:latin typeface="굴림체" panose="020B0609000101010101" pitchFamily="49" charset="-127"/>
                <a:ea typeface="굴림체" panose="020B0609000101010101" pitchFamily="49" charset="-127"/>
              </a:rPr>
              <a:t>나부터</a:t>
            </a:r>
            <a:r>
              <a:rPr lang="ko-KR" altLang="en-US" sz="3200" b="1" dirty="0">
                <a:solidFill>
                  <a:srgbClr val="FFFF00"/>
                </a:solidFill>
                <a:latin typeface="굴림체" panose="020B0609000101010101" pitchFamily="49" charset="-127"/>
                <a:ea typeface="굴림체" panose="020B0609000101010101" pitchFamily="49" charset="-127"/>
              </a:rPr>
              <a:t> 준수</a:t>
            </a:r>
            <a:r>
              <a:rPr lang="en-US" altLang="ko-KR" sz="3200" b="1" dirty="0">
                <a:solidFill>
                  <a:srgbClr val="FFFF00"/>
                </a:solidFill>
                <a:latin typeface="굴림체" panose="020B0609000101010101" pitchFamily="49" charset="-127"/>
                <a:ea typeface="굴림체" panose="020B0609000101010101" pitchFamily="49" charset="-127"/>
              </a:rPr>
              <a:t>!!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ko-KR" altLang="en-US" sz="3200" b="1" dirty="0">
                <a:solidFill>
                  <a:srgbClr val="FFFFFF"/>
                </a:solidFill>
                <a:latin typeface="굴림체" panose="020B0609000101010101" pitchFamily="49" charset="-127"/>
                <a:ea typeface="굴림체" panose="020B0609000101010101" pitchFamily="49" charset="-127"/>
              </a:rPr>
              <a:t>안전은 </a:t>
            </a:r>
            <a:r>
              <a:rPr lang="ko-KR" altLang="en-US" sz="3200" b="1" dirty="0">
                <a:solidFill>
                  <a:srgbClr val="FFFF00"/>
                </a:solidFill>
                <a:latin typeface="굴림체" panose="020B0609000101010101" pitchFamily="49" charset="-127"/>
                <a:ea typeface="굴림체" panose="020B0609000101010101" pitchFamily="49" charset="-127"/>
              </a:rPr>
              <a:t>선택</a:t>
            </a:r>
            <a:r>
              <a:rPr lang="ko-KR" altLang="en-US" sz="3200" b="1" dirty="0">
                <a:solidFill>
                  <a:srgbClr val="FFFFFF"/>
                </a:solidFill>
                <a:latin typeface="굴림체" panose="020B0609000101010101" pitchFamily="49" charset="-127"/>
                <a:ea typeface="굴림체" panose="020B0609000101010101" pitchFamily="49" charset="-127"/>
              </a:rPr>
              <a:t>이 아닌 </a:t>
            </a:r>
            <a:r>
              <a:rPr lang="ko-KR" altLang="en-US" sz="3200" b="1" dirty="0">
                <a:solidFill>
                  <a:srgbClr val="FF0000"/>
                </a:solidFill>
                <a:latin typeface="굴림체" panose="020B0609000101010101" pitchFamily="49" charset="-127"/>
                <a:ea typeface="굴림체" panose="020B0609000101010101" pitchFamily="49" charset="-127"/>
              </a:rPr>
              <a:t>필수</a:t>
            </a:r>
            <a:r>
              <a:rPr lang="en-US" altLang="ko-KR" sz="3200" b="1" dirty="0">
                <a:solidFill>
                  <a:srgbClr val="FFFFFF"/>
                </a:solidFill>
                <a:latin typeface="굴림체" panose="020B0609000101010101" pitchFamily="49" charset="-127"/>
                <a:ea typeface="굴림체" panose="020B0609000101010101" pitchFamily="49" charset="-127"/>
              </a:rPr>
              <a:t>!!.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ko-KR" altLang="en-US" sz="3200" b="1" u="sng" dirty="0">
                <a:solidFill>
                  <a:srgbClr val="FFFF00"/>
                </a:solidFill>
                <a:latin typeface="굴림체" panose="020B0609000101010101" pitchFamily="49" charset="-127"/>
                <a:ea typeface="굴림체" panose="020B0609000101010101" pitchFamily="49" charset="-127"/>
              </a:rPr>
              <a:t>안전하지 않으면 작업하지 않는다</a:t>
            </a:r>
            <a:r>
              <a:rPr lang="en-US" altLang="ko-KR" sz="3200" b="1" u="sng" dirty="0">
                <a:solidFill>
                  <a:srgbClr val="FFFF00"/>
                </a:solidFill>
                <a:latin typeface="굴림체" panose="020B0609000101010101" pitchFamily="49" charset="-127"/>
                <a:ea typeface="굴림체" panose="020B0609000101010101" pitchFamily="49" charset="-127"/>
              </a:rPr>
              <a:t>!!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9231026-6D75-4375-8BED-36F120949F75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8861" y="756605"/>
            <a:ext cx="3420381" cy="2982638"/>
          </a:xfrm>
          <a:prstGeom prst="rect">
            <a:avLst/>
          </a:prstGeom>
          <a:ln>
            <a:solidFill>
              <a:schemeClr val="tx1"/>
            </a:solidFill>
          </a:ln>
        </p:spPr>
      </p:pic>
      <p:grpSp>
        <p:nvGrpSpPr>
          <p:cNvPr id="3" name="그룹 2">
            <a:extLst>
              <a:ext uri="{FF2B5EF4-FFF2-40B4-BE49-F238E27FC236}">
                <a16:creationId xmlns:a16="http://schemas.microsoft.com/office/drawing/2014/main" id="{0400C22F-725C-46B5-9F79-23C0F2E1265C}"/>
              </a:ext>
            </a:extLst>
          </p:cNvPr>
          <p:cNvGrpSpPr/>
          <p:nvPr/>
        </p:nvGrpSpPr>
        <p:grpSpPr>
          <a:xfrm>
            <a:off x="3828982" y="779598"/>
            <a:ext cx="4955789" cy="2951481"/>
            <a:chOff x="5600169" y="1015440"/>
            <a:chExt cx="5959876" cy="5450369"/>
          </a:xfrm>
        </p:grpSpPr>
        <p:sp>
          <p:nvSpPr>
            <p:cNvPr id="5" name="Rectangle 217">
              <a:extLst>
                <a:ext uri="{FF2B5EF4-FFF2-40B4-BE49-F238E27FC236}">
                  <a16:creationId xmlns:a16="http://schemas.microsoft.com/office/drawing/2014/main" id="{CF14BBA7-6570-4C27-BBC6-07DABE7426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00169" y="1015440"/>
              <a:ext cx="5959876" cy="5334000"/>
            </a:xfrm>
            <a:prstGeom prst="rect">
              <a:avLst/>
            </a:prstGeom>
            <a:gradFill rotWithShape="0">
              <a:gsLst>
                <a:gs pos="0">
                  <a:srgbClr val="00FF00">
                    <a:gamma/>
                    <a:tint val="0"/>
                    <a:invGamma/>
                  </a:srgbClr>
                </a:gs>
                <a:gs pos="100000">
                  <a:srgbClr val="00FF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bg1"/>
              </a:solidFill>
              <a:miter lim="800000"/>
              <a:headEnd/>
              <a:tailEnd/>
            </a:ln>
            <a:effectLst>
              <a:outerShdw dist="89803" dir="2700000" algn="ctr" rotWithShape="0">
                <a:srgbClr val="1C1C1C"/>
              </a:outerShdw>
            </a:effectLst>
          </p:spPr>
          <p:txBody>
            <a:bodyPr wrap="none" anchor="ctr"/>
            <a:lstStyle/>
            <a:p>
              <a:pPr algn="l"/>
              <a:endParaRPr lang="ko-KR" altLang="ko-KR" sz="854" dirty="0">
                <a:latin typeface="휴먼옛체" panose="02030504000101010101" pitchFamily="18" charset="-127"/>
                <a:ea typeface="휴먼옛체" panose="02030504000101010101" pitchFamily="18" charset="-127"/>
              </a:endParaRPr>
            </a:p>
          </p:txBody>
        </p:sp>
        <p:graphicFrame>
          <p:nvGraphicFramePr>
            <p:cNvPr id="6" name="Object 209">
              <a:extLst>
                <a:ext uri="{FF2B5EF4-FFF2-40B4-BE49-F238E27FC236}">
                  <a16:creationId xmlns:a16="http://schemas.microsoft.com/office/drawing/2014/main" id="{C2E0ED1D-E5FC-49F2-9064-800DF09C112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9016638" y="2967972"/>
            <a:ext cx="2390728" cy="17081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40" name="클립" r:id="rId5" imgW="7431120" imgH="6374880" progId="MS_ClipArt_Gallery.2">
                    <p:embed/>
                  </p:oleObj>
                </mc:Choice>
                <mc:Fallback>
                  <p:oleObj name="클립" r:id="rId5" imgW="7431120" imgH="6374880" progId="MS_ClipArt_Gallery.2">
                    <p:embed/>
                    <p:pic>
                      <p:nvPicPr>
                        <p:cNvPr id="6" name="Object 209">
                          <a:extLst>
                            <a:ext uri="{FF2B5EF4-FFF2-40B4-BE49-F238E27FC236}">
                              <a16:creationId xmlns:a16="http://schemas.microsoft.com/office/drawing/2014/main" id="{C2E0ED1D-E5FC-49F2-9064-800DF09C112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016638" y="2967972"/>
                          <a:ext cx="2390728" cy="17081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" name="Object 146">
              <a:extLst>
                <a:ext uri="{FF2B5EF4-FFF2-40B4-BE49-F238E27FC236}">
                  <a16:creationId xmlns:a16="http://schemas.microsoft.com/office/drawing/2014/main" id="{221F3871-3F5A-4F84-B98E-730B1845990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7643003" y="3075013"/>
            <a:ext cx="694029" cy="5549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41" name="CorelDRAW" r:id="rId7" imgW="8636400" imgH="4196160" progId="CorelDraw.Graphic.7">
                    <p:embed/>
                  </p:oleObj>
                </mc:Choice>
                <mc:Fallback>
                  <p:oleObj name="CorelDRAW" r:id="rId7" imgW="8636400" imgH="4196160" progId="CorelDraw.Graphic.7">
                    <p:embed/>
                    <p:pic>
                      <p:nvPicPr>
                        <p:cNvPr id="7" name="Object 146">
                          <a:extLst>
                            <a:ext uri="{FF2B5EF4-FFF2-40B4-BE49-F238E27FC236}">
                              <a16:creationId xmlns:a16="http://schemas.microsoft.com/office/drawing/2014/main" id="{221F3871-3F5A-4F84-B98E-730B1845990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643003" y="3075013"/>
                          <a:ext cx="694029" cy="55499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" name="Text Box 210">
              <a:extLst>
                <a:ext uri="{FF2B5EF4-FFF2-40B4-BE49-F238E27FC236}">
                  <a16:creationId xmlns:a16="http://schemas.microsoft.com/office/drawing/2014/main" id="{773AD0F4-BFAC-443C-A2AE-796EFAA1538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503026" y="3485416"/>
              <a:ext cx="1323277" cy="7318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ko-KR" sz="731" i="1" dirty="0">
                  <a:solidFill>
                    <a:srgbClr val="D6009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+mn-ea"/>
                </a:rPr>
                <a:t>98%</a:t>
              </a:r>
              <a:endParaRPr lang="en-US" altLang="ko-KR" sz="731" dirty="0">
                <a:solidFill>
                  <a:srgbClr val="D6009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ea"/>
              </a:endParaRPr>
            </a:p>
            <a:p>
              <a:pPr algn="ctr"/>
              <a:r>
                <a:rPr lang="en-US" altLang="ko-KR" sz="731" dirty="0">
                  <a:solidFill>
                    <a:srgbClr val="D6009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+mn-ea"/>
                </a:rPr>
                <a:t>(</a:t>
              </a:r>
              <a:r>
                <a:rPr lang="ko-KR" altLang="en-US" sz="731" dirty="0">
                  <a:solidFill>
                    <a:srgbClr val="D6009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+mn-ea"/>
                </a:rPr>
                <a:t>인위적인 사고</a:t>
              </a:r>
              <a:r>
                <a:rPr lang="en-US" altLang="ko-KR" sz="731" dirty="0">
                  <a:solidFill>
                    <a:srgbClr val="D6009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+mn-ea"/>
                </a:rPr>
                <a:t>)</a:t>
              </a:r>
              <a:endParaRPr lang="en-US" altLang="ko-KR" sz="731" dirty="0">
                <a:solidFill>
                  <a:srgbClr val="0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ea"/>
              </a:endParaRPr>
            </a:p>
          </p:txBody>
        </p:sp>
        <p:sp>
          <p:nvSpPr>
            <p:cNvPr id="9" name="정육면체 8">
              <a:extLst>
                <a:ext uri="{FF2B5EF4-FFF2-40B4-BE49-F238E27FC236}">
                  <a16:creationId xmlns:a16="http://schemas.microsoft.com/office/drawing/2014/main" id="{B4599BDF-7C42-4C92-AE08-3EE77A6E5265}"/>
                </a:ext>
              </a:extLst>
            </p:cNvPr>
            <p:cNvSpPr/>
            <p:nvPr/>
          </p:nvSpPr>
          <p:spPr>
            <a:xfrm>
              <a:off x="10619714" y="1403287"/>
              <a:ext cx="715224" cy="1484769"/>
            </a:xfrm>
            <a:prstGeom prst="cub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97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10" name="Text Box 116">
              <a:extLst>
                <a:ext uri="{FF2B5EF4-FFF2-40B4-BE49-F238E27FC236}">
                  <a16:creationId xmlns:a16="http://schemas.microsoft.com/office/drawing/2014/main" id="{63155E9C-53BC-4AB8-A1ED-54B8523657E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764491" y="1819745"/>
              <a:ext cx="250842" cy="9912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731" b="1" dirty="0">
                  <a:solidFill>
                    <a:srgbClr val="FF0000"/>
                  </a:solidFill>
                  <a:latin typeface="굴림체" panose="020B0609000101010101" pitchFamily="49" charset="-127"/>
                  <a:ea typeface="굴림체" panose="020B0609000101010101" pitchFamily="49" charset="-127"/>
                </a:rPr>
                <a:t>재</a:t>
              </a:r>
            </a:p>
            <a:p>
              <a:pPr algn="ctr"/>
              <a:endParaRPr lang="ko-KR" altLang="en-US" sz="731" b="1" dirty="0">
                <a:solidFill>
                  <a:srgbClr val="FF0000"/>
                </a:solidFill>
                <a:latin typeface="굴림체" panose="020B0609000101010101" pitchFamily="49" charset="-127"/>
                <a:ea typeface="굴림체" panose="020B0609000101010101" pitchFamily="49" charset="-127"/>
              </a:endParaRPr>
            </a:p>
            <a:p>
              <a:pPr algn="ctr"/>
              <a:r>
                <a:rPr lang="ko-KR" altLang="en-US" sz="731" b="1" dirty="0">
                  <a:solidFill>
                    <a:srgbClr val="FF0000"/>
                  </a:solidFill>
                  <a:latin typeface="굴림체" panose="020B0609000101010101" pitchFamily="49" charset="-127"/>
                  <a:ea typeface="굴림체" panose="020B0609000101010101" pitchFamily="49" charset="-127"/>
                </a:rPr>
                <a:t>해</a:t>
              </a:r>
            </a:p>
          </p:txBody>
        </p:sp>
        <p:sp>
          <p:nvSpPr>
            <p:cNvPr id="11" name="정육면체 10">
              <a:extLst>
                <a:ext uri="{FF2B5EF4-FFF2-40B4-BE49-F238E27FC236}">
                  <a16:creationId xmlns:a16="http://schemas.microsoft.com/office/drawing/2014/main" id="{8CF1564C-44D4-4A1D-B5F0-F23FB91C4D75}"/>
                </a:ext>
              </a:extLst>
            </p:cNvPr>
            <p:cNvSpPr/>
            <p:nvPr/>
          </p:nvSpPr>
          <p:spPr>
            <a:xfrm rot="1942744">
              <a:off x="5957180" y="4680642"/>
              <a:ext cx="715224" cy="1484769"/>
            </a:xfrm>
            <a:prstGeom prst="cube">
              <a:avLst/>
            </a:prstGeom>
            <a:solidFill>
              <a:srgbClr val="0000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97">
                <a:latin typeface="+mn-ea"/>
              </a:endParaRPr>
            </a:p>
          </p:txBody>
        </p:sp>
        <p:sp>
          <p:nvSpPr>
            <p:cNvPr id="12" name="정육면체 11">
              <a:extLst>
                <a:ext uri="{FF2B5EF4-FFF2-40B4-BE49-F238E27FC236}">
                  <a16:creationId xmlns:a16="http://schemas.microsoft.com/office/drawing/2014/main" id="{BD5162AF-C1B9-4C42-B1D7-F5D3EAE690D3}"/>
                </a:ext>
              </a:extLst>
            </p:cNvPr>
            <p:cNvSpPr/>
            <p:nvPr/>
          </p:nvSpPr>
          <p:spPr>
            <a:xfrm rot="2103975">
              <a:off x="7125077" y="4680642"/>
              <a:ext cx="715224" cy="1484769"/>
            </a:xfrm>
            <a:prstGeom prst="cube">
              <a:avLst/>
            </a:prstGeom>
            <a:solidFill>
              <a:srgbClr val="0000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97">
                <a:latin typeface="+mn-ea"/>
              </a:endParaRPr>
            </a:p>
          </p:txBody>
        </p:sp>
        <p:sp>
          <p:nvSpPr>
            <p:cNvPr id="13" name="정육면체 12">
              <a:extLst>
                <a:ext uri="{FF2B5EF4-FFF2-40B4-BE49-F238E27FC236}">
                  <a16:creationId xmlns:a16="http://schemas.microsoft.com/office/drawing/2014/main" id="{EAA2EC56-7B38-4210-A08E-DEC2C84DC3BF}"/>
                </a:ext>
              </a:extLst>
            </p:cNvPr>
            <p:cNvSpPr/>
            <p:nvPr/>
          </p:nvSpPr>
          <p:spPr>
            <a:xfrm>
              <a:off x="8229599" y="3268301"/>
              <a:ext cx="715224" cy="1484769"/>
            </a:xfrm>
            <a:prstGeom prst="cube">
              <a:avLst/>
            </a:prstGeom>
            <a:solidFill>
              <a:srgbClr val="0000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97">
                <a:latin typeface="+mn-ea"/>
              </a:endParaRPr>
            </a:p>
          </p:txBody>
        </p:sp>
        <p:sp>
          <p:nvSpPr>
            <p:cNvPr id="14" name="정육면체 13">
              <a:extLst>
                <a:ext uri="{FF2B5EF4-FFF2-40B4-BE49-F238E27FC236}">
                  <a16:creationId xmlns:a16="http://schemas.microsoft.com/office/drawing/2014/main" id="{808EE276-51B7-4557-B232-B6FC2F1B2E09}"/>
                </a:ext>
              </a:extLst>
            </p:cNvPr>
            <p:cNvSpPr/>
            <p:nvPr/>
          </p:nvSpPr>
          <p:spPr>
            <a:xfrm>
              <a:off x="9397496" y="4680639"/>
              <a:ext cx="715224" cy="1484769"/>
            </a:xfrm>
            <a:prstGeom prst="cub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97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15" name="정육면체 14">
              <a:extLst>
                <a:ext uri="{FF2B5EF4-FFF2-40B4-BE49-F238E27FC236}">
                  <a16:creationId xmlns:a16="http://schemas.microsoft.com/office/drawing/2014/main" id="{A6B32A29-A641-4585-B5FF-1AB9066BB29E}"/>
                </a:ext>
              </a:extLst>
            </p:cNvPr>
            <p:cNvSpPr/>
            <p:nvPr/>
          </p:nvSpPr>
          <p:spPr>
            <a:xfrm>
              <a:off x="10619714" y="4680642"/>
              <a:ext cx="715224" cy="1484769"/>
            </a:xfrm>
            <a:prstGeom prst="cub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97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16" name="Text Box 101">
              <a:extLst>
                <a:ext uri="{FF2B5EF4-FFF2-40B4-BE49-F238E27FC236}">
                  <a16:creationId xmlns:a16="http://schemas.microsoft.com/office/drawing/2014/main" id="{4B47D16E-121D-4324-82B2-421D9272D7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38476" y="4955686"/>
              <a:ext cx="642797" cy="151012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731" b="1" dirty="0">
                  <a:solidFill>
                    <a:schemeClr val="bg1"/>
                  </a:solidFill>
                  <a:latin typeface="굴림체" panose="020B0609000101010101" pitchFamily="49" charset="-127"/>
                  <a:ea typeface="굴림체" panose="020B0609000101010101" pitchFamily="49" charset="-127"/>
                </a:rPr>
                <a:t>가정적</a:t>
              </a:r>
              <a:r>
                <a:rPr lang="en-US" altLang="ko-KR" sz="731" b="1" dirty="0">
                  <a:solidFill>
                    <a:schemeClr val="bg1"/>
                  </a:solidFill>
                  <a:latin typeface="굴림체" panose="020B0609000101010101" pitchFamily="49" charset="-127"/>
                  <a:ea typeface="굴림체" panose="020B0609000101010101" pitchFamily="49" charset="-127"/>
                </a:rPr>
                <a:t>/</a:t>
              </a:r>
            </a:p>
            <a:p>
              <a:pPr algn="ctr"/>
              <a:r>
                <a:rPr lang="ko-KR" altLang="en-US" sz="731" b="1" dirty="0">
                  <a:solidFill>
                    <a:schemeClr val="bg1"/>
                  </a:solidFill>
                  <a:latin typeface="굴림체" panose="020B0609000101010101" pitchFamily="49" charset="-127"/>
                  <a:ea typeface="굴림체" panose="020B0609000101010101" pitchFamily="49" charset="-127"/>
                </a:rPr>
                <a:t>사회적 </a:t>
              </a:r>
            </a:p>
            <a:p>
              <a:pPr algn="ctr"/>
              <a:r>
                <a:rPr lang="ko-KR" altLang="en-US" sz="731" b="1" dirty="0">
                  <a:solidFill>
                    <a:schemeClr val="bg1"/>
                  </a:solidFill>
                  <a:latin typeface="굴림체" panose="020B0609000101010101" pitchFamily="49" charset="-127"/>
                  <a:ea typeface="굴림체" panose="020B0609000101010101" pitchFamily="49" charset="-127"/>
                </a:rPr>
                <a:t>결함</a:t>
              </a:r>
            </a:p>
          </p:txBody>
        </p:sp>
        <p:sp>
          <p:nvSpPr>
            <p:cNvPr id="17" name="Text Box 102">
              <a:extLst>
                <a:ext uri="{FF2B5EF4-FFF2-40B4-BE49-F238E27FC236}">
                  <a16:creationId xmlns:a16="http://schemas.microsoft.com/office/drawing/2014/main" id="{E7D57ED5-F1C1-49EA-86CF-153D5083657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34267" y="5115329"/>
              <a:ext cx="743294" cy="7318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ko-KR" altLang="en-US" sz="731" b="1" dirty="0">
                  <a:solidFill>
                    <a:schemeClr val="bg1"/>
                  </a:solidFill>
                  <a:latin typeface="굴림체" panose="020B0609000101010101" pitchFamily="49" charset="-127"/>
                  <a:ea typeface="굴림체" panose="020B0609000101010101" pitchFamily="49" charset="-127"/>
                </a:rPr>
                <a:t>개인적</a:t>
              </a:r>
            </a:p>
            <a:p>
              <a:pPr algn="ctr"/>
              <a:r>
                <a:rPr lang="ko-KR" altLang="en-US" sz="731" b="1" dirty="0">
                  <a:solidFill>
                    <a:schemeClr val="bg1"/>
                  </a:solidFill>
                  <a:latin typeface="굴림체" panose="020B0609000101010101" pitchFamily="49" charset="-127"/>
                  <a:ea typeface="굴림체" panose="020B0609000101010101" pitchFamily="49" charset="-127"/>
                </a:rPr>
                <a:t> 결함</a:t>
              </a:r>
            </a:p>
          </p:txBody>
        </p:sp>
        <p:sp>
          <p:nvSpPr>
            <p:cNvPr id="18" name="Text Box 103">
              <a:extLst>
                <a:ext uri="{FF2B5EF4-FFF2-40B4-BE49-F238E27FC236}">
                  <a16:creationId xmlns:a16="http://schemas.microsoft.com/office/drawing/2014/main" id="{EB90BDAB-38A2-4944-965D-9EC493B1043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40259" y="3623371"/>
              <a:ext cx="817065" cy="12506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ko-KR" altLang="en-US" sz="731" b="1" dirty="0">
                  <a:solidFill>
                    <a:schemeClr val="bg1"/>
                  </a:solidFill>
                  <a:latin typeface="굴림체" panose="020B0609000101010101" pitchFamily="49" charset="-127"/>
                  <a:ea typeface="굴림체" panose="020B0609000101010101" pitchFamily="49" charset="-127"/>
                </a:rPr>
                <a:t>불안전 </a:t>
              </a:r>
            </a:p>
            <a:p>
              <a:pPr algn="ctr"/>
              <a:r>
                <a:rPr lang="ko-KR" altLang="en-US" sz="731" b="1" dirty="0">
                  <a:solidFill>
                    <a:schemeClr val="bg1"/>
                  </a:solidFill>
                  <a:latin typeface="굴림체" panose="020B0609000101010101" pitchFamily="49" charset="-127"/>
                  <a:ea typeface="굴림체" panose="020B0609000101010101" pitchFamily="49" charset="-127"/>
                </a:rPr>
                <a:t>상태</a:t>
              </a:r>
              <a:endParaRPr lang="en-US" altLang="ko-KR" sz="731" b="1" dirty="0">
                <a:solidFill>
                  <a:schemeClr val="bg1"/>
                </a:solidFill>
                <a:latin typeface="굴림체" panose="020B0609000101010101" pitchFamily="49" charset="-127"/>
                <a:ea typeface="굴림체" panose="020B0609000101010101" pitchFamily="49" charset="-127"/>
              </a:endParaRPr>
            </a:p>
            <a:p>
              <a:pPr algn="ctr"/>
              <a:r>
                <a:rPr lang="en-US" altLang="ko-KR" sz="731" b="1" dirty="0">
                  <a:solidFill>
                    <a:schemeClr val="bg1"/>
                  </a:solidFill>
                  <a:latin typeface="굴림체" panose="020B0609000101010101" pitchFamily="49" charset="-127"/>
                  <a:ea typeface="굴림체" panose="020B0609000101010101" pitchFamily="49" charset="-127"/>
                </a:rPr>
                <a:t>/</a:t>
              </a:r>
            </a:p>
            <a:p>
              <a:pPr algn="ctr"/>
              <a:r>
                <a:rPr lang="ko-KR" altLang="en-US" sz="731" b="1" dirty="0">
                  <a:solidFill>
                    <a:schemeClr val="bg1"/>
                  </a:solidFill>
                  <a:latin typeface="굴림체" panose="020B0609000101010101" pitchFamily="49" charset="-127"/>
                  <a:ea typeface="굴림체" panose="020B0609000101010101" pitchFamily="49" charset="-127"/>
                </a:rPr>
                <a:t>행동</a:t>
              </a:r>
            </a:p>
          </p:txBody>
        </p:sp>
        <p:sp>
          <p:nvSpPr>
            <p:cNvPr id="19" name="Text Box 104">
              <a:extLst>
                <a:ext uri="{FF2B5EF4-FFF2-40B4-BE49-F238E27FC236}">
                  <a16:creationId xmlns:a16="http://schemas.microsoft.com/office/drawing/2014/main" id="{4CFAD8F2-4EEE-46C6-A25F-44152699FE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452727" y="5126461"/>
              <a:ext cx="443128" cy="9912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ko-KR" altLang="en-US" sz="731" b="1" dirty="0">
                  <a:solidFill>
                    <a:srgbClr val="FF0000"/>
                  </a:solidFill>
                  <a:latin typeface="굴림체" panose="020B0609000101010101" pitchFamily="49" charset="-127"/>
                  <a:ea typeface="굴림체" panose="020B0609000101010101" pitchFamily="49" charset="-127"/>
                </a:rPr>
                <a:t>사</a:t>
              </a:r>
            </a:p>
            <a:p>
              <a:pPr algn="ctr"/>
              <a:endParaRPr lang="ko-KR" altLang="en-US" sz="731" b="1" dirty="0">
                <a:solidFill>
                  <a:srgbClr val="FF0000"/>
                </a:solidFill>
                <a:latin typeface="굴림체" panose="020B0609000101010101" pitchFamily="49" charset="-127"/>
                <a:ea typeface="굴림체" panose="020B0609000101010101" pitchFamily="49" charset="-127"/>
              </a:endParaRPr>
            </a:p>
            <a:p>
              <a:pPr algn="ctr"/>
              <a:r>
                <a:rPr lang="ko-KR" altLang="en-US" sz="731" b="1" dirty="0">
                  <a:solidFill>
                    <a:srgbClr val="FF0000"/>
                  </a:solidFill>
                  <a:latin typeface="굴림체" panose="020B0609000101010101" pitchFamily="49" charset="-127"/>
                  <a:ea typeface="굴림체" panose="020B0609000101010101" pitchFamily="49" charset="-127"/>
                </a:rPr>
                <a:t>고</a:t>
              </a:r>
            </a:p>
          </p:txBody>
        </p:sp>
        <p:sp>
          <p:nvSpPr>
            <p:cNvPr id="20" name="Text Box 116">
              <a:extLst>
                <a:ext uri="{FF2B5EF4-FFF2-40B4-BE49-F238E27FC236}">
                  <a16:creationId xmlns:a16="http://schemas.microsoft.com/office/drawing/2014/main" id="{FE068D49-6249-46EF-BDA8-AD1DC77E0F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764491" y="5097096"/>
              <a:ext cx="250842" cy="9912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731" b="1" dirty="0">
                  <a:solidFill>
                    <a:srgbClr val="FF0000"/>
                  </a:solidFill>
                  <a:latin typeface="굴림체" panose="020B0609000101010101" pitchFamily="49" charset="-127"/>
                  <a:ea typeface="굴림체" panose="020B0609000101010101" pitchFamily="49" charset="-127"/>
                </a:rPr>
                <a:t>재</a:t>
              </a:r>
            </a:p>
            <a:p>
              <a:pPr algn="ctr"/>
              <a:endParaRPr lang="ko-KR" altLang="en-US" sz="731" b="1" dirty="0">
                <a:solidFill>
                  <a:srgbClr val="FF0000"/>
                </a:solidFill>
                <a:latin typeface="굴림체" panose="020B0609000101010101" pitchFamily="49" charset="-127"/>
                <a:ea typeface="굴림체" panose="020B0609000101010101" pitchFamily="49" charset="-127"/>
              </a:endParaRPr>
            </a:p>
            <a:p>
              <a:pPr algn="ctr"/>
              <a:r>
                <a:rPr lang="ko-KR" altLang="en-US" sz="731" b="1" dirty="0">
                  <a:solidFill>
                    <a:srgbClr val="FF0000"/>
                  </a:solidFill>
                  <a:latin typeface="굴림체" panose="020B0609000101010101" pitchFamily="49" charset="-127"/>
                  <a:ea typeface="굴림체" panose="020B0609000101010101" pitchFamily="49" charset="-127"/>
                </a:rPr>
                <a:t>해</a:t>
              </a:r>
            </a:p>
          </p:txBody>
        </p:sp>
        <p:sp>
          <p:nvSpPr>
            <p:cNvPr id="21" name="화살표: 아래로 구부러짐 20">
              <a:extLst>
                <a:ext uri="{FF2B5EF4-FFF2-40B4-BE49-F238E27FC236}">
                  <a16:creationId xmlns:a16="http://schemas.microsoft.com/office/drawing/2014/main" id="{AB2FF5C5-326D-4C3E-8287-B2DCC502513F}"/>
                </a:ext>
              </a:extLst>
            </p:cNvPr>
            <p:cNvSpPr/>
            <p:nvPr/>
          </p:nvSpPr>
          <p:spPr>
            <a:xfrm>
              <a:off x="6653195" y="4555857"/>
              <a:ext cx="669956" cy="307818"/>
            </a:xfrm>
            <a:prstGeom prst="curvedDownArrow">
              <a:avLst>
                <a:gd name="adj1" fmla="val 25000"/>
                <a:gd name="adj2" fmla="val 50000"/>
                <a:gd name="adj3" fmla="val 62931"/>
              </a:avLst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97">
                <a:solidFill>
                  <a:schemeClr val="tx1"/>
                </a:solidFill>
              </a:endParaRPr>
            </a:p>
          </p:txBody>
        </p:sp>
        <p:sp>
          <p:nvSpPr>
            <p:cNvPr id="22" name="화살표: 아래로 구부러짐 21">
              <a:extLst>
                <a:ext uri="{FF2B5EF4-FFF2-40B4-BE49-F238E27FC236}">
                  <a16:creationId xmlns:a16="http://schemas.microsoft.com/office/drawing/2014/main" id="{AFBE4990-9EF0-4ADC-A7AD-2321EACE8C37}"/>
                </a:ext>
              </a:extLst>
            </p:cNvPr>
            <p:cNvSpPr/>
            <p:nvPr/>
          </p:nvSpPr>
          <p:spPr>
            <a:xfrm>
              <a:off x="7910133" y="4772201"/>
              <a:ext cx="669956" cy="307818"/>
            </a:xfrm>
            <a:prstGeom prst="curvedDownArrow">
              <a:avLst>
                <a:gd name="adj1" fmla="val 25000"/>
                <a:gd name="adj2" fmla="val 50000"/>
                <a:gd name="adj3" fmla="val 62931"/>
              </a:avLst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97">
                <a:solidFill>
                  <a:schemeClr val="tx1"/>
                </a:solidFill>
              </a:endParaRPr>
            </a:p>
          </p:txBody>
        </p:sp>
        <p:sp>
          <p:nvSpPr>
            <p:cNvPr id="23" name="정육면체 22">
              <a:extLst>
                <a:ext uri="{FF2B5EF4-FFF2-40B4-BE49-F238E27FC236}">
                  <a16:creationId xmlns:a16="http://schemas.microsoft.com/office/drawing/2014/main" id="{0CF9AE9C-2D22-4584-BCFA-1B3353E32831}"/>
                </a:ext>
              </a:extLst>
            </p:cNvPr>
            <p:cNvSpPr/>
            <p:nvPr/>
          </p:nvSpPr>
          <p:spPr>
            <a:xfrm>
              <a:off x="5957180" y="1403287"/>
              <a:ext cx="715224" cy="1484769"/>
            </a:xfrm>
            <a:prstGeom prst="cube">
              <a:avLst/>
            </a:prstGeom>
            <a:solidFill>
              <a:srgbClr val="0000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97">
                <a:latin typeface="+mn-ea"/>
              </a:endParaRPr>
            </a:p>
          </p:txBody>
        </p:sp>
        <p:sp>
          <p:nvSpPr>
            <p:cNvPr id="24" name="Text Box 101">
              <a:extLst>
                <a:ext uri="{FF2B5EF4-FFF2-40B4-BE49-F238E27FC236}">
                  <a16:creationId xmlns:a16="http://schemas.microsoft.com/office/drawing/2014/main" id="{ED5A0E1D-4F8E-4B75-90BC-8227F850F89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20968" y="1767413"/>
              <a:ext cx="642797" cy="151012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731" b="1" dirty="0">
                  <a:solidFill>
                    <a:schemeClr val="bg1"/>
                  </a:solidFill>
                  <a:latin typeface="굴림체" panose="020B0609000101010101" pitchFamily="49" charset="-127"/>
                  <a:ea typeface="굴림체" panose="020B0609000101010101" pitchFamily="49" charset="-127"/>
                </a:rPr>
                <a:t>가정적</a:t>
              </a:r>
              <a:r>
                <a:rPr lang="en-US" altLang="ko-KR" sz="731" b="1" dirty="0">
                  <a:solidFill>
                    <a:schemeClr val="bg1"/>
                  </a:solidFill>
                  <a:latin typeface="굴림체" panose="020B0609000101010101" pitchFamily="49" charset="-127"/>
                  <a:ea typeface="굴림체" panose="020B0609000101010101" pitchFamily="49" charset="-127"/>
                </a:rPr>
                <a:t>/</a:t>
              </a:r>
            </a:p>
            <a:p>
              <a:pPr algn="ctr"/>
              <a:r>
                <a:rPr lang="ko-KR" altLang="en-US" sz="731" b="1" dirty="0">
                  <a:solidFill>
                    <a:schemeClr val="bg1"/>
                  </a:solidFill>
                  <a:latin typeface="굴림체" panose="020B0609000101010101" pitchFamily="49" charset="-127"/>
                  <a:ea typeface="굴림체" panose="020B0609000101010101" pitchFamily="49" charset="-127"/>
                </a:rPr>
                <a:t>사회적 </a:t>
              </a:r>
            </a:p>
            <a:p>
              <a:pPr algn="ctr"/>
              <a:r>
                <a:rPr lang="ko-KR" altLang="en-US" sz="731" b="1" dirty="0">
                  <a:solidFill>
                    <a:schemeClr val="bg1"/>
                  </a:solidFill>
                  <a:latin typeface="굴림체" panose="020B0609000101010101" pitchFamily="49" charset="-127"/>
                  <a:ea typeface="굴림체" panose="020B0609000101010101" pitchFamily="49" charset="-127"/>
                </a:rPr>
                <a:t>결함</a:t>
              </a:r>
            </a:p>
          </p:txBody>
        </p:sp>
        <p:cxnSp>
          <p:nvCxnSpPr>
            <p:cNvPr id="25" name="직선 화살표 연결선 24">
              <a:extLst>
                <a:ext uri="{FF2B5EF4-FFF2-40B4-BE49-F238E27FC236}">
                  <a16:creationId xmlns:a16="http://schemas.microsoft.com/office/drawing/2014/main" id="{DEBB3356-5B11-4548-8496-A955D6F7FB4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72404" y="2163772"/>
              <a:ext cx="3938257" cy="10186"/>
            </a:xfrm>
            <a:prstGeom prst="straightConnector1">
              <a:avLst/>
            </a:prstGeom>
            <a:ln w="762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정육면체 25">
              <a:extLst>
                <a:ext uri="{FF2B5EF4-FFF2-40B4-BE49-F238E27FC236}">
                  <a16:creationId xmlns:a16="http://schemas.microsoft.com/office/drawing/2014/main" id="{492A871E-3A58-4DD6-8668-13F8C93CA464}"/>
                </a:ext>
              </a:extLst>
            </p:cNvPr>
            <p:cNvSpPr/>
            <p:nvPr/>
          </p:nvSpPr>
          <p:spPr>
            <a:xfrm>
              <a:off x="9397496" y="1412337"/>
              <a:ext cx="715224" cy="1484769"/>
            </a:xfrm>
            <a:prstGeom prst="cub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97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27" name="Text Box 104">
              <a:extLst>
                <a:ext uri="{FF2B5EF4-FFF2-40B4-BE49-F238E27FC236}">
                  <a16:creationId xmlns:a16="http://schemas.microsoft.com/office/drawing/2014/main" id="{19ACF3BC-1950-4CC5-A5B7-6186E28E90C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452727" y="1840051"/>
              <a:ext cx="443128" cy="9912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ko-KR" altLang="en-US" sz="731" b="1" dirty="0">
                  <a:solidFill>
                    <a:srgbClr val="FF0000"/>
                  </a:solidFill>
                  <a:latin typeface="굴림체" panose="020B0609000101010101" pitchFamily="49" charset="-127"/>
                  <a:ea typeface="굴림체" panose="020B0609000101010101" pitchFamily="49" charset="-127"/>
                </a:rPr>
                <a:t>사</a:t>
              </a:r>
            </a:p>
            <a:p>
              <a:pPr algn="ctr"/>
              <a:endParaRPr lang="ko-KR" altLang="en-US" sz="731" b="1" dirty="0">
                <a:solidFill>
                  <a:srgbClr val="FF0000"/>
                </a:solidFill>
                <a:latin typeface="굴림체" panose="020B0609000101010101" pitchFamily="49" charset="-127"/>
                <a:ea typeface="굴림체" panose="020B0609000101010101" pitchFamily="49" charset="-127"/>
              </a:endParaRPr>
            </a:p>
            <a:p>
              <a:pPr algn="ctr"/>
              <a:r>
                <a:rPr lang="ko-KR" altLang="en-US" sz="731" b="1" dirty="0">
                  <a:solidFill>
                    <a:srgbClr val="FF0000"/>
                  </a:solidFill>
                  <a:latin typeface="굴림체" panose="020B0609000101010101" pitchFamily="49" charset="-127"/>
                  <a:ea typeface="굴림체" panose="020B0609000101010101" pitchFamily="49" charset="-127"/>
                </a:rPr>
                <a:t>고</a:t>
              </a:r>
            </a:p>
          </p:txBody>
        </p:sp>
        <p:sp>
          <p:nvSpPr>
            <p:cNvPr id="28" name="정육면체 27">
              <a:extLst>
                <a:ext uri="{FF2B5EF4-FFF2-40B4-BE49-F238E27FC236}">
                  <a16:creationId xmlns:a16="http://schemas.microsoft.com/office/drawing/2014/main" id="{4883DB96-C8EC-490D-8C13-F8B2D0E2D714}"/>
                </a:ext>
              </a:extLst>
            </p:cNvPr>
            <p:cNvSpPr/>
            <p:nvPr/>
          </p:nvSpPr>
          <p:spPr>
            <a:xfrm>
              <a:off x="7125077" y="1403287"/>
              <a:ext cx="715224" cy="1484769"/>
            </a:xfrm>
            <a:prstGeom prst="cube">
              <a:avLst/>
            </a:prstGeom>
            <a:solidFill>
              <a:srgbClr val="0000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97">
                <a:latin typeface="+mn-ea"/>
              </a:endParaRPr>
            </a:p>
          </p:txBody>
        </p:sp>
        <p:sp>
          <p:nvSpPr>
            <p:cNvPr id="29" name="정육면체 28">
              <a:extLst>
                <a:ext uri="{FF2B5EF4-FFF2-40B4-BE49-F238E27FC236}">
                  <a16:creationId xmlns:a16="http://schemas.microsoft.com/office/drawing/2014/main" id="{1521C408-9AD6-4525-8581-5F87A753418B}"/>
                </a:ext>
              </a:extLst>
            </p:cNvPr>
            <p:cNvSpPr/>
            <p:nvPr/>
          </p:nvSpPr>
          <p:spPr>
            <a:xfrm>
              <a:off x="8256758" y="1403287"/>
              <a:ext cx="715224" cy="1484769"/>
            </a:xfrm>
            <a:prstGeom prst="cube">
              <a:avLst/>
            </a:prstGeom>
            <a:solidFill>
              <a:srgbClr val="0000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97">
                <a:latin typeface="+mn-ea"/>
              </a:endParaRPr>
            </a:p>
          </p:txBody>
        </p:sp>
        <p:sp>
          <p:nvSpPr>
            <p:cNvPr id="30" name="Text Box 102">
              <a:extLst>
                <a:ext uri="{FF2B5EF4-FFF2-40B4-BE49-F238E27FC236}">
                  <a16:creationId xmlns:a16="http://schemas.microsoft.com/office/drawing/2014/main" id="{3689FAC2-A3BC-4BB4-9CB8-8A6855777D4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34267" y="1888879"/>
              <a:ext cx="743294" cy="7318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ko-KR" altLang="en-US" sz="731" b="1" dirty="0">
                  <a:solidFill>
                    <a:schemeClr val="bg1"/>
                  </a:solidFill>
                  <a:latin typeface="굴림체" panose="020B0609000101010101" pitchFamily="49" charset="-127"/>
                  <a:ea typeface="굴림체" panose="020B0609000101010101" pitchFamily="49" charset="-127"/>
                </a:rPr>
                <a:t>개인적</a:t>
              </a:r>
            </a:p>
            <a:p>
              <a:pPr algn="ctr"/>
              <a:r>
                <a:rPr lang="ko-KR" altLang="en-US" sz="731" b="1" dirty="0">
                  <a:solidFill>
                    <a:schemeClr val="bg1"/>
                  </a:solidFill>
                  <a:latin typeface="굴림체" panose="020B0609000101010101" pitchFamily="49" charset="-127"/>
                  <a:ea typeface="굴림체" panose="020B0609000101010101" pitchFamily="49" charset="-127"/>
                </a:rPr>
                <a:t> 결함</a:t>
              </a:r>
            </a:p>
          </p:txBody>
        </p:sp>
        <p:sp>
          <p:nvSpPr>
            <p:cNvPr id="31" name="Text Box 103">
              <a:extLst>
                <a:ext uri="{FF2B5EF4-FFF2-40B4-BE49-F238E27FC236}">
                  <a16:creationId xmlns:a16="http://schemas.microsoft.com/office/drawing/2014/main" id="{A6B13323-D683-46E7-8DBA-01FE0DC2BC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67419" y="1758359"/>
              <a:ext cx="817065" cy="12506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ko-KR" altLang="en-US" sz="731" b="1" dirty="0">
                  <a:solidFill>
                    <a:schemeClr val="bg1"/>
                  </a:solidFill>
                  <a:latin typeface="굴림체" panose="020B0609000101010101" pitchFamily="49" charset="-127"/>
                  <a:ea typeface="굴림체" panose="020B0609000101010101" pitchFamily="49" charset="-127"/>
                </a:rPr>
                <a:t>불안전 </a:t>
              </a:r>
            </a:p>
            <a:p>
              <a:pPr algn="ctr"/>
              <a:r>
                <a:rPr lang="ko-KR" altLang="en-US" sz="731" b="1" dirty="0">
                  <a:solidFill>
                    <a:schemeClr val="bg1"/>
                  </a:solidFill>
                  <a:latin typeface="굴림체" panose="020B0609000101010101" pitchFamily="49" charset="-127"/>
                  <a:ea typeface="굴림체" panose="020B0609000101010101" pitchFamily="49" charset="-127"/>
                </a:rPr>
                <a:t>상태</a:t>
              </a:r>
              <a:endParaRPr lang="en-US" altLang="ko-KR" sz="731" b="1" dirty="0">
                <a:solidFill>
                  <a:schemeClr val="bg1"/>
                </a:solidFill>
                <a:latin typeface="굴림체" panose="020B0609000101010101" pitchFamily="49" charset="-127"/>
                <a:ea typeface="굴림체" panose="020B0609000101010101" pitchFamily="49" charset="-127"/>
              </a:endParaRPr>
            </a:p>
            <a:p>
              <a:pPr algn="ctr"/>
              <a:r>
                <a:rPr lang="en-US" altLang="ko-KR" sz="731" b="1" dirty="0">
                  <a:solidFill>
                    <a:schemeClr val="bg1"/>
                  </a:solidFill>
                  <a:latin typeface="굴림체" panose="020B0609000101010101" pitchFamily="49" charset="-127"/>
                  <a:ea typeface="굴림체" panose="020B0609000101010101" pitchFamily="49" charset="-127"/>
                </a:rPr>
                <a:t>/</a:t>
              </a:r>
            </a:p>
            <a:p>
              <a:pPr algn="ctr"/>
              <a:r>
                <a:rPr lang="ko-KR" altLang="en-US" sz="731" b="1" dirty="0">
                  <a:solidFill>
                    <a:schemeClr val="bg1"/>
                  </a:solidFill>
                  <a:latin typeface="굴림체" panose="020B0609000101010101" pitchFamily="49" charset="-127"/>
                  <a:ea typeface="굴림체" panose="020B0609000101010101" pitchFamily="49" charset="-127"/>
                </a:rPr>
                <a:t>행동</a:t>
              </a:r>
            </a:p>
          </p:txBody>
        </p: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38A457D7-D2EE-445F-8A11-D5CE310F986B}"/>
              </a:ext>
            </a:extLst>
          </p:cNvPr>
          <p:cNvSpPr txBox="1"/>
          <p:nvPr/>
        </p:nvSpPr>
        <p:spPr>
          <a:xfrm>
            <a:off x="297350" y="162549"/>
            <a:ext cx="1350857" cy="3174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63" b="1" dirty="0">
                <a:latin typeface="+mn-ea"/>
              </a:rPr>
              <a:t>맺음말</a:t>
            </a:r>
          </a:p>
        </p:txBody>
      </p:sp>
    </p:spTree>
    <p:extLst>
      <p:ext uri="{BB962C8B-B14F-4D97-AF65-F5344CB8AC3E}">
        <p14:creationId xmlns:p14="http://schemas.microsoft.com/office/powerpoint/2010/main" val="28362185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Yu Gothic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Yu Gothic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450</TotalTime>
  <Words>1105</Words>
  <Application>Microsoft Office PowerPoint</Application>
  <PresentationFormat>사용자 지정</PresentationFormat>
  <Paragraphs>252</Paragraphs>
  <Slides>18</Slides>
  <Notes>1</Notes>
  <HiddenSlides>0</HiddenSlides>
  <MMClips>0</MMClips>
  <ScaleCrop>false</ScaleCrop>
  <HeadingPairs>
    <vt:vector size="8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2</vt:i4>
      </vt:variant>
      <vt:variant>
        <vt:lpstr>슬라이드 제목</vt:lpstr>
      </vt:variant>
      <vt:variant>
        <vt:i4>18</vt:i4>
      </vt:variant>
    </vt:vector>
  </HeadingPairs>
  <TitlesOfParts>
    <vt:vector size="30" baseType="lpstr">
      <vt:lpstr>굴림체</vt:lpstr>
      <vt:lpstr>맑은 고딕</vt:lpstr>
      <vt:lpstr>함초롬돋움</vt:lpstr>
      <vt:lpstr>함초롬바탕</vt:lpstr>
      <vt:lpstr>휴먼옛체</vt:lpstr>
      <vt:lpstr>Arial</vt:lpstr>
      <vt:lpstr>Calibri</vt:lpstr>
      <vt:lpstr>Calibri Light</vt:lpstr>
      <vt:lpstr>Wingdings</vt:lpstr>
      <vt:lpstr>Office 테마</vt:lpstr>
      <vt:lpstr>클립</vt:lpstr>
      <vt:lpstr>CorelDRAW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19</cp:revision>
  <cp:lastPrinted>2026-02-20T06:39:59Z</cp:lastPrinted>
  <dcterms:created xsi:type="dcterms:W3CDTF">2026-02-20T01:40:51Z</dcterms:created>
  <dcterms:modified xsi:type="dcterms:W3CDTF">2026-04-02T03:18:50Z</dcterms:modified>
</cp:coreProperties>
</file>