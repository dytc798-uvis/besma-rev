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4" r:id="rId1"/>
  </p:sldMasterIdLst>
  <p:notesMasterIdLst>
    <p:notesMasterId r:id="rId4"/>
  </p:notesMasterIdLst>
  <p:handoutMasterIdLst>
    <p:handoutMasterId r:id="rId5"/>
  </p:handoutMasterIdLst>
  <p:sldIdLst>
    <p:sldId id="1101" r:id="rId2"/>
    <p:sldId id="1102" r:id="rId3"/>
  </p:sldIdLst>
  <p:sldSz cx="9906000" cy="6858000" type="A4"/>
  <p:notesSz cx="9866313" cy="67357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기백" initials="기" lastIdx="1" clrIdx="0">
    <p:extLst>
      <p:ext uri="{19B8F6BF-5375-455C-9EA6-DF929625EA0E}">
        <p15:presenceInfo xmlns:p15="http://schemas.microsoft.com/office/powerpoint/2012/main" userId="기백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00FF"/>
    <a:srgbClr val="FF7C80"/>
    <a:srgbClr val="FF9900"/>
    <a:srgbClr val="1F4E79"/>
    <a:srgbClr val="FC8890"/>
    <a:srgbClr val="00B050"/>
    <a:srgbClr val="00FFFF"/>
    <a:srgbClr val="284D88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7CE84F3-28C3-443E-9E96-99CF82512B78}" styleName="어두운 스타일 1 - 강조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AF606853-7671-496A-8E4F-DF71F8EC918B}" styleName="어두운 스타일 1 - 강조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어두운 스타일 1 - 강조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8603FDC-E32A-4AB5-989C-0864C3EAD2B8}" styleName="테마 스타일 2 - 강조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6370" autoAdjust="0"/>
  </p:normalViewPr>
  <p:slideViewPr>
    <p:cSldViewPr snapToGrid="0">
      <p:cViewPr>
        <p:scale>
          <a:sx n="100" d="100"/>
          <a:sy n="100" d="100"/>
        </p:scale>
        <p:origin x="1998" y="40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8" d="100"/>
          <a:sy n="68" d="100"/>
        </p:scale>
        <p:origin x="311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4276478" cy="337166"/>
          </a:xfrm>
          <a:prstGeom prst="rect">
            <a:avLst/>
          </a:prstGeom>
        </p:spPr>
        <p:txBody>
          <a:bodyPr vert="horz" lIns="90711" tIns="45356" rIns="90711" bIns="4535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87538" y="0"/>
            <a:ext cx="4276478" cy="337166"/>
          </a:xfrm>
          <a:prstGeom prst="rect">
            <a:avLst/>
          </a:prstGeom>
        </p:spPr>
        <p:txBody>
          <a:bodyPr vert="horz" lIns="90711" tIns="45356" rIns="90711" bIns="45356" rtlCol="0"/>
          <a:lstStyle>
            <a:lvl1pPr algn="r">
              <a:defRPr sz="1200"/>
            </a:lvl1pPr>
          </a:lstStyle>
          <a:p>
            <a:fld id="{5D59BD62-B91D-4A34-ACA3-F426F7C54725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6398597"/>
            <a:ext cx="4276478" cy="337166"/>
          </a:xfrm>
          <a:prstGeom prst="rect">
            <a:avLst/>
          </a:prstGeom>
        </p:spPr>
        <p:txBody>
          <a:bodyPr vert="horz" lIns="90711" tIns="45356" rIns="90711" bIns="4535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87538" y="6398597"/>
            <a:ext cx="4276478" cy="337166"/>
          </a:xfrm>
          <a:prstGeom prst="rect">
            <a:avLst/>
          </a:prstGeom>
        </p:spPr>
        <p:txBody>
          <a:bodyPr vert="horz" lIns="90711" tIns="45356" rIns="90711" bIns="45356" rtlCol="0" anchor="b"/>
          <a:lstStyle>
            <a:lvl1pPr algn="r">
              <a:defRPr sz="1200"/>
            </a:lvl1pPr>
          </a:lstStyle>
          <a:p>
            <a:fld id="{3A36AA7F-4FCB-434D-8443-9A21373AAD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509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2"/>
            <a:ext cx="4275401" cy="337958"/>
          </a:xfrm>
          <a:prstGeom prst="rect">
            <a:avLst/>
          </a:prstGeom>
        </p:spPr>
        <p:txBody>
          <a:bodyPr vert="horz" lIns="90711" tIns="45356" rIns="90711" bIns="4535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8633" y="2"/>
            <a:ext cx="4275401" cy="337958"/>
          </a:xfrm>
          <a:prstGeom prst="rect">
            <a:avLst/>
          </a:prstGeom>
        </p:spPr>
        <p:txBody>
          <a:bodyPr vert="horz" lIns="90711" tIns="45356" rIns="90711" bIns="45356" rtlCol="0"/>
          <a:lstStyle>
            <a:lvl1pPr algn="r">
              <a:defRPr sz="1200"/>
            </a:lvl1pPr>
          </a:lstStyle>
          <a:p>
            <a:fld id="{0A9910DA-D8F1-48C5-AA2A-37305E930AFD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90888" y="841375"/>
            <a:ext cx="3284537" cy="2274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11" tIns="45356" rIns="90711" bIns="4535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6632" y="3241590"/>
            <a:ext cx="7893050" cy="2652207"/>
          </a:xfrm>
          <a:prstGeom prst="rect">
            <a:avLst/>
          </a:prstGeom>
        </p:spPr>
        <p:txBody>
          <a:bodyPr vert="horz" lIns="90711" tIns="45356" rIns="90711" bIns="4535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397807"/>
            <a:ext cx="4275401" cy="337957"/>
          </a:xfrm>
          <a:prstGeom prst="rect">
            <a:avLst/>
          </a:prstGeom>
        </p:spPr>
        <p:txBody>
          <a:bodyPr vert="horz" lIns="90711" tIns="45356" rIns="90711" bIns="4535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8633" y="6397807"/>
            <a:ext cx="4275401" cy="337957"/>
          </a:xfrm>
          <a:prstGeom prst="rect">
            <a:avLst/>
          </a:prstGeom>
        </p:spPr>
        <p:txBody>
          <a:bodyPr vert="horz" lIns="90711" tIns="45356" rIns="90711" bIns="45356" rtlCol="0" anchor="b"/>
          <a:lstStyle>
            <a:lvl1pPr algn="r">
              <a:defRPr sz="1200"/>
            </a:lvl1pPr>
          </a:lstStyle>
          <a:p>
            <a:fld id="{A1B8BF8E-0BB3-4562-857A-D66A10E53B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0830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2">
            <a:extLst>
              <a:ext uri="{FF2B5EF4-FFF2-40B4-BE49-F238E27FC236}">
                <a16:creationId xmlns:a16="http://schemas.microsoft.com/office/drawing/2014/main" id="{245078F1-7E76-45A3-81D4-AA4326BF192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74" b="16661"/>
          <a:stretch/>
        </p:blipFill>
        <p:spPr bwMode="auto">
          <a:xfrm>
            <a:off x="1" y="1631909"/>
            <a:ext cx="9905999" cy="5226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97398204-671C-4CA7-BDCB-57CA3D578720}"/>
              </a:ext>
            </a:extLst>
          </p:cNvPr>
          <p:cNvSpPr/>
          <p:nvPr userDrawn="1"/>
        </p:nvSpPr>
        <p:spPr>
          <a:xfrm>
            <a:off x="0" y="26340"/>
            <a:ext cx="9906000" cy="6831659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90E8103-D3EB-4AAE-8FBC-9E9DC193C8FE}"/>
              </a:ext>
            </a:extLst>
          </p:cNvPr>
          <p:cNvGrpSpPr/>
          <p:nvPr userDrawn="1"/>
        </p:nvGrpSpPr>
        <p:grpSpPr>
          <a:xfrm>
            <a:off x="0" y="1696329"/>
            <a:ext cx="9905998" cy="139617"/>
            <a:chOff x="0" y="1214996"/>
            <a:chExt cx="9906000" cy="15388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5EF889B-E460-4D86-9D8F-6C372C5A901A}"/>
                </a:ext>
              </a:extLst>
            </p:cNvPr>
            <p:cNvSpPr/>
            <p:nvPr userDrawn="1"/>
          </p:nvSpPr>
          <p:spPr>
            <a:xfrm>
              <a:off x="0" y="1219200"/>
              <a:ext cx="7162800" cy="149683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9D3D087-7387-4036-88B6-B9F0E879272C}"/>
                </a:ext>
              </a:extLst>
            </p:cNvPr>
            <p:cNvSpPr/>
            <p:nvPr userDrawn="1"/>
          </p:nvSpPr>
          <p:spPr>
            <a:xfrm>
              <a:off x="7257472" y="1214996"/>
              <a:ext cx="2648528" cy="153888"/>
            </a:xfrm>
            <a:prstGeom prst="rect">
              <a:avLst/>
            </a:prstGeom>
            <a:solidFill>
              <a:srgbClr val="8776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2F0546D-EFBA-4FD2-B682-0C4AA87BCA3F}"/>
              </a:ext>
            </a:extLst>
          </p:cNvPr>
          <p:cNvGrpSpPr/>
          <p:nvPr userDrawn="1"/>
        </p:nvGrpSpPr>
        <p:grpSpPr>
          <a:xfrm>
            <a:off x="-2899" y="553329"/>
            <a:ext cx="252610" cy="1143002"/>
            <a:chOff x="-3570" y="1295400"/>
            <a:chExt cx="310905" cy="121920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0CE110F-18A8-4263-9EC9-160FE1F2F566}"/>
                </a:ext>
              </a:extLst>
            </p:cNvPr>
            <p:cNvSpPr/>
            <p:nvPr userDrawn="1"/>
          </p:nvSpPr>
          <p:spPr>
            <a:xfrm>
              <a:off x="-3570" y="1295402"/>
              <a:ext cx="218178" cy="1219200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3" name="직사각형 14">
              <a:extLst>
                <a:ext uri="{FF2B5EF4-FFF2-40B4-BE49-F238E27FC236}">
                  <a16:creationId xmlns:a16="http://schemas.microsoft.com/office/drawing/2014/main" id="{38BFA7C6-7018-47C0-9A1F-8B3B54887468}"/>
                </a:ext>
              </a:extLst>
            </p:cNvPr>
            <p:cNvSpPr/>
            <p:nvPr userDrawn="1"/>
          </p:nvSpPr>
          <p:spPr>
            <a:xfrm>
              <a:off x="152400" y="1295400"/>
              <a:ext cx="154935" cy="1219200"/>
            </a:xfrm>
            <a:custGeom>
              <a:avLst/>
              <a:gdLst>
                <a:gd name="connsiteX0" fmla="*/ 0 w 92937"/>
                <a:gd name="connsiteY0" fmla="*/ 0 h 457189"/>
                <a:gd name="connsiteX1" fmla="*/ 92937 w 92937"/>
                <a:gd name="connsiteY1" fmla="*/ 0 h 457189"/>
                <a:gd name="connsiteX2" fmla="*/ 92937 w 92937"/>
                <a:gd name="connsiteY2" fmla="*/ 457189 h 457189"/>
                <a:gd name="connsiteX3" fmla="*/ 0 w 92937"/>
                <a:gd name="connsiteY3" fmla="*/ 457189 h 457189"/>
                <a:gd name="connsiteX4" fmla="*/ 0 w 92937"/>
                <a:gd name="connsiteY4" fmla="*/ 0 h 457189"/>
                <a:gd name="connsiteX0" fmla="*/ 0 w 150087"/>
                <a:gd name="connsiteY0" fmla="*/ 0 h 457189"/>
                <a:gd name="connsiteX1" fmla="*/ 150087 w 150087"/>
                <a:gd name="connsiteY1" fmla="*/ 0 h 457189"/>
                <a:gd name="connsiteX2" fmla="*/ 150087 w 150087"/>
                <a:gd name="connsiteY2" fmla="*/ 457189 h 457189"/>
                <a:gd name="connsiteX3" fmla="*/ 57150 w 150087"/>
                <a:gd name="connsiteY3" fmla="*/ 457189 h 457189"/>
                <a:gd name="connsiteX4" fmla="*/ 0 w 150087"/>
                <a:gd name="connsiteY4" fmla="*/ 0 h 457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087" h="457189">
                  <a:moveTo>
                    <a:pt x="0" y="0"/>
                  </a:moveTo>
                  <a:lnTo>
                    <a:pt x="150087" y="0"/>
                  </a:lnTo>
                  <a:lnTo>
                    <a:pt x="150087" y="457189"/>
                  </a:lnTo>
                  <a:lnTo>
                    <a:pt x="57150" y="4571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58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89544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7DDA178-6A5E-4A08-B805-B6E552AE7CCB}"/>
              </a:ext>
            </a:extLst>
          </p:cNvPr>
          <p:cNvCxnSpPr>
            <a:cxnSpLocks/>
          </p:cNvCxnSpPr>
          <p:nvPr userDrawn="1"/>
        </p:nvCxnSpPr>
        <p:spPr>
          <a:xfrm>
            <a:off x="2060" y="697410"/>
            <a:ext cx="6770215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B50F2E5-E5AA-4D1A-99DD-082609F32A3F}"/>
              </a:ext>
            </a:extLst>
          </p:cNvPr>
          <p:cNvSpPr/>
          <p:nvPr userDrawn="1"/>
        </p:nvSpPr>
        <p:spPr>
          <a:xfrm>
            <a:off x="1" y="0"/>
            <a:ext cx="174368" cy="69320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E7656AC-9BBA-4025-91B8-0D6B5B86FD85}"/>
              </a:ext>
            </a:extLst>
          </p:cNvPr>
          <p:cNvSpPr/>
          <p:nvPr userDrawn="1"/>
        </p:nvSpPr>
        <p:spPr>
          <a:xfrm>
            <a:off x="125886" y="-2"/>
            <a:ext cx="123824" cy="693204"/>
          </a:xfrm>
          <a:custGeom>
            <a:avLst/>
            <a:gdLst>
              <a:gd name="connsiteX0" fmla="*/ 0 w 92937"/>
              <a:gd name="connsiteY0" fmla="*/ 0 h 457189"/>
              <a:gd name="connsiteX1" fmla="*/ 92937 w 92937"/>
              <a:gd name="connsiteY1" fmla="*/ 0 h 457189"/>
              <a:gd name="connsiteX2" fmla="*/ 92937 w 92937"/>
              <a:gd name="connsiteY2" fmla="*/ 457189 h 457189"/>
              <a:gd name="connsiteX3" fmla="*/ 0 w 92937"/>
              <a:gd name="connsiteY3" fmla="*/ 457189 h 457189"/>
              <a:gd name="connsiteX4" fmla="*/ 0 w 92937"/>
              <a:gd name="connsiteY4" fmla="*/ 0 h 457189"/>
              <a:gd name="connsiteX0" fmla="*/ 0 w 150087"/>
              <a:gd name="connsiteY0" fmla="*/ 0 h 457189"/>
              <a:gd name="connsiteX1" fmla="*/ 150087 w 150087"/>
              <a:gd name="connsiteY1" fmla="*/ 0 h 457189"/>
              <a:gd name="connsiteX2" fmla="*/ 150087 w 150087"/>
              <a:gd name="connsiteY2" fmla="*/ 457189 h 457189"/>
              <a:gd name="connsiteX3" fmla="*/ 57150 w 150087"/>
              <a:gd name="connsiteY3" fmla="*/ 457189 h 457189"/>
              <a:gd name="connsiteX4" fmla="*/ 0 w 150087"/>
              <a:gd name="connsiteY4" fmla="*/ 0 h 457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087" h="457189">
                <a:moveTo>
                  <a:pt x="0" y="0"/>
                </a:moveTo>
                <a:lnTo>
                  <a:pt x="150087" y="0"/>
                </a:lnTo>
                <a:lnTo>
                  <a:pt x="150087" y="457189"/>
                </a:lnTo>
                <a:lnTo>
                  <a:pt x="57150" y="457189"/>
                </a:lnTo>
                <a:lnTo>
                  <a:pt x="0" y="0"/>
                </a:lnTo>
                <a:close/>
              </a:path>
            </a:pathLst>
          </a:custGeom>
          <a:solidFill>
            <a:srgbClr val="545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DDF272E-E150-E51A-9085-73AB66C89C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0" y="194897"/>
            <a:ext cx="1246477" cy="352993"/>
          </a:xfrm>
          <a:prstGeom prst="rect">
            <a:avLst/>
          </a:prstGeom>
        </p:spPr>
      </p:pic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642048AC-8199-47D6-A0B7-4F116391F4FE}"/>
              </a:ext>
            </a:extLst>
          </p:cNvPr>
          <p:cNvCxnSpPr>
            <a:cxnSpLocks/>
          </p:cNvCxnSpPr>
          <p:nvPr userDrawn="1"/>
        </p:nvCxnSpPr>
        <p:spPr>
          <a:xfrm>
            <a:off x="6895796" y="699552"/>
            <a:ext cx="3010205" cy="0"/>
          </a:xfrm>
          <a:prstGeom prst="line">
            <a:avLst/>
          </a:prstGeom>
          <a:ln w="19050">
            <a:solidFill>
              <a:srgbClr val="8776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6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E4D338F-7E91-4CD4-89E7-7E98DAADB6F5}"/>
              </a:ext>
            </a:extLst>
          </p:cNvPr>
          <p:cNvCxnSpPr>
            <a:cxnSpLocks/>
          </p:cNvCxnSpPr>
          <p:nvPr userDrawn="1"/>
        </p:nvCxnSpPr>
        <p:spPr>
          <a:xfrm>
            <a:off x="7165582" y="681400"/>
            <a:ext cx="2740419" cy="0"/>
          </a:xfrm>
          <a:prstGeom prst="line">
            <a:avLst/>
          </a:prstGeom>
          <a:ln w="19050">
            <a:solidFill>
              <a:srgbClr val="8776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FEE8E3D-C0AD-4271-8FD7-8F9191D32F69}"/>
              </a:ext>
            </a:extLst>
          </p:cNvPr>
          <p:cNvCxnSpPr>
            <a:cxnSpLocks/>
          </p:cNvCxnSpPr>
          <p:nvPr userDrawn="1"/>
        </p:nvCxnSpPr>
        <p:spPr>
          <a:xfrm flipV="1">
            <a:off x="2060" y="681554"/>
            <a:ext cx="7040090" cy="1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57C5BB-20D6-D38F-D930-08AA357832FC}"/>
              </a:ext>
            </a:extLst>
          </p:cNvPr>
          <p:cNvSpPr/>
          <p:nvPr userDrawn="1"/>
        </p:nvSpPr>
        <p:spPr>
          <a:xfrm>
            <a:off x="1" y="0"/>
            <a:ext cx="174368" cy="69320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" name="직사각형 14">
            <a:extLst>
              <a:ext uri="{FF2B5EF4-FFF2-40B4-BE49-F238E27FC236}">
                <a16:creationId xmlns:a16="http://schemas.microsoft.com/office/drawing/2014/main" id="{213DAE50-5259-FF15-572A-94EE4D21F4F1}"/>
              </a:ext>
            </a:extLst>
          </p:cNvPr>
          <p:cNvSpPr/>
          <p:nvPr userDrawn="1"/>
        </p:nvSpPr>
        <p:spPr>
          <a:xfrm>
            <a:off x="125886" y="-2"/>
            <a:ext cx="123824" cy="693204"/>
          </a:xfrm>
          <a:custGeom>
            <a:avLst/>
            <a:gdLst>
              <a:gd name="connsiteX0" fmla="*/ 0 w 92937"/>
              <a:gd name="connsiteY0" fmla="*/ 0 h 457189"/>
              <a:gd name="connsiteX1" fmla="*/ 92937 w 92937"/>
              <a:gd name="connsiteY1" fmla="*/ 0 h 457189"/>
              <a:gd name="connsiteX2" fmla="*/ 92937 w 92937"/>
              <a:gd name="connsiteY2" fmla="*/ 457189 h 457189"/>
              <a:gd name="connsiteX3" fmla="*/ 0 w 92937"/>
              <a:gd name="connsiteY3" fmla="*/ 457189 h 457189"/>
              <a:gd name="connsiteX4" fmla="*/ 0 w 92937"/>
              <a:gd name="connsiteY4" fmla="*/ 0 h 457189"/>
              <a:gd name="connsiteX0" fmla="*/ 0 w 150087"/>
              <a:gd name="connsiteY0" fmla="*/ 0 h 457189"/>
              <a:gd name="connsiteX1" fmla="*/ 150087 w 150087"/>
              <a:gd name="connsiteY1" fmla="*/ 0 h 457189"/>
              <a:gd name="connsiteX2" fmla="*/ 150087 w 150087"/>
              <a:gd name="connsiteY2" fmla="*/ 457189 h 457189"/>
              <a:gd name="connsiteX3" fmla="*/ 57150 w 150087"/>
              <a:gd name="connsiteY3" fmla="*/ 457189 h 457189"/>
              <a:gd name="connsiteX4" fmla="*/ 0 w 150087"/>
              <a:gd name="connsiteY4" fmla="*/ 0 h 457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087" h="457189">
                <a:moveTo>
                  <a:pt x="0" y="0"/>
                </a:moveTo>
                <a:lnTo>
                  <a:pt x="150087" y="0"/>
                </a:lnTo>
                <a:lnTo>
                  <a:pt x="150087" y="457189"/>
                </a:lnTo>
                <a:lnTo>
                  <a:pt x="57150" y="457189"/>
                </a:lnTo>
                <a:lnTo>
                  <a:pt x="0" y="0"/>
                </a:lnTo>
                <a:close/>
              </a:path>
            </a:pathLst>
          </a:custGeom>
          <a:solidFill>
            <a:srgbClr val="545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B96C8D-F672-4992-638E-920C6421DB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566" y="228599"/>
            <a:ext cx="1100561" cy="31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920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64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1" r:id="rId3"/>
  </p:sldLayoutIdLst>
  <p:hf sldNum="0" hdr="0" ftr="0" dt="0"/>
  <p:txStyles>
    <p:titleStyle>
      <a:lvl1pPr algn="ctr" defTabSz="1039098" rtl="0" eaLnBrk="1" latinLnBrk="1" hangingPunct="1">
        <a:spcBef>
          <a:spcPct val="0"/>
        </a:spcBef>
        <a:buNone/>
        <a:defRPr sz="50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9662" indent="-389662" algn="l" defTabSz="1039098" rtl="0" eaLnBrk="1" latinLnBrk="1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44267" indent="-324719" algn="l" defTabSz="1039098" rtl="0" eaLnBrk="1" latinLnBrk="1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98873" indent="-259775" algn="l" defTabSz="1039098" rtl="0" eaLnBrk="1" latinLnBrk="1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1818421" indent="-259775" algn="l" defTabSz="1039098" rtl="0" eaLnBrk="1" latinLnBrk="1" hangingPunct="1">
        <a:spcBef>
          <a:spcPct val="20000"/>
        </a:spcBef>
        <a:buFont typeface="Arial" panose="020B0604020202020204" pitchFamily="34" charset="0"/>
        <a:buChar char="–"/>
        <a:defRPr sz="2267" kern="1200">
          <a:solidFill>
            <a:schemeClr val="tx1"/>
          </a:solidFill>
          <a:latin typeface="+mn-lt"/>
          <a:ea typeface="+mn-ea"/>
          <a:cs typeface="+mn-cs"/>
        </a:defRPr>
      </a:lvl4pPr>
      <a:lvl5pPr marL="2337971" indent="-259775" algn="l" defTabSz="1039098" rtl="0" eaLnBrk="1" latinLnBrk="1" hangingPunct="1">
        <a:spcBef>
          <a:spcPct val="20000"/>
        </a:spcBef>
        <a:buFont typeface="Arial" panose="020B0604020202020204" pitchFamily="34" charset="0"/>
        <a:buChar char="»"/>
        <a:defRPr sz="2267" kern="1200">
          <a:solidFill>
            <a:schemeClr val="tx1"/>
          </a:solidFill>
          <a:latin typeface="+mn-lt"/>
          <a:ea typeface="+mn-ea"/>
          <a:cs typeface="+mn-cs"/>
        </a:defRPr>
      </a:lvl5pPr>
      <a:lvl6pPr marL="2857521" indent="-259775" algn="l" defTabSz="1039098" rtl="0" eaLnBrk="1" latinLnBrk="1" hangingPunct="1">
        <a:spcBef>
          <a:spcPct val="20000"/>
        </a:spcBef>
        <a:buFont typeface="Arial" panose="020B0604020202020204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6pPr>
      <a:lvl7pPr marL="3377069" indent="-259775" algn="l" defTabSz="1039098" rtl="0" eaLnBrk="1" latinLnBrk="1" hangingPunct="1">
        <a:spcBef>
          <a:spcPct val="20000"/>
        </a:spcBef>
        <a:buFont typeface="Arial" panose="020B0604020202020204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7pPr>
      <a:lvl8pPr marL="3896619" indent="-259775" algn="l" defTabSz="1039098" rtl="0" eaLnBrk="1" latinLnBrk="1" hangingPunct="1">
        <a:spcBef>
          <a:spcPct val="20000"/>
        </a:spcBef>
        <a:buFont typeface="Arial" panose="020B0604020202020204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8pPr>
      <a:lvl9pPr marL="4416167" indent="-259775" algn="l" defTabSz="1039098" rtl="0" eaLnBrk="1" latinLnBrk="1" hangingPunct="1">
        <a:spcBef>
          <a:spcPct val="20000"/>
        </a:spcBef>
        <a:buFont typeface="Arial" panose="020B0604020202020204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39098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9550" algn="l" defTabSz="1039098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9098" algn="l" defTabSz="1039098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58648" algn="l" defTabSz="1039098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78196" algn="l" defTabSz="1039098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97746" algn="l" defTabSz="1039098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117294" algn="l" defTabSz="1039098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36844" algn="l" defTabSz="1039098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56392" algn="l" defTabSz="1039098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985036A-C2C7-484E-8454-37DF3421E0EC}"/>
              </a:ext>
            </a:extLst>
          </p:cNvPr>
          <p:cNvCxnSpPr>
            <a:cxnSpLocks/>
          </p:cNvCxnSpPr>
          <p:nvPr/>
        </p:nvCxnSpPr>
        <p:spPr>
          <a:xfrm flipV="1">
            <a:off x="2702614" y="4113565"/>
            <a:ext cx="0" cy="265474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1FD84E25-AA03-4CE2-9236-7A7FA4E6D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218879"/>
              </p:ext>
            </p:extLst>
          </p:nvPr>
        </p:nvGraphicFramePr>
        <p:xfrm>
          <a:off x="2683631" y="2869547"/>
          <a:ext cx="1684581" cy="468354"/>
        </p:xfrm>
        <a:graphic>
          <a:graphicData uri="http://schemas.openxmlformats.org/drawingml/2006/table">
            <a:tbl>
              <a:tblPr/>
              <a:tblGrid>
                <a:gridCol w="561527">
                  <a:extLst>
                    <a:ext uri="{9D8B030D-6E8A-4147-A177-3AD203B41FA5}">
                      <a16:colId xmlns:a16="http://schemas.microsoft.com/office/drawing/2014/main" val="701466049"/>
                    </a:ext>
                  </a:extLst>
                </a:gridCol>
                <a:gridCol w="561527">
                  <a:extLst>
                    <a:ext uri="{9D8B030D-6E8A-4147-A177-3AD203B41FA5}">
                      <a16:colId xmlns:a16="http://schemas.microsoft.com/office/drawing/2014/main" val="1217876018"/>
                    </a:ext>
                  </a:extLst>
                </a:gridCol>
                <a:gridCol w="561527">
                  <a:extLst>
                    <a:ext uri="{9D8B030D-6E8A-4147-A177-3AD203B41FA5}">
                      <a16:colId xmlns:a16="http://schemas.microsoft.com/office/drawing/2014/main" val="3945397979"/>
                    </a:ext>
                  </a:extLst>
                </a:gridCol>
              </a:tblGrid>
              <a:tr h="156118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상황총괄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2780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845317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558831"/>
                  </a:ext>
                </a:extLst>
              </a:tr>
            </a:tbl>
          </a:graphicData>
        </a:graphic>
      </p:graphicFrame>
      <p:graphicFrame>
        <p:nvGraphicFramePr>
          <p:cNvPr id="86" name="표 85">
            <a:extLst>
              <a:ext uri="{FF2B5EF4-FFF2-40B4-BE49-F238E27FC236}">
                <a16:creationId xmlns:a16="http://schemas.microsoft.com/office/drawing/2014/main" id="{B84B13D6-35A7-484C-857A-B11201890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739741"/>
              </p:ext>
            </p:extLst>
          </p:nvPr>
        </p:nvGraphicFramePr>
        <p:xfrm>
          <a:off x="3400933" y="1920762"/>
          <a:ext cx="1506726" cy="468354"/>
        </p:xfrm>
        <a:graphic>
          <a:graphicData uri="http://schemas.openxmlformats.org/drawingml/2006/table">
            <a:tbl>
              <a:tblPr/>
              <a:tblGrid>
                <a:gridCol w="383672">
                  <a:extLst>
                    <a:ext uri="{9D8B030D-6E8A-4147-A177-3AD203B41FA5}">
                      <a16:colId xmlns:a16="http://schemas.microsoft.com/office/drawing/2014/main" val="701466049"/>
                    </a:ext>
                  </a:extLst>
                </a:gridCol>
                <a:gridCol w="561527">
                  <a:extLst>
                    <a:ext uri="{9D8B030D-6E8A-4147-A177-3AD203B41FA5}">
                      <a16:colId xmlns:a16="http://schemas.microsoft.com/office/drawing/2014/main" val="1217876018"/>
                    </a:ext>
                  </a:extLst>
                </a:gridCol>
                <a:gridCol w="561527">
                  <a:extLst>
                    <a:ext uri="{9D8B030D-6E8A-4147-A177-3AD203B41FA5}">
                      <a16:colId xmlns:a16="http://schemas.microsoft.com/office/drawing/2014/main" val="3945397979"/>
                    </a:ext>
                  </a:extLst>
                </a:gridCol>
              </a:tblGrid>
              <a:tr h="156118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</a:t>
                      </a:r>
                      <a:endParaRPr lang="ko-KR" alt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2780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845317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558831"/>
                  </a:ext>
                </a:extLst>
              </a:tr>
            </a:tbl>
          </a:graphicData>
        </a:graphic>
      </p:graphicFrame>
      <p:sp>
        <p:nvSpPr>
          <p:cNvPr id="43" name="Rectangle 2">
            <a:extLst>
              <a:ext uri="{FF2B5EF4-FFF2-40B4-BE49-F238E27FC236}">
                <a16:creationId xmlns:a16="http://schemas.microsoft.com/office/drawing/2014/main" id="{271F9013-87FA-4F67-86F0-41CB6AFC0788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683631" y="218143"/>
            <a:ext cx="413106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defPPr>
              <a:defRPr lang="ko-KR"/>
            </a:defPPr>
            <a:lvl1pPr eaLnBrk="0" latinLnBrk="0" hangingPunct="0">
              <a:defRPr sz="2400" b="1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현장   비상대응 조직도 및 비상연락망</a:t>
            </a:r>
            <a:endParaRPr lang="en-US" altLang="ko-K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7B428BA-3705-47F1-AF11-368920614CF4}"/>
              </a:ext>
            </a:extLst>
          </p:cNvPr>
          <p:cNvCxnSpPr>
            <a:cxnSpLocks/>
          </p:cNvCxnSpPr>
          <p:nvPr/>
        </p:nvCxnSpPr>
        <p:spPr>
          <a:xfrm>
            <a:off x="964103" y="3520469"/>
            <a:ext cx="4908581" cy="13645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7A8E294D-85AE-4305-915C-8486CAF0C784}"/>
              </a:ext>
            </a:extLst>
          </p:cNvPr>
          <p:cNvCxnSpPr>
            <a:cxnSpLocks/>
          </p:cNvCxnSpPr>
          <p:nvPr/>
        </p:nvCxnSpPr>
        <p:spPr>
          <a:xfrm>
            <a:off x="4348568" y="2385336"/>
            <a:ext cx="0" cy="167364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6683453-2859-4253-A44C-B6B885597430}"/>
              </a:ext>
            </a:extLst>
          </p:cNvPr>
          <p:cNvSpPr/>
          <p:nvPr/>
        </p:nvSpPr>
        <p:spPr>
          <a:xfrm>
            <a:off x="1647476" y="1052857"/>
            <a:ext cx="3438303" cy="1646893"/>
          </a:xfrm>
          <a:prstGeom prst="roundRect">
            <a:avLst>
              <a:gd name="adj" fmla="val 9941"/>
            </a:avLst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07D6B9E-3DFD-4319-85EC-5FEFAB4CB6A4}"/>
              </a:ext>
            </a:extLst>
          </p:cNvPr>
          <p:cNvSpPr txBox="1"/>
          <p:nvPr/>
        </p:nvSpPr>
        <p:spPr>
          <a:xfrm>
            <a:off x="2930229" y="827984"/>
            <a:ext cx="118140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 font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부현전기 본사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054C45-783F-4AFE-8D8F-95CFBC6B1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066" y="1920762"/>
            <a:ext cx="320332" cy="442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635ACB6-BA7C-46E4-9875-2AE7FA8F3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393" y="1164413"/>
            <a:ext cx="376003" cy="440991"/>
          </a:xfrm>
          <a:prstGeom prst="rect">
            <a:avLst/>
          </a:prstGeom>
        </p:spPr>
      </p:pic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BB0B20B5-853E-46A3-8DBC-B1DAA9A3D0A3}"/>
              </a:ext>
            </a:extLst>
          </p:cNvPr>
          <p:cNvCxnSpPr>
            <a:cxnSpLocks/>
          </p:cNvCxnSpPr>
          <p:nvPr/>
        </p:nvCxnSpPr>
        <p:spPr>
          <a:xfrm>
            <a:off x="2685853" y="2552700"/>
            <a:ext cx="1648137" cy="0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0C51AF2-4E9D-4D44-A868-5BA49387211D}"/>
              </a:ext>
            </a:extLst>
          </p:cNvPr>
          <p:cNvGrpSpPr/>
          <p:nvPr/>
        </p:nvGrpSpPr>
        <p:grpSpPr>
          <a:xfrm>
            <a:off x="1738605" y="3770337"/>
            <a:ext cx="1564985" cy="344932"/>
            <a:chOff x="3491091" y="3208812"/>
            <a:chExt cx="1244360" cy="344932"/>
          </a:xfrm>
        </p:grpSpPr>
        <p:sp>
          <p:nvSpPr>
            <p:cNvPr id="106" name="사각형: 둥근 모서리 105">
              <a:extLst>
                <a:ext uri="{FF2B5EF4-FFF2-40B4-BE49-F238E27FC236}">
                  <a16:creationId xmlns:a16="http://schemas.microsoft.com/office/drawing/2014/main" id="{4D6BA81C-9EBA-4A0D-927A-06CDB0BA444C}"/>
                </a:ext>
              </a:extLst>
            </p:cNvPr>
            <p:cNvSpPr/>
            <p:nvPr/>
          </p:nvSpPr>
          <p:spPr>
            <a:xfrm>
              <a:off x="3491091" y="3208812"/>
              <a:ext cx="1244360" cy="344932"/>
            </a:xfrm>
            <a:prstGeom prst="round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3836C1-D37C-46F6-99B0-96AB4829D9AB}"/>
                </a:ext>
              </a:extLst>
            </p:cNvPr>
            <p:cNvSpPr/>
            <p:nvPr/>
          </p:nvSpPr>
          <p:spPr>
            <a:xfrm>
              <a:off x="3828720" y="3219696"/>
              <a:ext cx="532721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5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복구반</a:t>
              </a:r>
              <a:endParaRPr lang="ko-KR" altLang="en-US" sz="1500" dirty="0"/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66252089-0939-4F7D-B1F3-6DDB5B3852D5}"/>
              </a:ext>
            </a:extLst>
          </p:cNvPr>
          <p:cNvGrpSpPr/>
          <p:nvPr/>
        </p:nvGrpSpPr>
        <p:grpSpPr>
          <a:xfrm>
            <a:off x="82491" y="3763673"/>
            <a:ext cx="1564985" cy="344932"/>
            <a:chOff x="3491091" y="3208812"/>
            <a:chExt cx="1244360" cy="344932"/>
          </a:xfrm>
        </p:grpSpPr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08933441-0F99-40B5-A816-693F72ABDE6A}"/>
                </a:ext>
              </a:extLst>
            </p:cNvPr>
            <p:cNvSpPr/>
            <p:nvPr/>
          </p:nvSpPr>
          <p:spPr>
            <a:xfrm>
              <a:off x="3491091" y="3208812"/>
              <a:ext cx="1244360" cy="344932"/>
            </a:xfrm>
            <a:prstGeom prst="round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1255D18B-35B9-495A-8CBA-F9218D6E1A9F}"/>
                </a:ext>
              </a:extLst>
            </p:cNvPr>
            <p:cNvSpPr/>
            <p:nvPr/>
          </p:nvSpPr>
          <p:spPr>
            <a:xfrm>
              <a:off x="3828718" y="3219696"/>
              <a:ext cx="532721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5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상황반</a:t>
              </a:r>
              <a:endParaRPr lang="ko-KR" altLang="en-US" sz="1500" dirty="0"/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82AA7B98-2002-45F3-B73A-2CD525BEF9EC}"/>
              </a:ext>
            </a:extLst>
          </p:cNvPr>
          <p:cNvGrpSpPr/>
          <p:nvPr/>
        </p:nvGrpSpPr>
        <p:grpSpPr>
          <a:xfrm>
            <a:off x="3404061" y="3768633"/>
            <a:ext cx="1564985" cy="344932"/>
            <a:chOff x="3491091" y="3208812"/>
            <a:chExt cx="1244360" cy="344932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FDD806C4-525C-4117-947F-D45FE2B795F1}"/>
                </a:ext>
              </a:extLst>
            </p:cNvPr>
            <p:cNvSpPr/>
            <p:nvPr/>
          </p:nvSpPr>
          <p:spPr>
            <a:xfrm>
              <a:off x="3491091" y="3208812"/>
              <a:ext cx="1244360" cy="344932"/>
            </a:xfrm>
            <a:prstGeom prst="round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E746A9CB-859C-462A-A7DF-7412D6A546B6}"/>
                </a:ext>
              </a:extLst>
            </p:cNvPr>
            <p:cNvSpPr/>
            <p:nvPr/>
          </p:nvSpPr>
          <p:spPr>
            <a:xfrm>
              <a:off x="3803909" y="3219696"/>
              <a:ext cx="654865" cy="3231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5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  <a:r>
                <a:rPr lang="ko-KR" altLang="en-US" sz="15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유도반</a:t>
              </a:r>
              <a:endParaRPr lang="ko-KR" altLang="en-US" sz="1500" dirty="0"/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0532FBC0-A6E2-4783-906D-99E44E0F8A36}"/>
              </a:ext>
            </a:extLst>
          </p:cNvPr>
          <p:cNvGrpSpPr/>
          <p:nvPr/>
        </p:nvGrpSpPr>
        <p:grpSpPr>
          <a:xfrm>
            <a:off x="5064951" y="3770337"/>
            <a:ext cx="1564985" cy="344932"/>
            <a:chOff x="3491091" y="3208812"/>
            <a:chExt cx="1244360" cy="344932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59E02F83-A42D-41C2-AA69-B2D57FBA6DB8}"/>
                </a:ext>
              </a:extLst>
            </p:cNvPr>
            <p:cNvSpPr/>
            <p:nvPr/>
          </p:nvSpPr>
          <p:spPr>
            <a:xfrm>
              <a:off x="3491091" y="3208812"/>
              <a:ext cx="1244360" cy="344932"/>
            </a:xfrm>
            <a:prstGeom prst="round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C179ADE5-2BA4-4EF0-B895-9F769508B53A}"/>
                </a:ext>
              </a:extLst>
            </p:cNvPr>
            <p:cNvSpPr/>
            <p:nvPr/>
          </p:nvSpPr>
          <p:spPr>
            <a:xfrm>
              <a:off x="3828721" y="3219696"/>
              <a:ext cx="532721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5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의료반</a:t>
              </a:r>
              <a:endParaRPr lang="ko-KR" altLang="en-US" sz="1500" dirty="0"/>
            </a:p>
          </p:txBody>
        </p:sp>
      </p:grp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2430F46-3FED-4B10-8193-FFC8C2BB3908}"/>
              </a:ext>
            </a:extLst>
          </p:cNvPr>
          <p:cNvCxnSpPr>
            <a:cxnSpLocks/>
          </p:cNvCxnSpPr>
          <p:nvPr/>
        </p:nvCxnSpPr>
        <p:spPr>
          <a:xfrm flipV="1">
            <a:off x="964103" y="4097722"/>
            <a:ext cx="0" cy="290128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AD5BE1F8-F3C9-4330-8741-1FCE061BBC83}"/>
              </a:ext>
            </a:extLst>
          </p:cNvPr>
          <p:cNvCxnSpPr>
            <a:cxnSpLocks/>
          </p:cNvCxnSpPr>
          <p:nvPr/>
        </p:nvCxnSpPr>
        <p:spPr>
          <a:xfrm flipV="1">
            <a:off x="4228444" y="4104386"/>
            <a:ext cx="0" cy="265474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A29295CD-7821-406F-96BC-9AB28B8A076F}"/>
              </a:ext>
            </a:extLst>
          </p:cNvPr>
          <p:cNvCxnSpPr>
            <a:cxnSpLocks/>
          </p:cNvCxnSpPr>
          <p:nvPr/>
        </p:nvCxnSpPr>
        <p:spPr>
          <a:xfrm flipV="1">
            <a:off x="5872684" y="4113565"/>
            <a:ext cx="0" cy="265474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EEA9CB2A-F176-4479-9A9D-BB0FE2AD0623}"/>
              </a:ext>
            </a:extLst>
          </p:cNvPr>
          <p:cNvSpPr/>
          <p:nvPr/>
        </p:nvSpPr>
        <p:spPr>
          <a:xfrm>
            <a:off x="6895796" y="759960"/>
            <a:ext cx="2809724" cy="33775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rgbClr val="AEAE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latin typeface="SamsungOneKorean 500" panose="020B0603030303020204" pitchFamily="50" charset="-127"/>
                <a:ea typeface="SamsungOneKorean 500" panose="020B0603030303020204" pitchFamily="50" charset="-127"/>
              </a:rPr>
              <a:t>인적사고</a:t>
            </a:r>
            <a:r>
              <a:rPr lang="ko-KR" altLang="en-US" sz="1400" dirty="0">
                <a:latin typeface="SamsungOneKorean 500" panose="020B0603030303020204" pitchFamily="50" charset="-127"/>
                <a:ea typeface="SamsungOneKorean 500" panose="020B0603030303020204" pitchFamily="50" charset="-127"/>
              </a:rPr>
              <a:t> 발생 시 비상연락망</a:t>
            </a:r>
          </a:p>
        </p:txBody>
      </p: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D2DCDFCB-1AF5-4B64-9CF7-71D91B3632CB}"/>
              </a:ext>
            </a:extLst>
          </p:cNvPr>
          <p:cNvCxnSpPr>
            <a:cxnSpLocks/>
          </p:cNvCxnSpPr>
          <p:nvPr/>
        </p:nvCxnSpPr>
        <p:spPr>
          <a:xfrm flipV="1">
            <a:off x="964103" y="3517900"/>
            <a:ext cx="0" cy="241301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896ADD81-0DE6-4BDE-B791-E20860A2AF96}"/>
              </a:ext>
            </a:extLst>
          </p:cNvPr>
          <p:cNvCxnSpPr>
            <a:cxnSpLocks/>
          </p:cNvCxnSpPr>
          <p:nvPr/>
        </p:nvCxnSpPr>
        <p:spPr>
          <a:xfrm flipV="1">
            <a:off x="2704790" y="3527291"/>
            <a:ext cx="0" cy="243046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3B167693-9A33-4887-BAA6-3A894D5C6976}"/>
              </a:ext>
            </a:extLst>
          </p:cNvPr>
          <p:cNvCxnSpPr>
            <a:cxnSpLocks/>
          </p:cNvCxnSpPr>
          <p:nvPr/>
        </p:nvCxnSpPr>
        <p:spPr>
          <a:xfrm flipV="1">
            <a:off x="4228444" y="3517900"/>
            <a:ext cx="0" cy="245774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D13AE77D-D9C2-41D6-A6D7-334B02023E81}"/>
              </a:ext>
            </a:extLst>
          </p:cNvPr>
          <p:cNvCxnSpPr>
            <a:cxnSpLocks/>
          </p:cNvCxnSpPr>
          <p:nvPr/>
        </p:nvCxnSpPr>
        <p:spPr>
          <a:xfrm flipV="1">
            <a:off x="5872684" y="3534114"/>
            <a:ext cx="0" cy="225087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1" name="표 160">
            <a:extLst>
              <a:ext uri="{FF2B5EF4-FFF2-40B4-BE49-F238E27FC236}">
                <a16:creationId xmlns:a16="http://schemas.microsoft.com/office/drawing/2014/main" id="{85F9718A-5AB5-41A7-A393-DFDE0C003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094891"/>
              </p:ext>
            </p:extLst>
          </p:nvPr>
        </p:nvGraphicFramePr>
        <p:xfrm>
          <a:off x="1804503" y="1916982"/>
          <a:ext cx="1506726" cy="468354"/>
        </p:xfrm>
        <a:graphic>
          <a:graphicData uri="http://schemas.openxmlformats.org/drawingml/2006/table">
            <a:tbl>
              <a:tblPr/>
              <a:tblGrid>
                <a:gridCol w="383672">
                  <a:extLst>
                    <a:ext uri="{9D8B030D-6E8A-4147-A177-3AD203B41FA5}">
                      <a16:colId xmlns:a16="http://schemas.microsoft.com/office/drawing/2014/main" val="701466049"/>
                    </a:ext>
                  </a:extLst>
                </a:gridCol>
                <a:gridCol w="561527">
                  <a:extLst>
                    <a:ext uri="{9D8B030D-6E8A-4147-A177-3AD203B41FA5}">
                      <a16:colId xmlns:a16="http://schemas.microsoft.com/office/drawing/2014/main" val="1217876018"/>
                    </a:ext>
                  </a:extLst>
                </a:gridCol>
                <a:gridCol w="561527">
                  <a:extLst>
                    <a:ext uri="{9D8B030D-6E8A-4147-A177-3AD203B41FA5}">
                      <a16:colId xmlns:a16="http://schemas.microsoft.com/office/drawing/2014/main" val="3945397979"/>
                    </a:ext>
                  </a:extLst>
                </a:gridCol>
              </a:tblGrid>
              <a:tr h="156118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본사 품질</a:t>
                      </a:r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안전점검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2780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조동문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845317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010-3117-1418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558831"/>
                  </a:ext>
                </a:extLst>
              </a:tr>
            </a:tbl>
          </a:graphicData>
        </a:graphic>
      </p:graphicFrame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040D1C23-95BB-41D2-9EC7-C0EBA57729D1}"/>
              </a:ext>
            </a:extLst>
          </p:cNvPr>
          <p:cNvCxnSpPr>
            <a:cxnSpLocks/>
          </p:cNvCxnSpPr>
          <p:nvPr/>
        </p:nvCxnSpPr>
        <p:spPr>
          <a:xfrm>
            <a:off x="2685853" y="2385336"/>
            <a:ext cx="0" cy="167364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3" name="표 162">
            <a:extLst>
              <a:ext uri="{FF2B5EF4-FFF2-40B4-BE49-F238E27FC236}">
                <a16:creationId xmlns:a16="http://schemas.microsoft.com/office/drawing/2014/main" id="{BEC3BE81-E027-4BAE-85B5-73C9F7CED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416610"/>
              </p:ext>
            </p:extLst>
          </p:nvPr>
        </p:nvGraphicFramePr>
        <p:xfrm>
          <a:off x="2787392" y="1174272"/>
          <a:ext cx="1506726" cy="468354"/>
        </p:xfrm>
        <a:graphic>
          <a:graphicData uri="http://schemas.openxmlformats.org/drawingml/2006/table">
            <a:tbl>
              <a:tblPr/>
              <a:tblGrid>
                <a:gridCol w="383672">
                  <a:extLst>
                    <a:ext uri="{9D8B030D-6E8A-4147-A177-3AD203B41FA5}">
                      <a16:colId xmlns:a16="http://schemas.microsoft.com/office/drawing/2014/main" val="701466049"/>
                    </a:ext>
                  </a:extLst>
                </a:gridCol>
                <a:gridCol w="561527">
                  <a:extLst>
                    <a:ext uri="{9D8B030D-6E8A-4147-A177-3AD203B41FA5}">
                      <a16:colId xmlns:a16="http://schemas.microsoft.com/office/drawing/2014/main" val="1217876018"/>
                    </a:ext>
                  </a:extLst>
                </a:gridCol>
                <a:gridCol w="561527">
                  <a:extLst>
                    <a:ext uri="{9D8B030D-6E8A-4147-A177-3AD203B41FA5}">
                      <a16:colId xmlns:a16="http://schemas.microsoft.com/office/drawing/2014/main" val="3945397979"/>
                    </a:ext>
                  </a:extLst>
                </a:gridCol>
              </a:tblGrid>
              <a:tr h="156118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대표이사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2780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대표이사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김홍수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845317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010-8908-8804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558831"/>
                  </a:ext>
                </a:extLst>
              </a:tr>
            </a:tbl>
          </a:graphicData>
        </a:graphic>
      </p:graphicFrame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02BC7746-8E71-49BB-9AD2-2101CE669587}"/>
              </a:ext>
            </a:extLst>
          </p:cNvPr>
          <p:cNvCxnSpPr>
            <a:cxnSpLocks/>
          </p:cNvCxnSpPr>
          <p:nvPr/>
        </p:nvCxnSpPr>
        <p:spPr>
          <a:xfrm>
            <a:off x="2683631" y="1796697"/>
            <a:ext cx="0" cy="130303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B2F224B4-4C3E-442D-95BD-AAAF25D65D96}"/>
              </a:ext>
            </a:extLst>
          </p:cNvPr>
          <p:cNvCxnSpPr>
            <a:cxnSpLocks/>
          </p:cNvCxnSpPr>
          <p:nvPr/>
        </p:nvCxnSpPr>
        <p:spPr>
          <a:xfrm>
            <a:off x="2693298" y="1796696"/>
            <a:ext cx="1655271" cy="0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B17BF811-413B-4241-8E10-4653F778C754}"/>
              </a:ext>
            </a:extLst>
          </p:cNvPr>
          <p:cNvCxnSpPr>
            <a:cxnSpLocks/>
          </p:cNvCxnSpPr>
          <p:nvPr/>
        </p:nvCxnSpPr>
        <p:spPr>
          <a:xfrm>
            <a:off x="4353972" y="1796697"/>
            <a:ext cx="0" cy="130303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7AE93131-BAC7-4F06-878E-B44122BCA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403591"/>
              </p:ext>
            </p:extLst>
          </p:nvPr>
        </p:nvGraphicFramePr>
        <p:xfrm>
          <a:off x="6895796" y="1127760"/>
          <a:ext cx="2809724" cy="5053524"/>
        </p:xfrm>
        <a:graphic>
          <a:graphicData uri="http://schemas.openxmlformats.org/drawingml/2006/table">
            <a:tbl>
              <a:tblPr firstRow="1" firstCol="1" bandRow="1"/>
              <a:tblGrid>
                <a:gridCol w="550573">
                  <a:extLst>
                    <a:ext uri="{9D8B030D-6E8A-4147-A177-3AD203B41FA5}">
                      <a16:colId xmlns:a16="http://schemas.microsoft.com/office/drawing/2014/main" val="1129289034"/>
                    </a:ext>
                  </a:extLst>
                </a:gridCol>
                <a:gridCol w="2259151">
                  <a:extLst>
                    <a:ext uri="{9D8B030D-6E8A-4147-A177-3AD203B41FA5}">
                      <a16:colId xmlns:a16="http://schemas.microsoft.com/office/drawing/2014/main" val="3376203732"/>
                    </a:ext>
                  </a:extLst>
                </a:gridCol>
              </a:tblGrid>
              <a:tr h="580111">
                <a:tc>
                  <a:txBody>
                    <a:bodyPr/>
                    <a:lstStyle/>
                    <a:p>
                      <a:pPr algn="ctr" fontAlgn="b" latinLnBrk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ko-KR" sz="900" kern="100" spc="90" dirty="0">
                          <a:solidFill>
                            <a:srgbClr val="000000"/>
                          </a:solidFill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구 분</a:t>
                      </a:r>
                      <a:endParaRPr lang="ko-KR" sz="900" kern="100" dirty="0">
                        <a:effectLst/>
                        <a:latin typeface="바탕체" panose="02030609000101010101" pitchFamily="17" charset="-127"/>
                        <a:ea typeface="바탕체" panose="02030609000101010101" pitchFamily="17" charset="-127"/>
                        <a:cs typeface="바탕" panose="02030600000101010101" pitchFamily="18" charset="-127"/>
                      </a:endParaRPr>
                    </a:p>
                  </a:txBody>
                  <a:tcPr marL="41625" marR="416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 latinLnBrk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900" kern="100" spc="-30" dirty="0">
                          <a:solidFill>
                            <a:srgbClr val="000000"/>
                          </a:solidFill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기관명</a:t>
                      </a:r>
                      <a:r>
                        <a:rPr lang="en-US" altLang="ko-KR" sz="900" kern="100" spc="-30" dirty="0">
                          <a:solidFill>
                            <a:srgbClr val="000000"/>
                          </a:solidFill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 / </a:t>
                      </a:r>
                      <a:r>
                        <a:rPr lang="ko-KR" altLang="en-US" sz="900" kern="100" spc="-30" dirty="0">
                          <a:solidFill>
                            <a:srgbClr val="000000"/>
                          </a:solidFill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전화번호</a:t>
                      </a:r>
                      <a:endParaRPr lang="ko-KR" sz="900" kern="100" dirty="0">
                        <a:effectLst/>
                        <a:latin typeface="바탕체" panose="02030609000101010101" pitchFamily="17" charset="-127"/>
                        <a:ea typeface="바탕체" panose="02030609000101010101" pitchFamily="17" charset="-127"/>
                        <a:cs typeface="바탕" panose="02030600000101010101" pitchFamily="18" charset="-127"/>
                      </a:endParaRPr>
                    </a:p>
                  </a:txBody>
                  <a:tcPr marL="41625" marR="416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993160"/>
                  </a:ext>
                </a:extLst>
              </a:tr>
              <a:tr h="675712">
                <a:tc>
                  <a:txBody>
                    <a:bodyPr/>
                    <a:lstStyle/>
                    <a:p>
                      <a:pPr algn="ctr" fontAlgn="b" latinLnBrk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ko-KR" sz="900" kern="100" spc="90" dirty="0">
                          <a:solidFill>
                            <a:srgbClr val="000000"/>
                          </a:solidFill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고용노동부</a:t>
                      </a:r>
                      <a:endParaRPr lang="ko-KR" sz="900" kern="100" dirty="0">
                        <a:effectLst/>
                        <a:latin typeface="바탕체" panose="02030609000101010101" pitchFamily="17" charset="-127"/>
                        <a:ea typeface="바탕체" panose="02030609000101010101" pitchFamily="17" charset="-127"/>
                        <a:cs typeface="바탕" panose="02030600000101010101" pitchFamily="18" charset="-127"/>
                      </a:endParaRPr>
                    </a:p>
                  </a:txBody>
                  <a:tcPr marL="41625" marR="416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9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현장 개설 시 관할 부서 검색 후 기입 요망</a:t>
                      </a:r>
                      <a:endParaRPr lang="ko-KR" sz="900" kern="1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바탕체" panose="02030609000101010101" pitchFamily="17" charset="-127"/>
                        <a:ea typeface="바탕체" panose="02030609000101010101" pitchFamily="17" charset="-127"/>
                        <a:cs typeface="바탕" panose="02030600000101010101" pitchFamily="18" charset="-127"/>
                      </a:endParaRPr>
                    </a:p>
                  </a:txBody>
                  <a:tcPr marL="41625" marR="416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933632"/>
                  </a:ext>
                </a:extLst>
              </a:tr>
              <a:tr h="1236130">
                <a:tc>
                  <a:txBody>
                    <a:bodyPr/>
                    <a:lstStyle/>
                    <a:p>
                      <a:pPr algn="ctr" fontAlgn="b" latinLnBrk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ko-KR" sz="900" kern="100" spc="90" dirty="0">
                          <a:solidFill>
                            <a:srgbClr val="000000"/>
                          </a:solidFill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경찰서</a:t>
                      </a:r>
                      <a:endParaRPr lang="ko-KR" sz="900" kern="100" dirty="0">
                        <a:effectLst/>
                        <a:latin typeface="바탕체" panose="02030609000101010101" pitchFamily="17" charset="-127"/>
                        <a:ea typeface="바탕체" panose="02030609000101010101" pitchFamily="17" charset="-127"/>
                        <a:cs typeface="바탕" panose="02030600000101010101" pitchFamily="18" charset="-127"/>
                      </a:endParaRPr>
                    </a:p>
                  </a:txBody>
                  <a:tcPr marL="41625" marR="416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9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현장 개설 시 관할 부서 검색 후 기입 요망</a:t>
                      </a:r>
                      <a:endParaRPr lang="ko-KR" sz="900" kern="1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바탕체" panose="02030609000101010101" pitchFamily="17" charset="-127"/>
                        <a:ea typeface="바탕체" panose="02030609000101010101" pitchFamily="17" charset="-127"/>
                        <a:cs typeface="바탕" panose="02030600000101010101" pitchFamily="18" charset="-127"/>
                      </a:endParaRPr>
                    </a:p>
                  </a:txBody>
                  <a:tcPr marL="41625" marR="416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938884"/>
                  </a:ext>
                </a:extLst>
              </a:tr>
              <a:tr h="669050">
                <a:tc>
                  <a:txBody>
                    <a:bodyPr/>
                    <a:lstStyle/>
                    <a:p>
                      <a:pPr algn="ctr" fontAlgn="b" latinLnBrk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ko-KR" sz="900" kern="100" spc="90" dirty="0">
                          <a:solidFill>
                            <a:srgbClr val="000000"/>
                          </a:solidFill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의료기관</a:t>
                      </a:r>
                      <a:endParaRPr lang="ko-KR" sz="900" kern="100" dirty="0">
                        <a:effectLst/>
                        <a:latin typeface="바탕체" panose="02030609000101010101" pitchFamily="17" charset="-127"/>
                        <a:ea typeface="바탕체" panose="02030609000101010101" pitchFamily="17" charset="-127"/>
                        <a:cs typeface="바탕" panose="02030600000101010101" pitchFamily="18" charset="-127"/>
                      </a:endParaRPr>
                    </a:p>
                  </a:txBody>
                  <a:tcPr marL="41625" marR="416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 latinLnBrk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9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현장 개설 시 관할 부서 검색 후 기입 요망</a:t>
                      </a:r>
                      <a:endParaRPr lang="en-US" altLang="ko-KR" sz="9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algn="ctr" fontAlgn="b" latinLnBrk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900" kern="100" dirty="0"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현장으로부터 </a:t>
                      </a:r>
                      <a:r>
                        <a:rPr lang="en-US" altLang="ko-KR" sz="900" kern="100" dirty="0"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00m ,</a:t>
                      </a:r>
                      <a:r>
                        <a:rPr lang="ko-KR" altLang="en-US" sz="900" kern="100" dirty="0"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차량이동 </a:t>
                      </a:r>
                      <a:r>
                        <a:rPr lang="en-US" altLang="ko-KR" sz="900" kern="100" dirty="0"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10</a:t>
                      </a:r>
                      <a:r>
                        <a:rPr lang="ko-KR" altLang="en-US" sz="900" kern="100" dirty="0" err="1"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분거리</a:t>
                      </a:r>
                      <a:r>
                        <a:rPr lang="en-US" altLang="ko-KR" sz="900" kern="100" dirty="0"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,</a:t>
                      </a:r>
                    </a:p>
                    <a:p>
                      <a:pPr algn="ctr" fontAlgn="b" latinLnBrk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900" kern="100" dirty="0"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퇴근시간일 경우 </a:t>
                      </a:r>
                      <a:r>
                        <a:rPr lang="en-US" altLang="ko-KR" sz="900" kern="100" dirty="0"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119</a:t>
                      </a:r>
                      <a:r>
                        <a:rPr lang="ko-KR" altLang="en-US" sz="900" kern="100" dirty="0"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오토바이대원 호출</a:t>
                      </a:r>
                      <a:endParaRPr lang="en-US" altLang="ko-KR" sz="900" kern="100" dirty="0">
                        <a:effectLst/>
                        <a:latin typeface="바탕체" panose="02030609000101010101" pitchFamily="17" charset="-127"/>
                        <a:ea typeface="바탕체" panose="02030609000101010101" pitchFamily="17" charset="-127"/>
                        <a:cs typeface="바탕" panose="02030600000101010101" pitchFamily="18" charset="-127"/>
                      </a:endParaRPr>
                    </a:p>
                    <a:p>
                      <a:pPr algn="ctr" fontAlgn="b" latinLnBrk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900" kern="100" dirty="0"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응급실입구 </a:t>
                      </a:r>
                      <a:r>
                        <a:rPr lang="en-US" altLang="ko-KR" sz="900" kern="100" dirty="0"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: </a:t>
                      </a:r>
                      <a:r>
                        <a:rPr lang="ko-KR" altLang="en-US" sz="900" kern="100" dirty="0"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병원 후문</a:t>
                      </a:r>
                      <a:endParaRPr lang="ko-KR" sz="900" kern="100" dirty="0">
                        <a:effectLst/>
                        <a:latin typeface="바탕체" panose="02030609000101010101" pitchFamily="17" charset="-127"/>
                        <a:ea typeface="바탕체" panose="02030609000101010101" pitchFamily="17" charset="-127"/>
                        <a:cs typeface="바탕" panose="02030600000101010101" pitchFamily="18" charset="-127"/>
                      </a:endParaRPr>
                    </a:p>
                  </a:txBody>
                  <a:tcPr marL="41625" marR="416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5167769"/>
                  </a:ext>
                </a:extLst>
              </a:tr>
              <a:tr h="1080934">
                <a:tc>
                  <a:txBody>
                    <a:bodyPr/>
                    <a:lstStyle/>
                    <a:p>
                      <a:pPr algn="ctr" fontAlgn="b" latinLnBrk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900" kern="100" dirty="0"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참고 사항</a:t>
                      </a:r>
                      <a:endParaRPr lang="ko-KR" sz="900" kern="100" dirty="0">
                        <a:effectLst/>
                        <a:latin typeface="바탕체" panose="02030609000101010101" pitchFamily="17" charset="-127"/>
                        <a:ea typeface="바탕체" panose="02030609000101010101" pitchFamily="17" charset="-127"/>
                        <a:cs typeface="바탕" panose="02030600000101010101" pitchFamily="18" charset="-127"/>
                      </a:endParaRPr>
                    </a:p>
                  </a:txBody>
                  <a:tcPr marL="41625" marR="416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175051"/>
                  </a:ext>
                </a:extLst>
              </a:tr>
              <a:tr h="811587">
                <a:tc>
                  <a:txBody>
                    <a:bodyPr/>
                    <a:lstStyle/>
                    <a:p>
                      <a:pPr algn="ctr" fontAlgn="b" latinLnBrk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900" kern="100" spc="90" dirty="0">
                          <a:solidFill>
                            <a:srgbClr val="000000"/>
                          </a:solidFill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안전보건실</a:t>
                      </a:r>
                      <a:endParaRPr lang="ko-KR" sz="900" kern="100" dirty="0">
                        <a:effectLst/>
                        <a:latin typeface="바탕체" panose="02030609000101010101" pitchFamily="17" charset="-127"/>
                        <a:ea typeface="바탕체" panose="02030609000101010101" pitchFamily="17" charset="-127"/>
                        <a:cs typeface="바탕" panose="02030600000101010101" pitchFamily="18" charset="-127"/>
                      </a:endParaRPr>
                    </a:p>
                  </a:txBody>
                  <a:tcPr marL="41625" marR="416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900" kern="100" spc="-100" dirty="0" err="1">
                          <a:solidFill>
                            <a:srgbClr val="000000"/>
                          </a:solidFill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정상익과장</a:t>
                      </a:r>
                      <a:r>
                        <a:rPr lang="en-US" sz="900" kern="100" spc="-100" dirty="0">
                          <a:solidFill>
                            <a:srgbClr val="000000"/>
                          </a:solidFill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: 010-6216-5201, </a:t>
                      </a:r>
                      <a:r>
                        <a:rPr lang="ko-KR" altLang="en-US" sz="900" kern="100" spc="-100" dirty="0" err="1">
                          <a:solidFill>
                            <a:srgbClr val="000000"/>
                          </a:solidFill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엄재복대리</a:t>
                      </a:r>
                      <a:r>
                        <a:rPr lang="en-US" altLang="ko-KR" sz="900" kern="100" spc="-100" dirty="0">
                          <a:solidFill>
                            <a:srgbClr val="000000"/>
                          </a:solidFill>
                          <a:effectLst/>
                          <a:latin typeface="바탕체" panose="02030609000101010101" pitchFamily="17" charset="-127"/>
                          <a:ea typeface="바탕체" panose="02030609000101010101" pitchFamily="17" charset="-127"/>
                          <a:cs typeface="바탕" panose="02030600000101010101" pitchFamily="18" charset="-127"/>
                        </a:rPr>
                        <a:t>: 010-3501-4067</a:t>
                      </a:r>
                      <a:endParaRPr lang="ko-KR" sz="900" kern="100" dirty="0">
                        <a:effectLst/>
                        <a:latin typeface="바탕체" panose="02030609000101010101" pitchFamily="17" charset="-127"/>
                        <a:ea typeface="바탕체" panose="02030609000101010101" pitchFamily="17" charset="-127"/>
                        <a:cs typeface="바탕" panose="02030600000101010101" pitchFamily="18" charset="-127"/>
                      </a:endParaRPr>
                    </a:p>
                  </a:txBody>
                  <a:tcPr marL="41625" marR="416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505378"/>
                  </a:ext>
                </a:extLst>
              </a:tr>
            </a:tbl>
          </a:graphicData>
        </a:graphic>
      </p:graphicFrame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FBB05CF5-5B0F-4CE1-98E3-D2A813EC0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815418"/>
              </p:ext>
            </p:extLst>
          </p:nvPr>
        </p:nvGraphicFramePr>
        <p:xfrm>
          <a:off x="5139827" y="4394349"/>
          <a:ext cx="1481649" cy="468354"/>
        </p:xfrm>
        <a:graphic>
          <a:graphicData uri="http://schemas.openxmlformats.org/drawingml/2006/table">
            <a:tbl>
              <a:tblPr/>
              <a:tblGrid>
                <a:gridCol w="493883">
                  <a:extLst>
                    <a:ext uri="{9D8B030D-6E8A-4147-A177-3AD203B41FA5}">
                      <a16:colId xmlns:a16="http://schemas.microsoft.com/office/drawing/2014/main" val="701466049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1217876018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3945397979"/>
                    </a:ext>
                  </a:extLst>
                </a:gridCol>
              </a:tblGrid>
              <a:tr h="156118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의료반</a:t>
                      </a:r>
                      <a:endParaRPr lang="ko-KR" alt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2780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845317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558831"/>
                  </a:ext>
                </a:extLst>
              </a:tr>
            </a:tbl>
          </a:graphicData>
        </a:graphic>
      </p:graphicFrame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0A574A29-D99B-4A7B-A356-930249915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120687"/>
              </p:ext>
            </p:extLst>
          </p:nvPr>
        </p:nvGraphicFramePr>
        <p:xfrm>
          <a:off x="111532" y="5014523"/>
          <a:ext cx="1481649" cy="468354"/>
        </p:xfrm>
        <a:graphic>
          <a:graphicData uri="http://schemas.openxmlformats.org/drawingml/2006/table">
            <a:tbl>
              <a:tblPr/>
              <a:tblGrid>
                <a:gridCol w="493883">
                  <a:extLst>
                    <a:ext uri="{9D8B030D-6E8A-4147-A177-3AD203B41FA5}">
                      <a16:colId xmlns:a16="http://schemas.microsoft.com/office/drawing/2014/main" val="701466049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1217876018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3945397979"/>
                    </a:ext>
                  </a:extLst>
                </a:gridCol>
              </a:tblGrid>
              <a:tr h="156118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상황반</a:t>
                      </a:r>
                      <a:endParaRPr lang="ko-KR" alt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2780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845317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558831"/>
                  </a:ext>
                </a:extLst>
              </a:tr>
            </a:tbl>
          </a:graphicData>
        </a:graphic>
      </p:graphicFrame>
      <p:graphicFrame>
        <p:nvGraphicFramePr>
          <p:cNvPr id="91" name="표 90">
            <a:extLst>
              <a:ext uri="{FF2B5EF4-FFF2-40B4-BE49-F238E27FC236}">
                <a16:creationId xmlns:a16="http://schemas.microsoft.com/office/drawing/2014/main" id="{6FAA2212-2068-485E-B622-917B46E75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41728"/>
              </p:ext>
            </p:extLst>
          </p:nvPr>
        </p:nvGraphicFramePr>
        <p:xfrm>
          <a:off x="111532" y="5666598"/>
          <a:ext cx="1481649" cy="468354"/>
        </p:xfrm>
        <a:graphic>
          <a:graphicData uri="http://schemas.openxmlformats.org/drawingml/2006/table">
            <a:tbl>
              <a:tblPr/>
              <a:tblGrid>
                <a:gridCol w="493883">
                  <a:extLst>
                    <a:ext uri="{9D8B030D-6E8A-4147-A177-3AD203B41FA5}">
                      <a16:colId xmlns:a16="http://schemas.microsoft.com/office/drawing/2014/main" val="701466049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1217876018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3945397979"/>
                    </a:ext>
                  </a:extLst>
                </a:gridCol>
              </a:tblGrid>
              <a:tr h="156118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상황반</a:t>
                      </a:r>
                      <a:endParaRPr lang="ko-KR" alt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2780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845317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558831"/>
                  </a:ext>
                </a:extLst>
              </a:tr>
            </a:tbl>
          </a:graphicData>
        </a:graphic>
      </p:graphicFrame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F2FCEF51-BA9F-45D3-A6D6-05687313A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130902"/>
              </p:ext>
            </p:extLst>
          </p:nvPr>
        </p:nvGraphicFramePr>
        <p:xfrm>
          <a:off x="5131860" y="5048150"/>
          <a:ext cx="1481649" cy="468354"/>
        </p:xfrm>
        <a:graphic>
          <a:graphicData uri="http://schemas.openxmlformats.org/drawingml/2006/table">
            <a:tbl>
              <a:tblPr/>
              <a:tblGrid>
                <a:gridCol w="493883">
                  <a:extLst>
                    <a:ext uri="{9D8B030D-6E8A-4147-A177-3AD203B41FA5}">
                      <a16:colId xmlns:a16="http://schemas.microsoft.com/office/drawing/2014/main" val="701466049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1217876018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3945397979"/>
                    </a:ext>
                  </a:extLst>
                </a:gridCol>
              </a:tblGrid>
              <a:tr h="156118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의료반</a:t>
                      </a:r>
                      <a:endParaRPr lang="ko-KR" alt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2780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845317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39098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558831"/>
                  </a:ext>
                </a:extLst>
              </a:tr>
            </a:tbl>
          </a:graphicData>
        </a:graphic>
      </p:graphicFrame>
      <p:graphicFrame>
        <p:nvGraphicFramePr>
          <p:cNvPr id="107" name="표 106">
            <a:extLst>
              <a:ext uri="{FF2B5EF4-FFF2-40B4-BE49-F238E27FC236}">
                <a16:creationId xmlns:a16="http://schemas.microsoft.com/office/drawing/2014/main" id="{8D7FA53D-29CB-436F-8121-AADB6AA20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506750"/>
              </p:ext>
            </p:extLst>
          </p:nvPr>
        </p:nvGraphicFramePr>
        <p:xfrm>
          <a:off x="1809696" y="4365137"/>
          <a:ext cx="1481649" cy="468354"/>
        </p:xfrm>
        <a:graphic>
          <a:graphicData uri="http://schemas.openxmlformats.org/drawingml/2006/table">
            <a:tbl>
              <a:tblPr/>
              <a:tblGrid>
                <a:gridCol w="493883">
                  <a:extLst>
                    <a:ext uri="{9D8B030D-6E8A-4147-A177-3AD203B41FA5}">
                      <a16:colId xmlns:a16="http://schemas.microsoft.com/office/drawing/2014/main" val="701466049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1217876018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3945397979"/>
                    </a:ext>
                  </a:extLst>
                </a:gridCol>
              </a:tblGrid>
              <a:tr h="156118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복구반</a:t>
                      </a:r>
                      <a:endParaRPr lang="ko-KR" alt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2780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845317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558831"/>
                  </a:ext>
                </a:extLst>
              </a:tr>
            </a:tbl>
          </a:graphicData>
        </a:graphic>
      </p:graphicFrame>
      <p:graphicFrame>
        <p:nvGraphicFramePr>
          <p:cNvPr id="109" name="표 108">
            <a:extLst>
              <a:ext uri="{FF2B5EF4-FFF2-40B4-BE49-F238E27FC236}">
                <a16:creationId xmlns:a16="http://schemas.microsoft.com/office/drawing/2014/main" id="{18FEA87A-89D8-455B-A3AA-BED99C473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461348"/>
              </p:ext>
            </p:extLst>
          </p:nvPr>
        </p:nvGraphicFramePr>
        <p:xfrm>
          <a:off x="1809696" y="5017181"/>
          <a:ext cx="1481649" cy="468354"/>
        </p:xfrm>
        <a:graphic>
          <a:graphicData uri="http://schemas.openxmlformats.org/drawingml/2006/table">
            <a:tbl>
              <a:tblPr/>
              <a:tblGrid>
                <a:gridCol w="493883">
                  <a:extLst>
                    <a:ext uri="{9D8B030D-6E8A-4147-A177-3AD203B41FA5}">
                      <a16:colId xmlns:a16="http://schemas.microsoft.com/office/drawing/2014/main" val="701466049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1217876018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3945397979"/>
                    </a:ext>
                  </a:extLst>
                </a:gridCol>
              </a:tblGrid>
              <a:tr h="156118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복구반</a:t>
                      </a:r>
                      <a:endParaRPr lang="ko-KR" alt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2780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845317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558831"/>
                  </a:ext>
                </a:extLst>
              </a:tr>
            </a:tbl>
          </a:graphicData>
        </a:graphic>
      </p:graphicFrame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C0DD55E3-922B-4A72-9319-3167B09A3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38559"/>
              </p:ext>
            </p:extLst>
          </p:nvPr>
        </p:nvGraphicFramePr>
        <p:xfrm>
          <a:off x="5131860" y="5680298"/>
          <a:ext cx="1481649" cy="468354"/>
        </p:xfrm>
        <a:graphic>
          <a:graphicData uri="http://schemas.openxmlformats.org/drawingml/2006/table">
            <a:tbl>
              <a:tblPr/>
              <a:tblGrid>
                <a:gridCol w="493883">
                  <a:extLst>
                    <a:ext uri="{9D8B030D-6E8A-4147-A177-3AD203B41FA5}">
                      <a16:colId xmlns:a16="http://schemas.microsoft.com/office/drawing/2014/main" val="701466049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1217876018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3945397979"/>
                    </a:ext>
                  </a:extLst>
                </a:gridCol>
              </a:tblGrid>
              <a:tr h="156118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의료반</a:t>
                      </a:r>
                      <a:endParaRPr lang="ko-KR" alt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2780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845317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558831"/>
                  </a:ext>
                </a:extLst>
              </a:tr>
            </a:tbl>
          </a:graphicData>
        </a:graphic>
      </p:graphicFrame>
      <p:graphicFrame>
        <p:nvGraphicFramePr>
          <p:cNvPr id="117" name="표 116">
            <a:extLst>
              <a:ext uri="{FF2B5EF4-FFF2-40B4-BE49-F238E27FC236}">
                <a16:creationId xmlns:a16="http://schemas.microsoft.com/office/drawing/2014/main" id="{21C33DF5-8AC1-4A8C-979A-EB32D9EE9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701644"/>
              </p:ext>
            </p:extLst>
          </p:nvPr>
        </p:nvGraphicFramePr>
        <p:xfrm>
          <a:off x="3449123" y="4369860"/>
          <a:ext cx="1481649" cy="468354"/>
        </p:xfrm>
        <a:graphic>
          <a:graphicData uri="http://schemas.openxmlformats.org/drawingml/2006/table">
            <a:tbl>
              <a:tblPr/>
              <a:tblGrid>
                <a:gridCol w="493883">
                  <a:extLst>
                    <a:ext uri="{9D8B030D-6E8A-4147-A177-3AD203B41FA5}">
                      <a16:colId xmlns:a16="http://schemas.microsoft.com/office/drawing/2014/main" val="701466049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1217876018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3945397979"/>
                    </a:ext>
                  </a:extLst>
                </a:gridCol>
              </a:tblGrid>
              <a:tr h="156118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유도반</a:t>
                      </a:r>
                      <a:endParaRPr lang="ko-KR" alt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2780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작업팀장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845317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558831"/>
                  </a:ext>
                </a:extLst>
              </a:tr>
            </a:tbl>
          </a:graphicData>
        </a:graphic>
      </p:graphicFrame>
      <p:graphicFrame>
        <p:nvGraphicFramePr>
          <p:cNvPr id="118" name="표 117">
            <a:extLst>
              <a:ext uri="{FF2B5EF4-FFF2-40B4-BE49-F238E27FC236}">
                <a16:creationId xmlns:a16="http://schemas.microsoft.com/office/drawing/2014/main" id="{4D7D7F88-7214-48FD-998F-0A7FCE71C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453822"/>
              </p:ext>
            </p:extLst>
          </p:nvPr>
        </p:nvGraphicFramePr>
        <p:xfrm>
          <a:off x="3449123" y="5007550"/>
          <a:ext cx="1481649" cy="468354"/>
        </p:xfrm>
        <a:graphic>
          <a:graphicData uri="http://schemas.openxmlformats.org/drawingml/2006/table">
            <a:tbl>
              <a:tblPr/>
              <a:tblGrid>
                <a:gridCol w="493883">
                  <a:extLst>
                    <a:ext uri="{9D8B030D-6E8A-4147-A177-3AD203B41FA5}">
                      <a16:colId xmlns:a16="http://schemas.microsoft.com/office/drawing/2014/main" val="701466049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1217876018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3945397979"/>
                    </a:ext>
                  </a:extLst>
                </a:gridCol>
              </a:tblGrid>
              <a:tr h="156118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유도반</a:t>
                      </a:r>
                      <a:endParaRPr lang="ko-KR" alt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2780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작업팀장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845317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558831"/>
                  </a:ext>
                </a:extLst>
              </a:tr>
            </a:tbl>
          </a:graphicData>
        </a:graphic>
      </p:graphicFrame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D4B402A3-F9B6-4E0B-936F-92C781F3F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134382"/>
              </p:ext>
            </p:extLst>
          </p:nvPr>
        </p:nvGraphicFramePr>
        <p:xfrm>
          <a:off x="3449123" y="5666598"/>
          <a:ext cx="1481649" cy="468354"/>
        </p:xfrm>
        <a:graphic>
          <a:graphicData uri="http://schemas.openxmlformats.org/drawingml/2006/table">
            <a:tbl>
              <a:tblPr/>
              <a:tblGrid>
                <a:gridCol w="493883">
                  <a:extLst>
                    <a:ext uri="{9D8B030D-6E8A-4147-A177-3AD203B41FA5}">
                      <a16:colId xmlns:a16="http://schemas.microsoft.com/office/drawing/2014/main" val="701466049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1217876018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3945397979"/>
                    </a:ext>
                  </a:extLst>
                </a:gridCol>
              </a:tblGrid>
              <a:tr h="156118">
                <a:tc rowSpan="3">
                  <a:txBody>
                    <a:bodyPr/>
                    <a:lstStyle/>
                    <a:p>
                      <a:pPr marL="0" marR="0" lvl="0" indent="0" algn="l" defTabSz="1039098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유도반</a:t>
                      </a:r>
                      <a:endParaRPr lang="ko-KR" alt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2780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작업팀장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845317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558831"/>
                  </a:ext>
                </a:extLst>
              </a:tr>
            </a:tbl>
          </a:graphicData>
        </a:graphic>
      </p:graphicFrame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A52B6EB9-7A43-4B3E-8C6C-4197BDDF9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322579"/>
              </p:ext>
            </p:extLst>
          </p:nvPr>
        </p:nvGraphicFramePr>
        <p:xfrm>
          <a:off x="1809695" y="5666598"/>
          <a:ext cx="1481649" cy="468354"/>
        </p:xfrm>
        <a:graphic>
          <a:graphicData uri="http://schemas.openxmlformats.org/drawingml/2006/table">
            <a:tbl>
              <a:tblPr/>
              <a:tblGrid>
                <a:gridCol w="493883">
                  <a:extLst>
                    <a:ext uri="{9D8B030D-6E8A-4147-A177-3AD203B41FA5}">
                      <a16:colId xmlns:a16="http://schemas.microsoft.com/office/drawing/2014/main" val="701466049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1217876018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3945397979"/>
                    </a:ext>
                  </a:extLst>
                </a:gridCol>
              </a:tblGrid>
              <a:tr h="156118">
                <a:tc rowSpan="3">
                  <a:txBody>
                    <a:bodyPr/>
                    <a:lstStyle/>
                    <a:p>
                      <a:pPr marL="0" marR="0" lvl="0" indent="0" algn="l" defTabSz="1039098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복구반</a:t>
                      </a:r>
                      <a:endParaRPr lang="ko-KR" alt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2780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작업팀장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845317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558831"/>
                  </a:ext>
                </a:extLst>
              </a:tr>
            </a:tbl>
          </a:graphicData>
        </a:graphic>
      </p:graphicFrame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68769003-EABC-4FCC-B52C-9B35D2C24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790451"/>
              </p:ext>
            </p:extLst>
          </p:nvPr>
        </p:nvGraphicFramePr>
        <p:xfrm>
          <a:off x="111532" y="4390557"/>
          <a:ext cx="1481649" cy="468354"/>
        </p:xfrm>
        <a:graphic>
          <a:graphicData uri="http://schemas.openxmlformats.org/drawingml/2006/table">
            <a:tbl>
              <a:tblPr/>
              <a:tblGrid>
                <a:gridCol w="493883">
                  <a:extLst>
                    <a:ext uri="{9D8B030D-6E8A-4147-A177-3AD203B41FA5}">
                      <a16:colId xmlns:a16="http://schemas.microsoft.com/office/drawing/2014/main" val="701466049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1217876018"/>
                    </a:ext>
                  </a:extLst>
                </a:gridCol>
                <a:gridCol w="493883">
                  <a:extLst>
                    <a:ext uri="{9D8B030D-6E8A-4147-A177-3AD203B41FA5}">
                      <a16:colId xmlns:a16="http://schemas.microsoft.com/office/drawing/2014/main" val="3945397979"/>
                    </a:ext>
                  </a:extLst>
                </a:gridCol>
              </a:tblGrid>
              <a:tr h="156118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상황반</a:t>
                      </a:r>
                      <a:endParaRPr lang="ko-KR" alt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2780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845317"/>
                  </a:ext>
                </a:extLst>
              </a:tr>
              <a:tr h="156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558831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24662E91-7317-80DC-93FB-00942716B3B6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2386" y="218143"/>
            <a:ext cx="268744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defPPr>
              <a:defRPr lang="ko-KR"/>
            </a:defPPr>
            <a:lvl1pPr eaLnBrk="0" latinLnBrk="0" hangingPunct="0">
              <a:defRPr sz="2400" b="1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2000">
                <a:solidFill>
                  <a:srgbClr val="FF0000"/>
                </a:solidFill>
              </a:rPr>
              <a:t>OOOO</a:t>
            </a:r>
            <a:r>
              <a:rPr lang="ko-KR" altLang="en-US" sz="2000" dirty="0" err="1">
                <a:solidFill>
                  <a:srgbClr val="FF0000"/>
                </a:solidFill>
              </a:rPr>
              <a:t>현장명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3FA1095-9D4A-5070-634C-5144D65E2611}"/>
              </a:ext>
            </a:extLst>
          </p:cNvPr>
          <p:cNvCxnSpPr>
            <a:cxnSpLocks/>
          </p:cNvCxnSpPr>
          <p:nvPr/>
        </p:nvCxnSpPr>
        <p:spPr>
          <a:xfrm flipV="1">
            <a:off x="3537580" y="1642626"/>
            <a:ext cx="0" cy="154070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5CD79ACC-5390-4E17-60F5-65925C98B3CF}"/>
              </a:ext>
            </a:extLst>
          </p:cNvPr>
          <p:cNvCxnSpPr>
            <a:cxnSpLocks/>
          </p:cNvCxnSpPr>
          <p:nvPr/>
        </p:nvCxnSpPr>
        <p:spPr>
          <a:xfrm flipV="1">
            <a:off x="3537580" y="2552700"/>
            <a:ext cx="0" cy="317500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5E40AD1-7FCF-27F4-961E-4BFD5FB391FD}"/>
              </a:ext>
            </a:extLst>
          </p:cNvPr>
          <p:cNvCxnSpPr>
            <a:cxnSpLocks/>
          </p:cNvCxnSpPr>
          <p:nvPr/>
        </p:nvCxnSpPr>
        <p:spPr>
          <a:xfrm flipV="1">
            <a:off x="3537580" y="3333750"/>
            <a:ext cx="0" cy="184150"/>
          </a:xfrm>
          <a:prstGeom prst="line">
            <a:avLst/>
          </a:prstGeom>
          <a:ln w="28575">
            <a:solidFill>
              <a:srgbClr val="FF5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356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B02EF-A91C-D7AA-933B-D130DD4B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2">
            <a:extLst>
              <a:ext uri="{FF2B5EF4-FFF2-40B4-BE49-F238E27FC236}">
                <a16:creationId xmlns:a16="http://schemas.microsoft.com/office/drawing/2014/main" id="{542DBB33-535B-D254-F03C-996F0553D519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731263" y="156589"/>
            <a:ext cx="244347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defPPr>
              <a:defRPr lang="ko-KR"/>
            </a:defPPr>
            <a:lvl1pPr eaLnBrk="0" latinLnBrk="0" hangingPunct="0">
              <a:defRPr sz="2400" b="1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비상 시 대피로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58107-58E5-EC9C-DFB5-BECB340CFF70}"/>
              </a:ext>
            </a:extLst>
          </p:cNvPr>
          <p:cNvSpPr txBox="1"/>
          <p:nvPr/>
        </p:nvSpPr>
        <p:spPr>
          <a:xfrm>
            <a:off x="4133850" y="3269538"/>
            <a:ext cx="1638300" cy="318924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</a:rPr>
              <a:t>대피로 사진 삽입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7A77BB4-0625-43DA-3F29-D51982F6C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5220" y="5034525"/>
            <a:ext cx="2315057" cy="13303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100" b="1" dirty="0">
                <a:latin typeface="Arial" panose="020B0604020202020204" pitchFamily="34" charset="0"/>
              </a:rPr>
              <a:t> </a:t>
            </a:r>
            <a:r>
              <a:rPr lang="en-US" altLang="ko-KR" sz="1100" b="1" dirty="0">
                <a:latin typeface="Arial" panose="020B0604020202020204" pitchFamily="34" charset="0"/>
              </a:rPr>
              <a:t>- </a:t>
            </a:r>
            <a:r>
              <a:rPr lang="ko-KR" altLang="en-US" sz="1100" b="1" dirty="0">
                <a:latin typeface="Arial" panose="020B0604020202020204" pitchFamily="34" charset="0"/>
              </a:rPr>
              <a:t>범 </a:t>
            </a:r>
            <a:r>
              <a:rPr lang="ko-KR" altLang="en-US" sz="1100" b="1" dirty="0" err="1">
                <a:latin typeface="Arial" panose="020B0604020202020204" pitchFamily="34" charset="0"/>
              </a:rPr>
              <a:t>례</a:t>
            </a:r>
            <a:r>
              <a:rPr lang="ko-KR" altLang="en-US" sz="1100" b="1" dirty="0">
                <a:latin typeface="Arial" panose="020B0604020202020204" pitchFamily="34" charset="0"/>
              </a:rPr>
              <a:t> </a:t>
            </a:r>
            <a:r>
              <a:rPr lang="en-US" altLang="ko-KR" sz="1100" b="1" dirty="0">
                <a:latin typeface="Arial" panose="020B0604020202020204" pitchFamily="34" charset="0"/>
              </a:rPr>
              <a:t>-</a:t>
            </a: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100" dirty="0">
                <a:latin typeface="Arial" panose="020B0604020202020204" pitchFamily="34" charset="0"/>
              </a:rPr>
              <a:t>🔴 현 위치 (</a:t>
            </a:r>
            <a:r>
              <a:rPr lang="ko-KR" altLang="ko-KR" sz="1100" dirty="0" err="1">
                <a:latin typeface="Arial" panose="020B0604020202020204" pitchFamily="34" charset="0"/>
              </a:rPr>
              <a:t>You</a:t>
            </a:r>
            <a:r>
              <a:rPr lang="ko-KR" altLang="ko-KR" sz="1100" dirty="0">
                <a:latin typeface="Arial" panose="020B0604020202020204" pitchFamily="34" charset="0"/>
              </a:rPr>
              <a:t> </a:t>
            </a:r>
            <a:r>
              <a:rPr lang="ko-KR" altLang="ko-KR" sz="1100" dirty="0" err="1">
                <a:latin typeface="Arial" panose="020B0604020202020204" pitchFamily="34" charset="0"/>
              </a:rPr>
              <a:t>represent</a:t>
            </a:r>
            <a:r>
              <a:rPr lang="ko-KR" altLang="ko-KR" sz="1100" dirty="0">
                <a:latin typeface="Arial" panose="020B0604020202020204" pitchFamily="34" charset="0"/>
              </a:rPr>
              <a:t> </a:t>
            </a:r>
            <a:r>
              <a:rPr lang="ko-KR" altLang="ko-KR" sz="1100" dirty="0" err="1">
                <a:latin typeface="Arial" panose="020B0604020202020204" pitchFamily="34" charset="0"/>
              </a:rPr>
              <a:t>here</a:t>
            </a:r>
            <a:r>
              <a:rPr lang="ko-KR" altLang="ko-KR" sz="1100" dirty="0">
                <a:latin typeface="Arial" panose="020B0604020202020204" pitchFamily="34" charset="0"/>
              </a:rPr>
              <a:t>)</a:t>
            </a: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100" dirty="0">
                <a:latin typeface="Arial" panose="020B0604020202020204" pitchFamily="34" charset="0"/>
              </a:rPr>
              <a:t>🟢 비상 집결지 (</a:t>
            </a:r>
            <a:r>
              <a:rPr lang="ko-KR" altLang="ko-KR" sz="1100" dirty="0" err="1">
                <a:latin typeface="Arial" panose="020B0604020202020204" pitchFamily="34" charset="0"/>
              </a:rPr>
              <a:t>Assembly</a:t>
            </a:r>
            <a:r>
              <a:rPr lang="ko-KR" altLang="ko-KR" sz="1100" dirty="0">
                <a:latin typeface="Arial" panose="020B0604020202020204" pitchFamily="34" charset="0"/>
              </a:rPr>
              <a:t> </a:t>
            </a:r>
            <a:r>
              <a:rPr lang="ko-KR" altLang="ko-KR" sz="1100" dirty="0" err="1">
                <a:latin typeface="Arial" panose="020B0604020202020204" pitchFamily="34" charset="0"/>
              </a:rPr>
              <a:t>Point</a:t>
            </a:r>
            <a:r>
              <a:rPr lang="ko-KR" altLang="ko-KR" sz="1100" dirty="0">
                <a:latin typeface="Arial" panose="020B0604020202020204" pitchFamily="34" charset="0"/>
              </a:rPr>
              <a:t>)</a:t>
            </a: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100" dirty="0">
                <a:latin typeface="Arial" panose="020B0604020202020204" pitchFamily="34" charset="0"/>
              </a:rPr>
              <a:t>➡️ 대피 동선 (화살표)</a:t>
            </a: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100" dirty="0">
                <a:latin typeface="Arial" panose="020B0604020202020204" pitchFamily="34" charset="0"/>
              </a:rPr>
              <a:t>🧯 소화기 / AED 위치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92B2E41-A049-939A-CF68-E97F736044A4}"/>
              </a:ext>
            </a:extLst>
          </p:cNvPr>
          <p:cNvGrpSpPr/>
          <p:nvPr/>
        </p:nvGrpSpPr>
        <p:grpSpPr>
          <a:xfrm>
            <a:off x="3719193" y="1629644"/>
            <a:ext cx="2455544" cy="3501219"/>
            <a:chOff x="3048001" y="2660134"/>
            <a:chExt cx="2455544" cy="350121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EB3202C-5097-79A4-3F44-74CA70634E7E}"/>
                </a:ext>
              </a:extLst>
            </p:cNvPr>
            <p:cNvSpPr txBox="1"/>
            <p:nvPr/>
          </p:nvSpPr>
          <p:spPr>
            <a:xfrm>
              <a:off x="3928110" y="3269538"/>
              <a:ext cx="4533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sz="2400" dirty="0">
                  <a:latin typeface="Arial" panose="020B0604020202020204" pitchFamily="34" charset="0"/>
                </a:rPr>
                <a:t>🔴</a:t>
              </a:r>
              <a:endParaRPr lang="ko-KR" altLang="en-US" sz="2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4C1F6C-0FE9-86BE-531F-31770DFBFE04}"/>
                </a:ext>
              </a:extLst>
            </p:cNvPr>
            <p:cNvSpPr txBox="1"/>
            <p:nvPr/>
          </p:nvSpPr>
          <p:spPr>
            <a:xfrm>
              <a:off x="4270375" y="5699688"/>
              <a:ext cx="4533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sz="2400" dirty="0">
                  <a:latin typeface="Arial" panose="020B0604020202020204" pitchFamily="34" charset="0"/>
                </a:rPr>
                <a:t>🟢</a:t>
              </a:r>
              <a:endParaRPr lang="ko-KR" altLang="en-US" sz="2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CE55AB-E8A7-E24A-5AD0-E58FF6BB65EF}"/>
                </a:ext>
              </a:extLst>
            </p:cNvPr>
            <p:cNvSpPr txBox="1"/>
            <p:nvPr/>
          </p:nvSpPr>
          <p:spPr>
            <a:xfrm rot="7194174">
              <a:off x="4535951" y="5322653"/>
              <a:ext cx="4533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sz="2400" dirty="0">
                  <a:latin typeface="Arial" panose="020B0604020202020204" pitchFamily="34" charset="0"/>
                </a:rPr>
                <a:t>➡️</a:t>
              </a:r>
              <a:endParaRPr lang="ko-KR" altLang="en-US" sz="24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7E840BE-EE63-6468-D866-6C3FD35CDF75}"/>
                </a:ext>
              </a:extLst>
            </p:cNvPr>
            <p:cNvSpPr txBox="1"/>
            <p:nvPr/>
          </p:nvSpPr>
          <p:spPr>
            <a:xfrm rot="3137722">
              <a:off x="4190732" y="3568999"/>
              <a:ext cx="4533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sz="2400" dirty="0">
                  <a:latin typeface="Arial" panose="020B0604020202020204" pitchFamily="34" charset="0"/>
                </a:rPr>
                <a:t>➡️</a:t>
              </a:r>
              <a:endParaRPr lang="ko-KR" altLang="en-US" sz="2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7CA8298-CDDE-7424-0E1E-3681F19A95A5}"/>
                </a:ext>
              </a:extLst>
            </p:cNvPr>
            <p:cNvSpPr txBox="1"/>
            <p:nvPr/>
          </p:nvSpPr>
          <p:spPr>
            <a:xfrm>
              <a:off x="3101975" y="2660134"/>
              <a:ext cx="4533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sz="2400">
                  <a:latin typeface="Arial" panose="020B0604020202020204" pitchFamily="34" charset="0"/>
                </a:rPr>
                <a:t>🧯</a:t>
              </a:r>
              <a:endParaRPr lang="ko-KR" altLang="en-US" sz="24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D1A7D5F-2DD4-D520-AE5A-E5A494994AAA}"/>
                </a:ext>
              </a:extLst>
            </p:cNvPr>
            <p:cNvSpPr txBox="1"/>
            <p:nvPr/>
          </p:nvSpPr>
          <p:spPr>
            <a:xfrm>
              <a:off x="5050155" y="2660134"/>
              <a:ext cx="4533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sz="2400">
                  <a:latin typeface="Arial" panose="020B0604020202020204" pitchFamily="34" charset="0"/>
                </a:rPr>
                <a:t>🧯</a:t>
              </a:r>
              <a:endParaRPr lang="ko-KR" altLang="en-US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FD92C2D-7E75-8889-9BEE-13E1ADA0B34F}"/>
                </a:ext>
              </a:extLst>
            </p:cNvPr>
            <p:cNvSpPr txBox="1"/>
            <p:nvPr/>
          </p:nvSpPr>
          <p:spPr>
            <a:xfrm>
              <a:off x="3048001" y="5657397"/>
              <a:ext cx="4533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sz="2400">
                  <a:latin typeface="Arial" panose="020B0604020202020204" pitchFamily="34" charset="0"/>
                </a:rPr>
                <a:t>🧯</a:t>
              </a:r>
              <a:endParaRPr lang="ko-KR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7026704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bg2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0000FF"/>
          </a:solidFill>
          <a:headEnd type="diamond" w="med" len="med"/>
          <a:tailEnd type="diamond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 anchor="t" anchorCtr="0">
        <a:spAutoFit/>
      </a:bodyPr>
      <a:lstStyle>
        <a:defPPr>
          <a:defRPr sz="1000" smtClean="0">
            <a:gradFill>
              <a:gsLst>
                <a:gs pos="0">
                  <a:schemeClr val="tx1"/>
                </a:gs>
                <a:gs pos="100000">
                  <a:schemeClr val="tx1"/>
                </a:gs>
              </a:gsLst>
              <a:lin ang="5400000" scaled="1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6D5D321C-C744-4F2A-8E0B-EC695C284E5E}" vid="{62B6944D-23AE-403A-BCF2-DFAF265E3AB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91666</TotalTime>
  <Words>192</Words>
  <Application>Microsoft Office PowerPoint</Application>
  <PresentationFormat>A4 용지(210x297mm)</PresentationFormat>
  <Paragraphs>102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SamsungOneKorean 500</vt:lpstr>
      <vt:lpstr>맑은 고딕</vt:lpstr>
      <vt:lpstr>바탕체</vt:lpstr>
      <vt:lpstr>Arial</vt:lpstr>
      <vt:lpstr>1_Office 테마</vt:lpstr>
      <vt:lpstr>PowerPoint 프레젠테이션</vt:lpstr>
      <vt:lpstr>PowerPoint 프레젠테이션</vt:lpstr>
    </vt:vector>
  </TitlesOfParts>
  <Company>IMUKorea.Ltd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이유진</dc:creator>
  <cp:lastModifiedBy>정상익</cp:lastModifiedBy>
  <cp:revision>2311</cp:revision>
  <cp:lastPrinted>2025-05-09T01:08:35Z</cp:lastPrinted>
  <dcterms:created xsi:type="dcterms:W3CDTF">2021-06-11T23:30:41Z</dcterms:created>
  <dcterms:modified xsi:type="dcterms:W3CDTF">2025-11-21T08:32:00Z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중공업 시공역량 검토_P3L 수행 계획 (0721).pptx [자동 저장]</vt:lpwstr>
  </property>
</Properties>
</file>