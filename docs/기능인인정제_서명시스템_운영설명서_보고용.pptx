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기능인인정제 서명 시스템 운영 설명서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563EB"/>
                </a:solidFill>
              </a:defRPr>
            </a:pPr>
            <a:r>
              <a:t>평가자 책임확인 · 전자서명 · 평가보고서 자동보관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작성일: 2026-06-15  |  작성: BESMA 개발팀  |  시스템: BESMA 기능인인정제(웹)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1. 구축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기존 기능인인정제(2-1 기능 · 2-2 안전) 평가 흐름에 전자서명·결재 단계를 접목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평가자의 「평가 완료」 선언을 캔버스 서명·PDF로 증빙하고 서버에 자동 보관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최초 로그인 시 평가책임 동의서 1회 서명(이후 재표시 없음)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평가완료보고서 서명 후 해당 평가·근거(포상/제재) 수정 불가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신규 입사·추가 출역 인원은 기존 서명본을 수정하지 않고 추가평가(batch)로 분리 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2. 전체 운영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로그인 → 최초 동의서 서명 → 근로자 2-1/2-2 평가 → 포상·제재 등록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→ (11명↑ 현장) 팀장 평가완료보고서 서명 → 소장 팀장보고서 승인·서명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→ 소장 현장 평가보고서 제출·서명 → 안전보건실 담당 검토·승인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→ 안전보건실장 최종 승인·서명 → 대표이사 최종 승인·서명 → PDF 보고서 저장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※ 10명 이하 현장: 팀장 단계 생략, 소장이 전원 평가·제출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3-0. 평가 기준 — 기능/품질 vs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2-1 기능/품질: 소장·팀장 평가 — 작업숙련도·품질·생산성·작업태도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기본 B등급 · S등급 현장별 20% 이내 권장 · 초과 시 평가완료 서명 전 사유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C등급: 작업능력 미흡·품질 불량·재작업·태도 불량 등 근거 있을 때만 (비율 강제 없음)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2-2 안전: 감점형 절대평가 — 지적·위반 이력 없으면 감점하지 않음(만점/상위)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안전 S 20% 제한 없음 · 안전 C 최소 비율 강제 없음</a:t>
            </a:r>
          </a:p>
        </p:txBody>
      </p:sp>
      <p:pic>
        <p:nvPicPr>
          <p:cNvPr id="4" name="Picture 3" descr="04_evaluate_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6272246"/>
          </a:xfrm>
          <a:prstGeom prst="rect">
            <a:avLst/>
          </a:prstGeom>
        </p:spPr>
      </p:pic>
      <p:pic>
        <p:nvPicPr>
          <p:cNvPr id="5" name="Picture 4" descr="05_evaluate_safe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606040"/>
            <a:ext cx="3657600" cy="5150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기능/품질 평가는 소장·팀장이 작업숙련도와 품질을 기준으로 평가하고, S등급 남발 방지를 위해 기본 B등급 및 S등급 권장 상한을 적용합니다. 안전 평가는 원청 안전팀·감시단·본사점검·자체점검의 지적 이력을 기준으로 감점하는 방식으로 운영하며, 별도 문제가 없는 경우 감점하지 않습니다.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안전평가의 객관성을 확보하기 위해 원청/도급사 안전팀, 감시단, 본사 안전점검, 현장 자체점검에서 확인된 지적사항을 제재 또는 감점 근거로 등록합니다. 이를 통해 현장 내부 평가자의 주관성을 줄이고, 실제 안전수칙 위반 이력에 기반하여 안전점수를 반영합니다.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3-1. 접속 및 로그인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BESMA 로그인 화면에서 평가자 계정(팀장/소장/본사)으로 접속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현장 평가자: /site/functional-eval · 본사: /hq-safe/functional-eval</a:t>
            </a:r>
          </a:p>
        </p:txBody>
      </p:sp>
      <p:pic>
        <p:nvPicPr>
          <p:cNvPr id="4" name="Picture 3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주의: 평가자 계정은 ERP 출역 반영 후 자동 생성(별칭-이름 / 주민앞6자리)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3-2. 최초 로그인 — 평가책임 동의서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기능인제 화면 최초 진입 시 동의서 모달 표시(1회)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동의문을 끝까지 스크롤 → 「위 내용을 확인하였으며 동의합니다」 체크 → 캔버스 서명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「동의 및 서명」 클릭 시 PDF·서명 PNG 서버 저장</a:t>
            </a:r>
          </a:p>
        </p:txBody>
      </p:sp>
      <p:pic>
        <p:nvPicPr>
          <p:cNvPr id="4" name="Picture 3" descr="02_consen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  <p:pic>
        <p:nvPicPr>
          <p:cNvPr id="5" name="Picture 4" descr="02_consent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606040"/>
            <a:ext cx="3657600" cy="3711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완료 조건: consent/status.required = false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스크롤 게이트: 끝까지 확인 전 체크·서명·제출 비활성화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3-3. 근로자 명단(등급현황)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담당 근로자 목록 · 2-1/2-2 등급 · 안전·제재 상태 · 비고(포상/감점) 확인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「평가」 버튼으로 2-1/2-2 입력 · 「포상」「제재」 버튼으로 근거 등록</a:t>
            </a:r>
          </a:p>
        </p:txBody>
      </p:sp>
      <p:pic>
        <p:nvPicPr>
          <p:cNvPr id="4" name="Picture 3" descr="03_roster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8737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완료 조건: 담당 전원 평가 완료 + (필요 시) 포상·제재 근거 등록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3-4. 2-1 기능 평가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문항별 우수/보통/부족/문제 선택 후 저장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미평가자는 사이드바 「미평가」 필터로 확인</a:t>
            </a:r>
          </a:p>
        </p:txBody>
      </p:sp>
      <p:pic>
        <p:nvPicPr>
          <p:cNvPr id="4" name="Picture 3" descr="04_evaluate_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62722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완료 조건: FUNCTIONAL 전 문항 입력(is_complete)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3-5. 2-2 안전 평가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안전 8개 문항 등급 입력 · 하단 「위반·제재」 인라인 등록 가능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「문제」 항목이 있으면 제재 등록 유도(완료 차단은 아님)</a:t>
            </a:r>
          </a:p>
        </p:txBody>
      </p:sp>
      <p:pic>
        <p:nvPicPr>
          <p:cNvPr id="4" name="Picture 3" descr="05_evaluate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10042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완료 조건: SAFETY 전 문항 입력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3-6. 고객사 포상 등록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명단 「포상」 → 사진 첨부 → 제출(본사 승인 대기)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승인 후 비고 「고객사포상(+5)」 · 안전 등급 +5점 반영</a:t>
            </a:r>
          </a:p>
        </p:txBody>
      </p:sp>
      <p:pic>
        <p:nvPicPr>
          <p:cNvPr id="4" name="Picture 3" descr="06_reward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주의: 제출 후 회수·변경 불가 · 소장은 팀원 포상 직접 등록 불가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3-7. 제재 등록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명단 「제재」 또는 2-2 탭 → 위반 선택 · 근거(코멘트/사진) · 서명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첫 제재: 해당 안전항목 「문제」 자동 반영(감점 0)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같은 위반 재발: -5점 감점(평가표 유지) · 안전 등급에 감점 합산 반영</a:t>
            </a:r>
          </a:p>
        </p:txBody>
      </p:sp>
      <p:pic>
        <p:nvPicPr>
          <p:cNvPr id="4" name="Picture 3" descr="07_sanctio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평가 완료 후에도 제재 등록 가능 · 제재 누락으로 평가완료 서명 자체는 차단하지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4. 포상·제재 — 점수·등급 반영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2-1 기능/품질: 문항 등급 합산 → S/A/B/C · 기본 B · S 20% 권장(기능만)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2-2 안전: 감점형 — 지적·제재 이력 없으면 감점 없음 · S/C 비율 제한 없음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첫 제재: 해당 안전항목 「문제」 반영(감점 0) · 재발 -5점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포상 승인: bonus_points 가점 · 안전 등급 재산출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감점 근거: 원청/도급 안전팀·감시단·본사점검·자체점검·보호구·고소·작업허가·정리정돈·반복지적·사고</a:t>
            </a:r>
          </a:p>
        </p:txBody>
      </p:sp>
      <p:pic>
        <p:nvPicPr>
          <p:cNvPr id="4" name="Picture 3" descr="07_sanctio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제재 등록 권장(유도) · 미등록 시에도 평가완료 서명 가능 · 안전 S 20% 제한 없음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5. 평가완료보고서 서명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팀장: 담당 팀원 전원 2-1+2-2 완료 → 「평가완료보고서 서명」(TEAM_LEADER stage PDF)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소장: (11명↑) 팀장 전원 서명 확인 → 팀장보고서 승인 → 「평가완료보고서 제출」(SITE stage)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서명 시 캔버스 입력 → PDF 자동 생성 · /functional-eval/signatures/{id}/document 다운로드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서명 완료 후 evaluation_editable=false → 점수·포상·제재 수정 차단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등급 인플레이션 방지: 기능/품질(2-1)만 S 20% 초과 시 서명 전 사유 · 안전(2-2) 제한 없음</a:t>
            </a:r>
          </a:p>
        </p:txBody>
      </p:sp>
      <p:pic>
        <p:nvPicPr>
          <p:cNvPr id="4" name="Picture 3" descr="12_team_signoff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6569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완료 조건: 출역 대상 전원 평가 완료 + 필수 서명 단계 완료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기능/품질 평가는 소장·팀장이 작업숙련도와 품질을 기준으로 평가하고, S등급 남발 방지를 위해 기본 B등급 및 S등급 권장 상한을 적용합니다. 안전 평가는 원청 안전팀·감시단·본사점검·자체점검의 지적 이력을 기준으로 감점하는 방식으로 운영하며, 별도 문제가 없는 경우 감점하지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6-1. 소장 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계정: 대우청라-박명식(소장) / 현장별 {별칭}-{소장명}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화면: /site/functional-eval — 직영 평가 + 팀장 보고서 승인 패널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확인: 팀원 등급표·포상/제재 근거 → 팀장보고서 「승인 서명」→ 전원 완료 후 「제출 및 서명」</a:t>
            </a:r>
          </a:p>
        </p:txBody>
      </p:sp>
      <p:pic>
        <p:nvPicPr>
          <p:cNvPr id="4" name="Picture 3" descr="03_roster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87370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6-2. 안전보건실 담당 검토·승인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계정: 안전보건-정상익 차장 /hq-safe/functional-eval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소장 제출(SITE_APPROVED) 현장 → 담당 검토 코멘트 입력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「담당 일괄 검토·승인」→ HQ_OFFICER stage PDF · 상태 HQ_OFFICER_APPROVED</a:t>
            </a:r>
          </a:p>
        </p:txBody>
      </p:sp>
      <p:pic>
        <p:nvPicPr>
          <p:cNvPr id="4" name="Picture 3" descr="10_hq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6-3. 안전보건실장 최종 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계정: 안전보건-조동문 전무 /hq-safe/functional-eval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담당 승인 완료 현장 → 실장 코멘트 입력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「실장 일괄 최종승인」→ HQ stage PDF · 상태 HQ_APPROVED</a:t>
            </a:r>
          </a:p>
        </p:txBody>
      </p:sp>
      <p:pic>
        <p:nvPicPr>
          <p:cNvPr id="4" name="Picture 3" descr="10_hq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6-4. 대표이사 최종 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계정: 부현대표-김홍수 /hq-safe/functional-eval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HQ 승인(HQ_APPROVED) 현장 최종 확인 → 「최종 승인 및 서명」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CEO stage PDF · 상태 CEO_APPROVED · 현장 평가 확정</a:t>
            </a:r>
          </a:p>
        </p:txBody>
      </p:sp>
      <p:pic>
        <p:nvPicPr>
          <p:cNvPr id="4" name="Picture 3" descr="11_ce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7. 최종 평가보고서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제목: 기능인인정제 평가 보고서 (갑지/상세/본사·대표 단계 공통)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포함: 평가기간 · 현장명 · 피평가자 등급표 · 서명 이미지 · 결재란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다운로드: GET /functional-eval/signatures/mine · signatures/{id}/document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동의서 PDF: GET /functional-eval/consent/document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등급표 엑셀: /my-site/export/site-grade-workbook</a:t>
            </a:r>
          </a:p>
        </p:txBody>
      </p:sp>
      <p:pic>
        <p:nvPicPr>
          <p:cNvPr id="4" name="Picture 3" descr="10_hq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47199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8. 신규입사·추가평가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핵심 원칙: 「기존 서명본은 수정하지 않고, 신규 대상자만 별도 추가평가로 생성·평가·서명」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evaluation_batch=0(최초) / 1+(추가평가 N차) — 신규 worker 생성 시 자동 부여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API: POST /functional-eval/my-site/supplemental-signoff (기존 CEO_APPROVED 유지)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신규입사자 추가평가는 기존 평가보고서를 수정하지 않고 별도 배치로 분리하는 구조가 반영되어 있으며, 전용 화면은 후속 보완 예정입니다.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9. 시스템 검증 결과 (2026-06-15)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3A5F"/>
                          </a:solidFill>
                        </a:defRPr>
                      </a:pPr>
                      <a:r>
                        <a:t>검증 항목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3A5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3A5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최초 로그인 동의서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FeConsentGate · API 테스트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동의서 하단 스크롤 전 서명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FeSignatureModal requireConsentScroll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동의서 서명 후 재로그인 시 미표시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test_consent_submit_once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근로자 2-1/2-2 평가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E2E 시뮬레이션 + 화면 캡처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포상/제재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Form+서명 API · UI 캡처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점수/등급 반영(감점·가점)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test_sanction_register_without_safety_bottom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평가보고서 PDF 제목 통일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기능인인정제 평가 보고서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등급 인플레이션 방지(기능/품질 S 20%)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2-1만 적용 · 안전 2-2 제한 없음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평가보고서 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TEAM/SITE/HQ/CEO stage PDF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서명 후 수정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test_signature_lock_after_team_signoff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소장 승인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E2E simulation step 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안전보건실 담당·실장 2단 승인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HQ officer → director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대표이사 최종 승인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E2E simulation step 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PDF 다운로드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consent/signatures/document API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추가평가 분리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부분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API·batch 구현 / 전용 UI 후속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10. 시연·운영 전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금일 점검 과정에서 동의·서명·현장승인 레코드는 초기화되었습니다.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따라서 시연 및 실제 운영 전 각 사용자는 최초 로그인 동의서를 다시 서명해야 합니다.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평가 점수, 출역, 근로자, 삼성인정제 관련 데이터는 유지되었습니다.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11. 전체 운영 흐름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출역 ERP → 평가자·피평가자 자동 명단 → 동의(1회) → 2-1/2-2 평가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포상(가점)·제재(감점/문제반영) → 팀장·소장 서명 → 담당→실장→대표 3단 본사 승인 → PDF 영구보관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서명 후 수정 불가 · 추가 인원은 추가평가로 분리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</a:defRPr>
            </a:pPr>
            <a:r>
              <a:t>대표이사 보고 시: 본 자료 + E2E 리포트(docs/reports/functional-eval-e2e/) 참조</a:t>
            </a:r>
          </a:p>
        </p:txBody>
      </p:sp>
      <p:pic>
        <p:nvPicPr>
          <p:cNvPr id="4" name="Picture 3" descr="03_roster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7132320" cy="8737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