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3" r:id="rId6"/>
    <p:sldId id="264" r:id="rId7"/>
  </p:sldIdLst>
  <p:sldSz cx="7559675" cy="1069181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098" y="-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325A160-D9BB-4041-AD57-D8EEB0CF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4" y="4039201"/>
            <a:ext cx="6047232" cy="1544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F329C3F-532C-4DCB-AA6F-12FC0DDAE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3856" y="5880602"/>
            <a:ext cx="5291328" cy="1188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6CEE57D-4A9D-4CB7-90C4-440A6E0F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4" y="4455001"/>
            <a:ext cx="6047232" cy="178200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5AB0F0-B31D-4AE1-9AB3-7465B8A7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831600"/>
            <a:ext cx="6708648" cy="1306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EB234D-9428-4E16-95DE-C7CC0E54B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196" y="2970001"/>
            <a:ext cx="6708648" cy="665280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32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08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684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660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636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612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588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564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540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7DC518F-F0A7-49B4-959D-7A984986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831600"/>
            <a:ext cx="6708648" cy="1306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996C51B-8176-42EA-B337-308876A4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196" y="2970001"/>
            <a:ext cx="3118104" cy="665280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32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08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684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660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636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612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588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564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540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DCE30AC-F605-49E4-8169-32BBE7A646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015740" y="2970001"/>
            <a:ext cx="3118104" cy="665280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32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08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684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660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636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612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588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564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540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712A8DE-6D0E-4FB3-8425-B289702D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831600"/>
            <a:ext cx="6708648" cy="1306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A43BD67-44B1-44D9-973A-5D94DA484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196" y="2970001"/>
            <a:ext cx="3118104" cy="665280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32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08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684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660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636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612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588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564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540" indent="-141732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DBEB61A-7D1E-414C-BECD-ED6476C823B3}"/>
              </a:ext>
            </a:extLst>
          </p:cNvPr>
          <p:cNvSpPr>
            <a:spLocks noGrp="1"/>
          </p:cNvSpPr>
          <p:nvPr/>
        </p:nvSpPr>
        <p:spPr>
          <a:xfrm>
            <a:off x="472757" y="1342060"/>
            <a:ext cx="6614160" cy="25245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336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현장</a:t>
            </a:r>
            <a:r>
              <a:rPr sz="336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336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반기</a:t>
            </a:r>
            <a:endParaRPr sz="3360" b="1" dirty="0">
              <a:solidFill>
                <a:srgbClr val="252525"/>
              </a:solidFill>
              <a:latin typeface="NanumGothic"/>
              <a:ea typeface="NanumGothic"/>
              <a:cs typeface="NanumGothic"/>
            </a:endParaRPr>
          </a:p>
          <a:p>
            <a:pPr algn="ctr">
              <a:defRPr sz="336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336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안전보건</a:t>
            </a:r>
            <a:r>
              <a:rPr sz="336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336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평가</a:t>
            </a:r>
            <a:endParaRPr sz="3360" b="1" dirty="0">
              <a:solidFill>
                <a:srgbClr val="252525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69C018-241D-4CD5-AFF3-E1885B62AA15}"/>
              </a:ext>
            </a:extLst>
          </p:cNvPr>
          <p:cNvSpPr>
            <a:spLocks noGrp="1"/>
          </p:cNvSpPr>
          <p:nvPr/>
        </p:nvSpPr>
        <p:spPr>
          <a:xfrm>
            <a:off x="472757" y="4297211"/>
            <a:ext cx="6614160" cy="65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ctr">
              <a:defRPr sz="156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lang="en-US" sz="2000" dirty="0"/>
              <a:t>2026</a:t>
            </a:r>
            <a:r>
              <a:rPr sz="200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년 </a:t>
            </a:r>
            <a:r>
              <a:rPr lang="ko-KR" altLang="en-US" sz="200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하</a:t>
            </a:r>
            <a:r>
              <a:rPr sz="200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반기</a:t>
            </a:r>
            <a:endParaRPr sz="2000" b="0" dirty="0">
              <a:solidFill>
                <a:srgbClr val="252525"/>
              </a:solidFill>
              <a:latin typeface="NanumGothic"/>
              <a:ea typeface="NanumGothic"/>
              <a:cs typeface="NanumGothic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8D2D17-DB70-48C5-A568-F6AFCC0176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6314178"/>
              </p:ext>
            </p:extLst>
          </p:nvPr>
        </p:nvGraphicFramePr>
        <p:xfrm>
          <a:off x="1299527" y="6198011"/>
          <a:ext cx="4984242" cy="1722600"/>
        </p:xfrm>
        <a:graphic>
          <a:graphicData uri="http://schemas.openxmlformats.org/drawingml/2006/table">
            <a:tbl>
              <a:tblPr/>
              <a:tblGrid>
                <a:gridCol w="1062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1300"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현장명</a:t>
                      </a:r>
                      <a:endParaRPr sz="16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300"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평가일</a:t>
                      </a:r>
                      <a:endParaRPr sz="16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그림 20">
            <a:extLst>
              <a:ext uri="{FF2B5EF4-FFF2-40B4-BE49-F238E27FC236}">
                <a16:creationId xmlns:a16="http://schemas.microsoft.com/office/drawing/2014/main" id="{0F3BA322-38FD-DA27-50E7-15D5FC3CA71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755047" y="9805182"/>
            <a:ext cx="2049580" cy="700099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84BB39-E085-C39C-987C-32430558CC4C}"/>
              </a:ext>
            </a:extLst>
          </p:cNvPr>
          <p:cNvCxnSpPr/>
          <p:nvPr/>
        </p:nvCxnSpPr>
        <p:spPr>
          <a:xfrm>
            <a:off x="342900" y="1342060"/>
            <a:ext cx="67440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5389603-AB27-8E54-9755-BF109EDDC586}"/>
              </a:ext>
            </a:extLst>
          </p:cNvPr>
          <p:cNvCxnSpPr/>
          <p:nvPr/>
        </p:nvCxnSpPr>
        <p:spPr>
          <a:xfrm>
            <a:off x="407828" y="9444660"/>
            <a:ext cx="67440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15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352803-4AAF-482D-8CCA-43AC34C4606A}"/>
              </a:ext>
            </a:extLst>
          </p:cNvPr>
          <p:cNvSpPr>
            <a:spLocks noGrp="1"/>
          </p:cNvSpPr>
          <p:nvPr/>
        </p:nvSpPr>
        <p:spPr>
          <a:xfrm>
            <a:off x="377952" y="608850"/>
            <a:ext cx="5905500" cy="72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200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평가</a:t>
            </a:r>
            <a:r>
              <a:rPr sz="200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200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개요</a:t>
            </a:r>
            <a:endParaRPr sz="2000" b="1" dirty="0">
              <a:solidFill>
                <a:srgbClr val="252525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A16D2C-5DED-4BC3-B522-774B21F8CD1E}"/>
              </a:ext>
            </a:extLst>
          </p:cNvPr>
          <p:cNvSpPr>
            <a:spLocks noGrp="1"/>
          </p:cNvSpPr>
          <p:nvPr/>
        </p:nvSpPr>
        <p:spPr>
          <a:xfrm>
            <a:off x="312991" y="1287495"/>
            <a:ext cx="6803136" cy="19305"/>
          </a:xfrm>
          <a:prstGeom prst="rect">
            <a:avLst/>
          </a:prstGeom>
          <a:solidFill>
            <a:srgbClr val="555555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586F25-F6A2-4EC1-A3C4-D005D0704C11}"/>
              </a:ext>
            </a:extLst>
          </p:cNvPr>
          <p:cNvSpPr>
            <a:spLocks noGrp="1"/>
          </p:cNvSpPr>
          <p:nvPr/>
        </p:nvSpPr>
        <p:spPr>
          <a:xfrm>
            <a:off x="377952" y="10008903"/>
            <a:ext cx="6803136" cy="14850"/>
          </a:xfrm>
          <a:prstGeom prst="rect">
            <a:avLst/>
          </a:prstGeom>
          <a:solidFill>
            <a:srgbClr val="ABABAB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4BCD2C-0CF8-4B3E-B242-7FF9BDB2A230}"/>
              </a:ext>
            </a:extLst>
          </p:cNvPr>
          <p:cNvSpPr>
            <a:spLocks noGrp="1"/>
          </p:cNvSpPr>
          <p:nvPr/>
        </p:nvSpPr>
        <p:spPr>
          <a:xfrm>
            <a:off x="377952" y="10142553"/>
            <a:ext cx="4133850" cy="31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부현전기 안전보건실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5C2DBC-4A47-4F44-9A0C-C1D19CA2A90C}"/>
              </a:ext>
            </a:extLst>
          </p:cNvPr>
          <p:cNvSpPr>
            <a:spLocks noGrp="1"/>
          </p:cNvSpPr>
          <p:nvPr/>
        </p:nvSpPr>
        <p:spPr>
          <a:xfrm>
            <a:off x="6885813" y="10127703"/>
            <a:ext cx="295275" cy="32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2DF0E5-2D83-427F-97F9-D8574D73BE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9497141"/>
              </p:ext>
            </p:extLst>
          </p:nvPr>
        </p:nvGraphicFramePr>
        <p:xfrm>
          <a:off x="377952" y="1508640"/>
          <a:ext cx="6803137" cy="4811401"/>
        </p:xfrm>
        <a:graphic>
          <a:graphicData uri="http://schemas.openxmlformats.org/drawingml/2006/table">
            <a:tbl>
              <a:tblPr/>
              <a:tblGrid>
                <a:gridCol w="1505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7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047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</a:t>
                      </a:r>
                      <a:r>
                        <a:rPr lang="en-US" sz="14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4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분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내</a:t>
                      </a:r>
                      <a:r>
                        <a:rPr lang="en-US" sz="14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4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용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559">
                <a:tc>
                  <a:txBody>
                    <a:bodyPr/>
                    <a:lstStyle/>
                    <a:p>
                      <a:pPr algn="ctr"/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장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명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559">
                <a:tc>
                  <a:txBody>
                    <a:bodyPr/>
                    <a:lstStyle/>
                    <a:p>
                      <a:pPr algn="ctr"/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원청사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/ </a:t>
                      </a:r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공종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559">
                <a:tc>
                  <a:txBody>
                    <a:bodyPr/>
                    <a:lstStyle/>
                    <a:p>
                      <a:pPr algn="ctr"/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일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559">
                <a:tc>
                  <a:txBody>
                    <a:bodyPr/>
                    <a:lstStyle/>
                    <a:p>
                      <a:pPr algn="ctr"/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현장소장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/ </a:t>
                      </a:r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안전담당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559">
                <a:tc>
                  <a:txBody>
                    <a:bodyPr/>
                    <a:lstStyle/>
                    <a:p>
                      <a:pPr algn="ctr"/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평가자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/ </a:t>
                      </a:r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참석자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7559">
                <a:tc>
                  <a:txBody>
                    <a:bodyPr/>
                    <a:lstStyle/>
                    <a:p>
                      <a:pPr algn="ctr"/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공사금액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/ </a:t>
                      </a:r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공정률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5F4926B5-028A-4044-8DEF-53D3DBE52DAF}"/>
              </a:ext>
            </a:extLst>
          </p:cNvPr>
          <p:cNvSpPr>
            <a:spLocks noGrp="1"/>
          </p:cNvSpPr>
          <p:nvPr/>
        </p:nvSpPr>
        <p:spPr>
          <a:xfrm>
            <a:off x="377952" y="6623102"/>
            <a:ext cx="6673215" cy="51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44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44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평가</a:t>
            </a:r>
            <a:r>
              <a:rPr sz="144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44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방법</a:t>
            </a:r>
            <a:endParaRPr sz="1440" b="1" dirty="0">
              <a:solidFill>
                <a:srgbClr val="252525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8AC02B-1DDD-43C3-A7BB-7999895C5DCB}"/>
              </a:ext>
            </a:extLst>
          </p:cNvPr>
          <p:cNvSpPr>
            <a:spLocks noGrp="1"/>
          </p:cNvSpPr>
          <p:nvPr/>
        </p:nvSpPr>
        <p:spPr>
          <a:xfrm>
            <a:off x="377952" y="7410152"/>
            <a:ext cx="277559" cy="475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pPr>
            <a:r>
              <a: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8D167-B38F-4E62-9E3D-480D79F25F74}"/>
              </a:ext>
            </a:extLst>
          </p:cNvPr>
          <p:cNvSpPr>
            <a:spLocks noGrp="1"/>
          </p:cNvSpPr>
          <p:nvPr/>
        </p:nvSpPr>
        <p:spPr>
          <a:xfrm>
            <a:off x="738188" y="7410152"/>
            <a:ext cx="2657475" cy="44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서류</a:t>
            </a:r>
            <a:r>
              <a:rPr sz="120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20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확인</a:t>
            </a:r>
            <a:endParaRPr sz="1200" b="1" dirty="0">
              <a:solidFill>
                <a:srgbClr val="252525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D041F5-2E60-4312-883F-92AE0CFA2872}"/>
              </a:ext>
            </a:extLst>
          </p:cNvPr>
          <p:cNvSpPr>
            <a:spLocks noGrp="1"/>
          </p:cNvSpPr>
          <p:nvPr/>
        </p:nvSpPr>
        <p:spPr>
          <a:xfrm>
            <a:off x="738188" y="7915052"/>
            <a:ext cx="2657475" cy="41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평가기간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내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운영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기록·증빙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검토</a:t>
            </a:r>
            <a:endParaRPr sz="1000" b="0" dirty="0">
              <a:solidFill>
                <a:schemeClr val="tx1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0CFC93-B8BB-49E5-AE93-D1BFD9D5623F}"/>
              </a:ext>
            </a:extLst>
          </p:cNvPr>
          <p:cNvSpPr>
            <a:spLocks noGrp="1"/>
          </p:cNvSpPr>
          <p:nvPr/>
        </p:nvSpPr>
        <p:spPr>
          <a:xfrm>
            <a:off x="3986213" y="7410152"/>
            <a:ext cx="277559" cy="475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pPr>
            <a:r>
              <a: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187251-690B-4E2C-BD0B-250596A241D5}"/>
              </a:ext>
            </a:extLst>
          </p:cNvPr>
          <p:cNvSpPr>
            <a:spLocks noGrp="1"/>
          </p:cNvSpPr>
          <p:nvPr/>
        </p:nvSpPr>
        <p:spPr>
          <a:xfrm>
            <a:off x="4346448" y="7410152"/>
            <a:ext cx="2657475" cy="44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현장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DD5311-D73C-4F2A-B696-145D326EFB27}"/>
              </a:ext>
            </a:extLst>
          </p:cNvPr>
          <p:cNvSpPr>
            <a:spLocks noGrp="1"/>
          </p:cNvSpPr>
          <p:nvPr/>
        </p:nvSpPr>
        <p:spPr>
          <a:xfrm>
            <a:off x="4346448" y="7915052"/>
            <a:ext cx="2657475" cy="41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작업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상태와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실제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이행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확인</a:t>
            </a:r>
            <a:endParaRPr sz="1000" b="0" dirty="0">
              <a:solidFill>
                <a:schemeClr val="tx1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4E6C8A-F966-4B4C-8219-EEDED0238401}"/>
              </a:ext>
            </a:extLst>
          </p:cNvPr>
          <p:cNvSpPr>
            <a:spLocks noGrp="1"/>
          </p:cNvSpPr>
          <p:nvPr/>
        </p:nvSpPr>
        <p:spPr>
          <a:xfrm>
            <a:off x="377952" y="8613002"/>
            <a:ext cx="277559" cy="475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defRPr>
            </a:pPr>
            <a:r>
              <a:rPr sz="1260" b="1">
                <a:solidFill>
                  <a:srgbClr val="45454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8A791C-FAE6-480B-A06F-F0B2DD098720}"/>
              </a:ext>
            </a:extLst>
          </p:cNvPr>
          <p:cNvSpPr>
            <a:spLocks noGrp="1"/>
          </p:cNvSpPr>
          <p:nvPr/>
        </p:nvSpPr>
        <p:spPr>
          <a:xfrm>
            <a:off x="738188" y="8613002"/>
            <a:ext cx="2657475" cy="44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20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lang="ko-KR" altLang="en-US" dirty="0"/>
              <a:t>이행상태 결과 공유</a:t>
            </a:r>
            <a:endParaRPr sz="1200" b="1" dirty="0">
              <a:solidFill>
                <a:srgbClr val="252525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043DB3-FAC3-481B-A0E6-F0E91FC591C0}"/>
              </a:ext>
            </a:extLst>
          </p:cNvPr>
          <p:cNvSpPr>
            <a:spLocks noGrp="1"/>
          </p:cNvSpPr>
          <p:nvPr/>
        </p:nvSpPr>
        <p:spPr>
          <a:xfrm>
            <a:off x="738188" y="9117903"/>
            <a:ext cx="2657475" cy="41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90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운영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절차와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개선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필요사항</a:t>
            </a:r>
            <a:r>
              <a:rPr sz="1000" b="0" dirty="0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00" b="0" dirty="0" err="1">
                <a:solidFill>
                  <a:schemeClr val="tx1"/>
                </a:solidFill>
                <a:latin typeface="NanumGothic"/>
                <a:ea typeface="NanumGothic"/>
                <a:cs typeface="NanumGothic"/>
              </a:rPr>
              <a:t>확인</a:t>
            </a:r>
            <a:endParaRPr sz="1000" b="0" dirty="0">
              <a:solidFill>
                <a:schemeClr val="tx1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0C67963-46C3-42EC-9463-EBEB77E8C878}"/>
              </a:ext>
            </a:extLst>
          </p:cNvPr>
          <p:cNvSpPr>
            <a:spLocks noGrp="1"/>
          </p:cNvSpPr>
          <p:nvPr/>
        </p:nvSpPr>
        <p:spPr>
          <a:xfrm>
            <a:off x="377952" y="7093204"/>
            <a:ext cx="3194876" cy="14850"/>
          </a:xfrm>
          <a:prstGeom prst="rect">
            <a:avLst/>
          </a:prstGeom>
          <a:solidFill>
            <a:srgbClr val="ABABAB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176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C84223-E47E-44CD-891D-5C17CFCF16C5}"/>
              </a:ext>
            </a:extLst>
          </p:cNvPr>
          <p:cNvSpPr>
            <a:spLocks noGrp="1"/>
          </p:cNvSpPr>
          <p:nvPr/>
        </p:nvSpPr>
        <p:spPr>
          <a:xfrm>
            <a:off x="316992" y="0"/>
            <a:ext cx="5905500" cy="72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240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평가</a:t>
            </a:r>
            <a:r>
              <a:rPr sz="240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240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결과</a:t>
            </a:r>
            <a:r>
              <a:rPr sz="240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240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요약</a:t>
            </a:r>
            <a:endParaRPr sz="2400" b="1" dirty="0">
              <a:solidFill>
                <a:srgbClr val="252525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D2BF53-10C6-4571-A210-C64473E1AA0F}"/>
              </a:ext>
            </a:extLst>
          </p:cNvPr>
          <p:cNvSpPr>
            <a:spLocks noGrp="1"/>
          </p:cNvSpPr>
          <p:nvPr/>
        </p:nvSpPr>
        <p:spPr>
          <a:xfrm>
            <a:off x="267843" y="609524"/>
            <a:ext cx="6803136" cy="19305"/>
          </a:xfrm>
          <a:prstGeom prst="rect">
            <a:avLst/>
          </a:prstGeom>
          <a:solidFill>
            <a:srgbClr val="555555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F364DD-40FF-4211-BA60-0E254CA0B92F}"/>
              </a:ext>
            </a:extLst>
          </p:cNvPr>
          <p:cNvSpPr>
            <a:spLocks noGrp="1"/>
          </p:cNvSpPr>
          <p:nvPr/>
        </p:nvSpPr>
        <p:spPr>
          <a:xfrm>
            <a:off x="377952" y="10008903"/>
            <a:ext cx="6803136" cy="14850"/>
          </a:xfrm>
          <a:prstGeom prst="rect">
            <a:avLst/>
          </a:prstGeom>
          <a:solidFill>
            <a:srgbClr val="ABABAB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5A8588-D901-4A6C-937F-243721C12A52}"/>
              </a:ext>
            </a:extLst>
          </p:cNvPr>
          <p:cNvSpPr>
            <a:spLocks noGrp="1"/>
          </p:cNvSpPr>
          <p:nvPr/>
        </p:nvSpPr>
        <p:spPr>
          <a:xfrm>
            <a:off x="377952" y="10142553"/>
            <a:ext cx="4133850" cy="31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부현전기 안전보건실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41361A-4749-42C0-A876-A1156F01026C}"/>
              </a:ext>
            </a:extLst>
          </p:cNvPr>
          <p:cNvSpPr>
            <a:spLocks noGrp="1"/>
          </p:cNvSpPr>
          <p:nvPr/>
        </p:nvSpPr>
        <p:spPr>
          <a:xfrm>
            <a:off x="6885813" y="10127703"/>
            <a:ext cx="295275" cy="32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9FEA95-2057-4B0C-90B9-5F02A60B946B}"/>
              </a:ext>
            </a:extLst>
          </p:cNvPr>
          <p:cNvSpPr>
            <a:spLocks noGrp="1"/>
          </p:cNvSpPr>
          <p:nvPr/>
        </p:nvSpPr>
        <p:spPr>
          <a:xfrm>
            <a:off x="293370" y="691822"/>
            <a:ext cx="1653540" cy="37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140" b="1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1400" b="1" dirty="0" err="1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종합점수</a:t>
            </a:r>
            <a:endParaRPr sz="1400" b="1" dirty="0">
              <a:solidFill>
                <a:srgbClr val="70707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19299F-01DC-4B70-8AF9-CE25C48CA585}"/>
              </a:ext>
            </a:extLst>
          </p:cNvPr>
          <p:cNvSpPr>
            <a:spLocks noGrp="1"/>
          </p:cNvSpPr>
          <p:nvPr/>
        </p:nvSpPr>
        <p:spPr>
          <a:xfrm>
            <a:off x="293370" y="1060008"/>
            <a:ext cx="1476375" cy="69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228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228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[</a:t>
            </a:r>
            <a:r>
              <a:rPr sz="228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점수</a:t>
            </a:r>
            <a:r>
              <a:rPr sz="228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]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1F4416-9ED7-45BD-A558-CC400699C865}"/>
              </a:ext>
            </a:extLst>
          </p:cNvPr>
          <p:cNvSpPr>
            <a:spLocks noGrp="1"/>
          </p:cNvSpPr>
          <p:nvPr/>
        </p:nvSpPr>
        <p:spPr>
          <a:xfrm>
            <a:off x="1480376" y="1167022"/>
            <a:ext cx="1240155" cy="549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1380" b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/ 100점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4EDB80C-066A-49D4-B5DD-B6C24ED6EE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686260"/>
              </p:ext>
            </p:extLst>
          </p:nvPr>
        </p:nvGraphicFramePr>
        <p:xfrm>
          <a:off x="206057" y="1754893"/>
          <a:ext cx="7147559" cy="7419437"/>
        </p:xfrm>
        <a:graphic>
          <a:graphicData uri="http://schemas.openxmlformats.org/drawingml/2006/table">
            <a:tbl>
              <a:tblPr/>
              <a:tblGrid>
                <a:gridCol w="479743">
                  <a:extLst>
                    <a:ext uri="{9D8B030D-6E8A-4147-A177-3AD203B41FA5}">
                      <a16:colId xmlns:a16="http://schemas.microsoft.com/office/drawing/2014/main" val="1135144565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32015381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077394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21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NO.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</a:t>
                      </a:r>
                      <a:r>
                        <a:rPr 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</a:t>
                      </a:r>
                      <a:r>
                        <a:rPr 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 준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 인 항 목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확인자료 및 기록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배</a:t>
                      </a:r>
                      <a:r>
                        <a:rPr 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점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점</a:t>
                      </a:r>
                      <a:r>
                        <a:rPr 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615">
                <a:tc rowSpan="4"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</a:rPr>
                        <a:t>1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위험성평가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최초 위험성평가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‘26/6/1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이전 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착공 후 한달 내</a:t>
                      </a:r>
                      <a:endParaRPr lang="en-US" altLang="ko-KR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‘26/6/1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이후 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첫 작업 시작 전까지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정기 위험성평가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최초평가 다음 연도부터 매년 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회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5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위험성평가 회의록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위험성평가 회의록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2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유해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위험 요인 개선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현장소장 </a:t>
                      </a: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점검표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관리감독자 </a:t>
                      </a: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점검표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889">
                <a:tc rowSpan="4"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 안전조직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현장조직도</a:t>
                      </a:r>
                      <a:endParaRPr lang="en-US" altLang="ko-KR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현장조직도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업무분장표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6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안전보건관리책임자</a:t>
                      </a:r>
                      <a:endParaRPr lang="en-US" altLang="ko-KR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  <a:p>
                      <a:pPr algn="ctr"/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선임계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선임계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직무교육 </a:t>
                      </a: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이수증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재직증명서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010"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안전관리자 </a:t>
                      </a: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선임계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선임계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자격증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직무교육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이수증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재직증명서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711"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관리감독자 지정서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관리감독자 지정서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615"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종사자의견청취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종사자 의견청취</a:t>
                      </a:r>
                      <a:endParaRPr lang="en-US" altLang="ko-KR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채널 설치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의견청취 창구 게시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소통함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QR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등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)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210"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유해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위험 요인 개선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근로자 의견청취 관리대장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811">
                <a:tc rowSpan="4"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비상대응체계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 비상사태대응매뉴얼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비상사태 대비계획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34012"/>
                  </a:ext>
                </a:extLst>
              </a:tr>
              <a:tr h="391615"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비상시 업무분장</a:t>
                      </a:r>
                      <a:endParaRPr lang="en-US" altLang="ko-KR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및 비상연락망</a:t>
                      </a:r>
                      <a:endParaRPr lang="en-US" altLang="ko-KR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비상 </a:t>
                      </a: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업무분장표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비상연락망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42218"/>
                  </a:ext>
                </a:extLst>
              </a:tr>
              <a:tr h="391615"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비상사태훈련보고서</a:t>
                      </a:r>
                      <a:endParaRPr lang="en-US" altLang="ko-KR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및 교육일지</a:t>
                      </a:r>
                      <a:endParaRPr lang="en-US" altLang="ko-KR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비상훈련보고서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교육일지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반기 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회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)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7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940731"/>
                  </a:ext>
                </a:extLst>
              </a:tr>
              <a:tr h="356014"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비상시 대응요령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사고보고 절차도 게시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359469"/>
                  </a:ext>
                </a:extLst>
              </a:tr>
              <a:tr h="537700">
                <a:tc rowSpan="3"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안전교육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정기안전교육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정기안전보건교육일지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291034"/>
                  </a:ext>
                </a:extLst>
              </a:tr>
              <a:tr h="537700"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특별안전교육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특별안전교육일지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MSDS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교육일지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82500"/>
                  </a:ext>
                </a:extLst>
              </a:tr>
              <a:tr h="537700"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관리감독자교육</a:t>
                      </a:r>
                      <a:endParaRPr lang="ko-KR" altLang="en-US"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관리감독자 교육 </a:t>
                      </a: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이수증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5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176451"/>
                  </a:ext>
                </a:extLst>
              </a:tr>
              <a:tr h="53770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6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건강검진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배치전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특수건강검진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배치전</a:t>
                      </a:r>
                      <a:r>
                        <a:rPr lang="en-US" altLang="ko-KR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특수 건강진단 결과표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</a:t>
                      </a:r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7502"/>
                  </a:ext>
                </a:extLst>
              </a:tr>
              <a:tr h="589735">
                <a:tc gridSpan="2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</a:rPr>
                        <a:t>합</a:t>
                      </a:r>
                      <a:r>
                        <a:rPr 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</a:rPr>
                        <a:t>  </a:t>
                      </a:r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</a:rPr>
                        <a:t>계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</a:t>
                      </a:r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총점</a:t>
                      </a:r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]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419A40C-6C38-961F-A5F4-CAE090AD4884}"/>
              </a:ext>
            </a:extLst>
          </p:cNvPr>
          <p:cNvSpPr txBox="1"/>
          <p:nvPr/>
        </p:nvSpPr>
        <p:spPr>
          <a:xfrm>
            <a:off x="5547360" y="9174330"/>
            <a:ext cx="1935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배점 보통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반절 미흡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:0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982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4E971C-D3B9-4FC5-A2DD-02D8A3B846D0}"/>
              </a:ext>
            </a:extLst>
          </p:cNvPr>
          <p:cNvSpPr>
            <a:spLocks noGrp="1"/>
          </p:cNvSpPr>
          <p:nvPr/>
        </p:nvSpPr>
        <p:spPr>
          <a:xfrm>
            <a:off x="377952" y="608850"/>
            <a:ext cx="5905500" cy="72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개선조치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22968B-3286-44E6-BCF8-C8542B745EF2}"/>
              </a:ext>
            </a:extLst>
          </p:cNvPr>
          <p:cNvSpPr>
            <a:spLocks noGrp="1"/>
          </p:cNvSpPr>
          <p:nvPr/>
        </p:nvSpPr>
        <p:spPr>
          <a:xfrm>
            <a:off x="377952" y="1422616"/>
            <a:ext cx="6803136" cy="19305"/>
          </a:xfrm>
          <a:prstGeom prst="rect">
            <a:avLst/>
          </a:prstGeom>
          <a:solidFill>
            <a:srgbClr val="555555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8E0A23-3160-4CDE-A16A-7C3867DE5142}"/>
              </a:ext>
            </a:extLst>
          </p:cNvPr>
          <p:cNvSpPr>
            <a:spLocks noGrp="1"/>
          </p:cNvSpPr>
          <p:nvPr/>
        </p:nvSpPr>
        <p:spPr>
          <a:xfrm>
            <a:off x="377952" y="10008903"/>
            <a:ext cx="6803136" cy="14850"/>
          </a:xfrm>
          <a:prstGeom prst="rect">
            <a:avLst/>
          </a:prstGeom>
          <a:solidFill>
            <a:srgbClr val="ABABAB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22A2E8-15B1-4642-B951-84EB711F8D27}"/>
              </a:ext>
            </a:extLst>
          </p:cNvPr>
          <p:cNvSpPr>
            <a:spLocks noGrp="1"/>
          </p:cNvSpPr>
          <p:nvPr/>
        </p:nvSpPr>
        <p:spPr>
          <a:xfrm>
            <a:off x="377952" y="10142553"/>
            <a:ext cx="4133850" cy="31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부현전기 안전보건실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1BC9D8-92DE-4BBF-A8B7-7C83494F48A1}"/>
              </a:ext>
            </a:extLst>
          </p:cNvPr>
          <p:cNvSpPr>
            <a:spLocks noGrp="1"/>
          </p:cNvSpPr>
          <p:nvPr/>
        </p:nvSpPr>
        <p:spPr>
          <a:xfrm>
            <a:off x="6885813" y="10127703"/>
            <a:ext cx="295275" cy="32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 dirty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0</a:t>
            </a:r>
            <a:r>
              <a:rPr lang="en-US" sz="720" b="0" dirty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5</a:t>
            </a:r>
            <a:endParaRPr sz="720" b="0" dirty="0">
              <a:solidFill>
                <a:srgbClr val="70707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E057E4-3B47-42BC-B5D2-00F3ACE6E59C}"/>
              </a:ext>
            </a:extLst>
          </p:cNvPr>
          <p:cNvSpPr>
            <a:spLocks noGrp="1"/>
          </p:cNvSpPr>
          <p:nvPr/>
        </p:nvSpPr>
        <p:spPr>
          <a:xfrm>
            <a:off x="413385" y="1716538"/>
            <a:ext cx="6732270" cy="53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320" b="1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개선요구</a:t>
            </a:r>
            <a:r>
              <a:rPr sz="1320" b="1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[  ]건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138F0FA-22C1-4A00-8E00-2331BFE673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4300852"/>
              </p:ext>
            </p:extLst>
          </p:nvPr>
        </p:nvGraphicFramePr>
        <p:xfrm>
          <a:off x="377952" y="2355089"/>
          <a:ext cx="6732271" cy="6296400"/>
        </p:xfrm>
        <a:graphic>
          <a:graphicData uri="http://schemas.openxmlformats.org/drawingml/2006/table">
            <a:tbl>
              <a:tblPr/>
              <a:tblGrid>
                <a:gridCol w="597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4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0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387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번호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개선</a:t>
                      </a:r>
                      <a:r>
                        <a:rPr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필요사항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조치</a:t>
                      </a:r>
                      <a:r>
                        <a:rPr 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계획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담당자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</a:t>
                      </a:r>
                      <a:r>
                        <a:rPr lang="en-US" sz="1000" b="1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기한</a:t>
                      </a:r>
                      <a:endParaRPr sz="1000" b="1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4506"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01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4506"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02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4506"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03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4506"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04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4506"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05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96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42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957AAD-FC5F-445E-BD2D-4609F3244B8D}"/>
              </a:ext>
            </a:extLst>
          </p:cNvPr>
          <p:cNvSpPr>
            <a:spLocks noGrp="1"/>
          </p:cNvSpPr>
          <p:nvPr/>
        </p:nvSpPr>
        <p:spPr>
          <a:xfrm>
            <a:off x="377952" y="608850"/>
            <a:ext cx="5905500" cy="72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점검 사진대지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165798-2897-4D45-8B2A-FB0FA871D7C8}"/>
              </a:ext>
            </a:extLst>
          </p:cNvPr>
          <p:cNvSpPr>
            <a:spLocks noGrp="1"/>
          </p:cNvSpPr>
          <p:nvPr/>
        </p:nvSpPr>
        <p:spPr>
          <a:xfrm>
            <a:off x="377952" y="1182441"/>
            <a:ext cx="6803136" cy="19305"/>
          </a:xfrm>
          <a:prstGeom prst="rect">
            <a:avLst/>
          </a:prstGeom>
          <a:solidFill>
            <a:srgbClr val="555555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316F3D-0376-4227-B32C-F9A7934E7CA6}"/>
              </a:ext>
            </a:extLst>
          </p:cNvPr>
          <p:cNvSpPr>
            <a:spLocks noGrp="1"/>
          </p:cNvSpPr>
          <p:nvPr/>
        </p:nvSpPr>
        <p:spPr>
          <a:xfrm>
            <a:off x="377952" y="10008903"/>
            <a:ext cx="6803136" cy="14850"/>
          </a:xfrm>
          <a:prstGeom prst="rect">
            <a:avLst/>
          </a:prstGeom>
          <a:solidFill>
            <a:srgbClr val="ABABAB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51CA45-FB5F-4D03-AD98-C7E9E9B62451}"/>
              </a:ext>
            </a:extLst>
          </p:cNvPr>
          <p:cNvSpPr>
            <a:spLocks noGrp="1"/>
          </p:cNvSpPr>
          <p:nvPr/>
        </p:nvSpPr>
        <p:spPr>
          <a:xfrm>
            <a:off x="377952" y="10142553"/>
            <a:ext cx="4133850" cy="31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부현전기 안전보건실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25A9A4-D57F-4A18-BAD0-6A6BE456D439}"/>
              </a:ext>
            </a:extLst>
          </p:cNvPr>
          <p:cNvSpPr>
            <a:spLocks noGrp="1"/>
          </p:cNvSpPr>
          <p:nvPr/>
        </p:nvSpPr>
        <p:spPr>
          <a:xfrm>
            <a:off x="6885813" y="10127703"/>
            <a:ext cx="295275" cy="32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 dirty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0</a:t>
            </a:r>
            <a:r>
              <a:rPr lang="en-US" sz="720" b="0" dirty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4</a:t>
            </a:r>
            <a:endParaRPr sz="720" b="0" dirty="0">
              <a:solidFill>
                <a:srgbClr val="70707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4ADFD6-4C61-4EE4-AE0C-DA7374E1DB2B}"/>
              </a:ext>
            </a:extLst>
          </p:cNvPr>
          <p:cNvSpPr>
            <a:spLocks noGrp="1"/>
          </p:cNvSpPr>
          <p:nvPr/>
        </p:nvSpPr>
        <p:spPr>
          <a:xfrm>
            <a:off x="377952" y="1666171"/>
            <a:ext cx="3301175" cy="2717551"/>
          </a:xfrm>
          <a:prstGeom prst="rect">
            <a:avLst/>
          </a:prstGeom>
          <a:solidFill>
            <a:srgbClr val="FFFFFF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CFE391-54ED-4008-A700-587253A1B479}"/>
              </a:ext>
            </a:extLst>
          </p:cNvPr>
          <p:cNvSpPr>
            <a:spLocks noGrp="1"/>
          </p:cNvSpPr>
          <p:nvPr/>
        </p:nvSpPr>
        <p:spPr>
          <a:xfrm>
            <a:off x="496062" y="2601721"/>
            <a:ext cx="3064954" cy="66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defPPr>
            <a:lvl1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pPr>
            <a:r>
              <a: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rPr>
              <a:t>[점검사진 01 삽입]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721464D-6D85-4928-8FE3-715868F64D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433184"/>
              </p:ext>
            </p:extLst>
          </p:nvPr>
        </p:nvGraphicFramePr>
        <p:xfrm>
          <a:off x="377952" y="4487671"/>
          <a:ext cx="3301175" cy="579150"/>
        </p:xfrm>
        <a:graphic>
          <a:graphicData uri="http://schemas.openxmlformats.org/drawingml/2006/table">
            <a:tbl>
              <a:tblPr/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01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[위치] / [점검내용 또는 조치사항 입력]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BAFFD49C-C843-4826-A59B-6C05B66936A0}"/>
              </a:ext>
            </a:extLst>
          </p:cNvPr>
          <p:cNvSpPr>
            <a:spLocks noGrp="1"/>
          </p:cNvSpPr>
          <p:nvPr/>
        </p:nvSpPr>
        <p:spPr>
          <a:xfrm>
            <a:off x="3879913" y="1666171"/>
            <a:ext cx="3301175" cy="2717551"/>
          </a:xfrm>
          <a:prstGeom prst="rect">
            <a:avLst/>
          </a:prstGeom>
          <a:solidFill>
            <a:srgbClr val="FFFFFF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F0CCA2-C4C2-4A8E-9514-424166B3E2BB}"/>
              </a:ext>
            </a:extLst>
          </p:cNvPr>
          <p:cNvSpPr>
            <a:spLocks noGrp="1"/>
          </p:cNvSpPr>
          <p:nvPr/>
        </p:nvSpPr>
        <p:spPr>
          <a:xfrm>
            <a:off x="3998024" y="2601721"/>
            <a:ext cx="3064954" cy="66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defPPr>
            <a:lvl1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pPr>
            <a:r>
              <a: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rPr>
              <a:t>[점검사진 02 삽입]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E38013A-ECE2-478C-8E91-4C6CBD380E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3542239"/>
              </p:ext>
            </p:extLst>
          </p:nvPr>
        </p:nvGraphicFramePr>
        <p:xfrm>
          <a:off x="3879913" y="4487671"/>
          <a:ext cx="3301175" cy="579150"/>
        </p:xfrm>
        <a:graphic>
          <a:graphicData uri="http://schemas.openxmlformats.org/drawingml/2006/table">
            <a:tbl>
              <a:tblPr/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02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[위치] / [점검내용 또는 조치사항 입력]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2B228B-9A8C-4F5E-B7FB-8ACBE0138646}"/>
              </a:ext>
            </a:extLst>
          </p:cNvPr>
          <p:cNvSpPr>
            <a:spLocks noGrp="1"/>
          </p:cNvSpPr>
          <p:nvPr/>
        </p:nvSpPr>
        <p:spPr>
          <a:xfrm>
            <a:off x="377952" y="5624992"/>
            <a:ext cx="3301175" cy="2717551"/>
          </a:xfrm>
          <a:prstGeom prst="rect">
            <a:avLst/>
          </a:prstGeom>
          <a:solidFill>
            <a:srgbClr val="FFFFFF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2A75EF-4575-4A2D-9B51-D82B39104561}"/>
              </a:ext>
            </a:extLst>
          </p:cNvPr>
          <p:cNvSpPr>
            <a:spLocks noGrp="1"/>
          </p:cNvSpPr>
          <p:nvPr/>
        </p:nvSpPr>
        <p:spPr>
          <a:xfrm>
            <a:off x="496062" y="6560542"/>
            <a:ext cx="3064954" cy="66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defPPr>
            <a:lvl1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pPr>
            <a:r>
              <a: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rPr>
              <a:t>[점검사진 03 삽입]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B96C3BF-2D1E-4F44-A743-741B46191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7127587"/>
              </p:ext>
            </p:extLst>
          </p:nvPr>
        </p:nvGraphicFramePr>
        <p:xfrm>
          <a:off x="377952" y="8446493"/>
          <a:ext cx="3301175" cy="579150"/>
        </p:xfrm>
        <a:graphic>
          <a:graphicData uri="http://schemas.openxmlformats.org/drawingml/2006/table">
            <a:tbl>
              <a:tblPr/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03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[위치] / [점검내용 또는 조치사항 입력]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4FA944-9B04-4698-A728-04EA12832CAE}"/>
              </a:ext>
            </a:extLst>
          </p:cNvPr>
          <p:cNvSpPr>
            <a:spLocks noGrp="1"/>
          </p:cNvSpPr>
          <p:nvPr/>
        </p:nvSpPr>
        <p:spPr>
          <a:xfrm>
            <a:off x="3879913" y="5624992"/>
            <a:ext cx="3301175" cy="2717551"/>
          </a:xfrm>
          <a:prstGeom prst="rect">
            <a:avLst/>
          </a:prstGeom>
          <a:solidFill>
            <a:srgbClr val="FFFFFF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BA1420-8284-4AA0-BF2C-F5B78E385C04}"/>
              </a:ext>
            </a:extLst>
          </p:cNvPr>
          <p:cNvSpPr>
            <a:spLocks noGrp="1"/>
          </p:cNvSpPr>
          <p:nvPr/>
        </p:nvSpPr>
        <p:spPr>
          <a:xfrm>
            <a:off x="3998024" y="6560542"/>
            <a:ext cx="3064954" cy="66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defPPr>
            <a:lvl1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ctr">
              <a:def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defRPr>
            </a:pPr>
            <a:r>
              <a:rPr sz="1380" b="0">
                <a:solidFill>
                  <a:srgbClr val="8A9AA6"/>
                </a:solidFill>
                <a:latin typeface="NanumGothic"/>
                <a:ea typeface="NanumGothic"/>
                <a:cs typeface="NanumGothic"/>
              </a:rPr>
              <a:t>[점검사진 04 삽입]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61D75F3-FEDE-4B90-BDA6-D473CABABA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0665587"/>
              </p:ext>
            </p:extLst>
          </p:nvPr>
        </p:nvGraphicFramePr>
        <p:xfrm>
          <a:off x="3879913" y="8446493"/>
          <a:ext cx="3301175" cy="579150"/>
        </p:xfrm>
        <a:graphic>
          <a:graphicData uri="http://schemas.openxmlformats.org/drawingml/2006/table">
            <a:tbl>
              <a:tblPr/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04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[위치] / [점검내용 또는 조치사항 입력]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429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BC5FEB-144E-4E7B-A425-313CDA3BAC23}"/>
              </a:ext>
            </a:extLst>
          </p:cNvPr>
          <p:cNvSpPr>
            <a:spLocks noGrp="1"/>
          </p:cNvSpPr>
          <p:nvPr/>
        </p:nvSpPr>
        <p:spPr>
          <a:xfrm>
            <a:off x="377952" y="608850"/>
            <a:ext cx="5905500" cy="72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920" b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평가 결과 확인서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AD1B32-2B09-4FC3-A7D7-B4E82E64BF77}"/>
              </a:ext>
            </a:extLst>
          </p:cNvPr>
          <p:cNvSpPr>
            <a:spLocks noGrp="1"/>
          </p:cNvSpPr>
          <p:nvPr/>
        </p:nvSpPr>
        <p:spPr>
          <a:xfrm>
            <a:off x="377952" y="1243531"/>
            <a:ext cx="6803136" cy="19305"/>
          </a:xfrm>
          <a:prstGeom prst="rect">
            <a:avLst/>
          </a:prstGeom>
          <a:solidFill>
            <a:srgbClr val="555555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FE1FEC-4CE4-418A-AFD3-ADB944241BE2}"/>
              </a:ext>
            </a:extLst>
          </p:cNvPr>
          <p:cNvSpPr>
            <a:spLocks noGrp="1"/>
          </p:cNvSpPr>
          <p:nvPr/>
        </p:nvSpPr>
        <p:spPr>
          <a:xfrm>
            <a:off x="377952" y="10008903"/>
            <a:ext cx="6803136" cy="14850"/>
          </a:xfrm>
          <a:prstGeom prst="rect">
            <a:avLst/>
          </a:prstGeom>
          <a:solidFill>
            <a:srgbClr val="ABABAB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34DE33-83FD-4E14-896A-421344E67E36}"/>
              </a:ext>
            </a:extLst>
          </p:cNvPr>
          <p:cNvSpPr>
            <a:spLocks noGrp="1"/>
          </p:cNvSpPr>
          <p:nvPr/>
        </p:nvSpPr>
        <p:spPr>
          <a:xfrm>
            <a:off x="377952" y="10142553"/>
            <a:ext cx="4133850" cy="31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부현전기 안전보건실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4D3A44-D30C-4FE2-93C2-F6B39BE3987A}"/>
              </a:ext>
            </a:extLst>
          </p:cNvPr>
          <p:cNvSpPr>
            <a:spLocks noGrp="1"/>
          </p:cNvSpPr>
          <p:nvPr/>
        </p:nvSpPr>
        <p:spPr>
          <a:xfrm>
            <a:off x="6885813" y="10127703"/>
            <a:ext cx="295275" cy="32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defPPr>
            <a:lvl1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1pPr>
            <a:lvl2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2pPr>
            <a:lvl3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3pPr>
            <a:lvl4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4pPr>
            <a:lvl5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5pPr>
            <a:lvl6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6pPr>
            <a:lvl7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7pPr>
            <a:lvl8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8pPr>
            <a:lvl9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r">
              <a:defRPr sz="720" b="0">
                <a:solidFill>
                  <a:srgbClr val="707070"/>
                </a:solidFill>
                <a:latin typeface="NanumGothic"/>
                <a:ea typeface="NanumGothic"/>
                <a:cs typeface="NanumGothic"/>
              </a:defRPr>
            </a:pPr>
            <a:r>
              <a:rPr sz="720" b="0" dirty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0</a:t>
            </a:r>
            <a:r>
              <a:rPr lang="en-US" sz="720" b="0" dirty="0">
                <a:solidFill>
                  <a:srgbClr val="707070"/>
                </a:solidFill>
                <a:latin typeface="NanumGothic"/>
                <a:ea typeface="NanumGothic"/>
                <a:cs typeface="NanumGothic"/>
              </a:rPr>
              <a:t>6</a:t>
            </a:r>
            <a:endParaRPr sz="720" b="0" dirty="0">
              <a:solidFill>
                <a:srgbClr val="707070"/>
              </a:solidFill>
              <a:latin typeface="NanumGothic"/>
              <a:ea typeface="NanumGothic"/>
              <a:cs typeface="NanumGothic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1BA4A73-3E7B-4EB9-B98E-75D9FDCA11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086815"/>
              </p:ext>
            </p:extLst>
          </p:nvPr>
        </p:nvGraphicFramePr>
        <p:xfrm>
          <a:off x="377952" y="1971181"/>
          <a:ext cx="6803138" cy="2450250"/>
        </p:xfrm>
        <a:graphic>
          <a:graphicData uri="http://schemas.openxmlformats.org/drawingml/2006/table">
            <a:tbl>
              <a:tblPr/>
              <a:tblGrid>
                <a:gridCol w="90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8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6750">
                <a:tc>
                  <a:txBody>
                    <a:bodyPr/>
                    <a:lstStyle/>
                    <a:p>
                      <a:pPr algn="ctr"/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장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명</a:t>
                      </a: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</a:t>
                      </a:r>
                      <a:r>
                        <a:rPr lang="ko-KR" altLang="en-US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현장명 입력</a:t>
                      </a:r>
                      <a:r>
                        <a:rPr lang="en-US" altLang="ko-KR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]</a:t>
                      </a:r>
                      <a:endParaRPr lang="en-US" altLang="ko-KR"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일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[20XX.XX.XX.]</a:t>
                      </a:r>
                      <a:endParaRPr lang="en-US"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50">
                <a:tc>
                  <a:txBody>
                    <a:bodyPr/>
                    <a:lstStyle/>
                    <a:p>
                      <a:pPr algn="ctr"/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평가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기간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</a:t>
                      </a:r>
                      <a:r>
                        <a:rPr lang="ko-KR" altLang="en-US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평가대상 기간 입력</a:t>
                      </a:r>
                      <a:r>
                        <a:rPr lang="en-US" altLang="ko-KR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]</a:t>
                      </a:r>
                      <a:endParaRPr lang="en-US" altLang="ko-KR"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종합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점수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</a:t>
                      </a:r>
                      <a:r>
                        <a:rPr lang="ko-KR" altLang="en-US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점수</a:t>
                      </a:r>
                      <a:r>
                        <a:rPr lang="en-US" altLang="ko-KR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] / 100</a:t>
                      </a:r>
                      <a:r>
                        <a:rPr lang="ko-KR" altLang="en-US" sz="1080" b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점</a:t>
                      </a:r>
                      <a:endParaRPr lang="ko-KR" altLang="en-US"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50">
                <a:tc>
                  <a:txBody>
                    <a:bodyPr/>
                    <a:lstStyle/>
                    <a:p>
                      <a:pPr algn="ctr"/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개선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요구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</a:t>
                      </a:r>
                      <a:r>
                        <a:rPr lang="ko-KR" alt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개선요구 건수</a:t>
                      </a:r>
                      <a:r>
                        <a:rPr lang="en-US" altLang="ko-KR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]</a:t>
                      </a:r>
                      <a:r>
                        <a:rPr lang="ko-KR" alt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건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조치</a:t>
                      </a:r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08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기한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[20XX.XX.XX.]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FB276372-8C1F-4879-A134-F52085B5C1E2}"/>
              </a:ext>
            </a:extLst>
          </p:cNvPr>
          <p:cNvSpPr>
            <a:spLocks noGrp="1"/>
          </p:cNvSpPr>
          <p:nvPr/>
        </p:nvSpPr>
        <p:spPr>
          <a:xfrm>
            <a:off x="377952" y="5405402"/>
            <a:ext cx="2952750" cy="46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320" b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종합의견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A64E476-10F7-457E-BE3B-01C3255EF9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8733384"/>
              </p:ext>
            </p:extLst>
          </p:nvPr>
        </p:nvGraphicFramePr>
        <p:xfrm>
          <a:off x="377952" y="6058802"/>
          <a:ext cx="6803136" cy="1440450"/>
        </p:xfrm>
        <a:graphic>
          <a:graphicData uri="http://schemas.openxmlformats.org/drawingml/2006/table">
            <a:tbl>
              <a:tblPr/>
              <a:tblGrid>
                <a:gridCol w="6803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0450">
                <a:tc>
                  <a:txBody>
                    <a:bodyPr/>
                    <a:lstStyle/>
                    <a:p>
                      <a:pPr algn="l"/>
                      <a:r>
                        <a:rPr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</a:t>
                      </a:r>
                      <a:r>
                        <a:rPr lang="ko-KR" alt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 운영의 강점과 중점 개선사항</a:t>
                      </a:r>
                      <a:r>
                        <a:rPr lang="en-US" altLang="ko-KR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향후 관리방향을 입력</a:t>
                      </a:r>
                      <a:r>
                        <a:rPr lang="en-US" altLang="ko-KR" sz="108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]</a:t>
                      </a:r>
                      <a:endParaRPr sz="108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01B81E47-AF01-4980-B08C-BA40D286D05F}"/>
              </a:ext>
            </a:extLst>
          </p:cNvPr>
          <p:cNvSpPr>
            <a:spLocks noGrp="1"/>
          </p:cNvSpPr>
          <p:nvPr/>
        </p:nvSpPr>
        <p:spPr>
          <a:xfrm>
            <a:off x="377952" y="7885352"/>
            <a:ext cx="6803136" cy="549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defPPr>
            <a:lvl1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lvl9pPr>
          </a:lstStyle>
          <a:p>
            <a:pPr algn="l">
              <a:defRPr sz="1080" b="0">
                <a:solidFill>
                  <a:srgbClr val="252525"/>
                </a:solidFill>
                <a:latin typeface="NanumGothic"/>
                <a:ea typeface="NanumGothic"/>
                <a:cs typeface="NanumGothic"/>
              </a:defRPr>
            </a:pP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상기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평가결과와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개선요구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사항을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확인하였으며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,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협의한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기한에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따라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조치하고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결과를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080" b="0" dirty="0" err="1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제출하겠습니다</a:t>
            </a:r>
            <a:r>
              <a:rPr sz="1080" b="0" dirty="0">
                <a:solidFill>
                  <a:srgbClr val="252525"/>
                </a:solidFill>
                <a:latin typeface="NanumGothic"/>
                <a:ea typeface="NanumGothic"/>
                <a:cs typeface="NanumGothic"/>
              </a:rPr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4AC17BB-D5FE-48D2-8210-D4439E0953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939280"/>
              </p:ext>
            </p:extLst>
          </p:nvPr>
        </p:nvGraphicFramePr>
        <p:xfrm>
          <a:off x="377952" y="8791202"/>
          <a:ext cx="6803137" cy="801900"/>
        </p:xfrm>
        <a:graphic>
          <a:graphicData uri="http://schemas.openxmlformats.org/drawingml/2006/table">
            <a:tbl>
              <a:tblPr/>
              <a:tblGrid>
                <a:gridCol w="649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1900">
                <a:tc>
                  <a:txBody>
                    <a:bodyPr/>
                    <a:lstStyle/>
                    <a:p>
                      <a:pPr algn="ctr"/>
                      <a:r>
                        <a:rPr sz="102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평가자</a:t>
                      </a:r>
                      <a:endParaRPr sz="102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>
                      <a:solidFill>
                        <a:srgbClr val="ABABAB"/>
                      </a:solidFill>
                      <a:prstDash val="soli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2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                                          </a:t>
                      </a:r>
                      <a:r>
                        <a:rPr sz="102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(</a:t>
                      </a:r>
                      <a:r>
                        <a:rPr sz="102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서명</a:t>
                      </a:r>
                      <a:r>
                        <a:rPr sz="102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)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</a:t>
                      </a:r>
                      <a:r>
                        <a:rPr sz="102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lang="ko-KR" altLang="en-US" sz="102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소장</a:t>
                      </a:r>
                      <a:endParaRPr sz="1020" b="0" dirty="0">
                        <a:solidFill>
                          <a:srgbClr val="252525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2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(</a:t>
                      </a:r>
                      <a:r>
                        <a:rPr sz="1020" b="0" dirty="0" err="1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서명</a:t>
                      </a:r>
                      <a:r>
                        <a:rPr sz="1020" b="0" dirty="0">
                          <a:solidFill>
                            <a:srgbClr val="2525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)</a:t>
                      </a:r>
                    </a:p>
                  </a:txBody>
                  <a:tcPr anchor="ctr">
                    <a:lnL w="6668" cap="flat" cmpd="sng" algn="ctr">
                      <a:solidFill>
                        <a:srgbClr val="AB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ABABAB"/>
                      </a:solidFill>
                      <a:prstDash val="solid"/>
                    </a:lnR>
                    <a:lnT w="6668">
                      <a:solidFill>
                        <a:srgbClr val="ABABAB"/>
                      </a:solidFill>
                      <a:prstDash val="solid"/>
                    </a:lnT>
                    <a:lnB w="6668">
                      <a:solidFill>
                        <a:srgbClr val="AB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70C1A78-FAF3-3217-D4EB-2A0A3DEDFF07}"/>
              </a:ext>
            </a:extLst>
          </p:cNvPr>
          <p:cNvSpPr txBox="1"/>
          <p:nvPr/>
        </p:nvSpPr>
        <p:spPr>
          <a:xfrm>
            <a:off x="5182743" y="4442510"/>
            <a:ext cx="3406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조치기한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평가받은날로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일주일 </a:t>
            </a:r>
          </a:p>
        </p:txBody>
      </p:sp>
    </p:spTree>
    <p:extLst>
      <p:ext uri="{BB962C8B-B14F-4D97-AF65-F5344CB8AC3E}">
        <p14:creationId xmlns:p14="http://schemas.microsoft.com/office/powerpoint/2010/main" val="14163156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465</Words>
  <Application>Microsoft Office PowerPoint</Application>
  <DocSecurity>0</DocSecurity>
  <PresentationFormat>사용자 지정</PresentationFormat>
  <Paragraphs>165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NanumGothic</vt:lpstr>
      <vt:lpstr>맑은 고딕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2</cp:revision>
  <cp:lastPrinted>2026-10-29T07:42:34Z</cp:lastPrinted>
  <dcterms:created xsi:type="dcterms:W3CDTF">2026-10-29T06:34:39Z</dcterms:created>
  <dcterms:modified xsi:type="dcterms:W3CDTF">2026-10-29T08:56:37Z</dcterms:modified>
</cp:coreProperties>
</file>